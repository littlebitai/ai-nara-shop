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15분입니다. 세 가지를 확정하고 끝냅니다. 이 대회가 무엇인지, 각자 무엇을 맡는지, 오늘 무엇부터 시작할지. 기술 자랑이나 수상 약속을 하는 자리가 아니고 역할과 첫 작업을 합의하는 자리입니다. 계획 기준일은 9월 15일, 팀은 5명으로 정원이 꽉 찼고 리더보드 제출 마감까지 약 2주입니다. 한 가지 미리 말씀드립니다. 우리는 백지에서 시작하지 않습니다. 공식 베이스라인 코드가 이미 있고, ASTRA를 포함한 상용 API를 제한 없이 쓸 수 있습니다. 그래서 오늘 제안하는 작업 방식은 사람이 문서를 손으로 쓰는 방식이 아니라, API가 초안을 만들고 사람이 검토하는 방식입니다. 왜 그 방식이어야 하는지 앞쪽 다섯 장에서 근거를 대고, 그 다음에 역할을 나누겠습니다.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대회를 한 장으로 정리하면 이렇습니다. 입력은 공고 한 건인데, 공고문과 첨부 문서 텍스트, 그리고 나라장터 등록 정보 21개 필드입니다. 문서는 최대 다섯 종류고 공고문은 항상 있습니다. 여기서 중요한 함정 하나. 위반 내용이 공고문에는 없고 첨부에만 적혀 있는 항목이 있습니다. 공고문만 읽으면 그 항목은 틀립니다. 우리가 만들 것은 가운데입니다. 문서를 정리하고, 근거 조문을 찾아 붙이고, 고정 모델을 한 번 부르고, 출력을 검증하는 파이프라인. 출력은 49열 CSV 한 장입니다. 24개 항목의 위반 여부와 근거 문구. 아래가 우리가 받은 자료 전부입니다. 이 밖에서 자료를 더 모으는 것은 금지입니다. 무라벨 2만 건이 눈에 띌 텐데, 이게 뒤에서 매우 중요해집니다. 정답이 없는 공고 2만 건인데, 여기에 우리가 라벨을 붙이는 건 규칙으로 허용돼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대회의 성격입니다. 모델을 새로 학습시키는 대회가 아닙니다. 파인튜닝과 로라는 금지고 학습 가중치를 판정에 쓰는 것도 금지입니다. 모두가 같은 모델을 씁니다. 그러면 점수는 어디서 갈리냐. 위쪽 네 칸입니다. 어떤 문서를 얼마나 넣을지, 어떤 조문을 찾아 붙일지, 어떻게 지시할지, 출력을 어떻게 검증할지. 우리가 하는 모든 작업은 이 네 칸 중 하나에 들어갑니다. 반대로 이 네 칸 밖의 아이디어는 아무리 그럴듯해도 점수에 닿지 않습니다. 아래는 이 네 칸을 건드릴 때 반드시 함께 봐야 하는 제약입니다. 1,853건을 2시간에 처리해야 하니 건당 약 3.9초입니다. 모델 로드 시간까지 그 안에 들어갑니다. 그래서 베이스라인은 공고 한 건에 모델을 한 번만 부르고 24개 항목을 한꺼번에 받습니다. 항목마다 따로 부르면 24배가 되니 구조적으로 불가능합니다. 이 숫자가 오늘 나올 모든 기술 선택의 상한선입니다.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점수 계산과 근거 문구 규약입니다. 점수는 24개 항목 각각의 위반 F1을 가중치 없이 평균한 값입니다. 여기서 중요한 성질이 나옵니다. 자주 나오는 항목을 잘 맞혀도 평균은 별로 안 오르고, 점수가 낮은 약한 항목 하나를 올리면 평균이 같은 크기로 오릅니다. 그래서 드문 항목을 버리는 전략이 안 통합니다. 24항목을 고르게 다 챙겨야 하고, 이게 뒤에 나올 작업량 계산의 근거입니다. 오른쪽이 근거 문구인데 이 대회 최대의 함정입니다. 제공 원문의 부분문자열이 아니면 자동으로 무효입니다. 요약하거나 다듬으면 안 됩니다. 뜻이 같아도 글자가 다르면 버려집니다. 그리고 메타 필드값은 대조 대상이 아닙니다. 부재탐지형 다섯 항목은 인용할 원문이 없으니 항상 빈칸입니다. 리더보드에는 근거가 반영되지 않지만 2차 평가에서 정성 20퍼센트로 쓰이고, 제출 원본이 보존됩니다. 그래서 첫 제출부터 성실하게 채워야 하고 나중에 소급해서 만들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우리가 받은 공식 베이스라인을 네 모듈로 갈라 봤습니다. 이 그림이 뒤에 나올 작업 분담의 실제 지도입니다. 첫째 입력 구성. 문서를 공고문 먼저, 첨부 순서대로 이어 붙이고 토큰 예산에 맞을 때까지 줄입니다. 기본값이 문서 4,000자인데 프롬프트 예산은 14,848토큰입니다. 즉 예산이 남는데도 잘라 버리고 있습니다. 둘째 근거 검색. RAG 변형에만 있고 법령을 조문 단위로 자른 BM25 한 단입니다. 질의로 공고문 앞부분을 그대로 넣는데, 앞부분엔 기관명과 사업명이 주로 있어서 엉뚱한 조문이 올라올 수 있습니다. 게다가 항목표에 항목별 근거 조문이 이미 매핑돼 있는데 그걸 안 쓰고 있습니다. 셋째 모델 호출. 제약 디코딩으로 24항목 JSON을 한 번에 받고 temperature 0에 시드 고정, 128건 배치입니다. 규칙상 건드릴 폭이 좁습니다. 넷째 후처리. 부재탐지 다섯 항목 근거를 강제로 비우고, 비위반은 비우고, 원문 부분문자열이 아니면 폐기하고, 49열 CSV 자가검증까지 들어 있습니다. 즉 형식 사고를 막는 장치는 이미 있고, 우리가 올려야 하는 건 판단 품질입니다.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작업 방식을 정해야 합니다. 그 전에 일의 총량을 계산해 보겠습니다. 이 계산이 오늘 제안의 근거입니다. 왼쪽이 이 대회를 제대로 하려면 반드시 나와야 하는 산출물입니다. 24개 항목의 판정 명세. 법령 조문을 읽고 조건과 예외와 정보 부족 시 처리를 정리하는 일인데, 법령 문서가 처음인 사람이 하면 항목당 반나절은 잡아야 합니다. 24항목이면 12일입니다. 그 다음 항목별 프롬프트 문구, 경계 사례 수집, 오답 원인 분류, 그리고 무라벨 2만 건 라벨링. 오른쪽 합계를 보세요. 사람 손으로 하면 산수가 안 맞습니다. 남은 기간이 2주인데 명세만으로 12일이 나가고, 그건 한 사람 기준입니다. 두 명이 나눠도 6일이고 그 동안 다른 산출물은 아무도 못 만듭니다. 그리고 결정적인 게 맨 아래입니다. 무라벨 2만 건 라벨링은 사람이 물리적으로 할 수 없습니다. 한 건에 5분만 잡아도 1,667시간입니다. 이건 선택이 아니라, 하려면 자동화밖에 방법이 없는 항목입니다. 그러니까 질문이 API를 쓸까 말까가 아닙니다. 어디까지 자동화할까입니다.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제안하는 작업 방식입니다. API가 초안을 만들고 사람은 검토만 합니다. 왜 그래야 하는지 다섯 가지 근거를 대겠습니다. 첫째, 검토가 작성보다 빠릅니다. 백지에서 법령을 판단 절차로 바꾸는 것과 이미 있는 초안이 조문과 맞는지 확인하는 것은 난이도가 다릅니다. 틀린 걸 찾는 게 쉽습니다. 둘째, 그리고 이게 우리 팀에 특히 중요한데, 검토는 초보도 할 수 있습니다. 법령 문서가 처음인 사람이 명세를 쓰는 건 어렵지만, 초안과 조문을 나란히 놓고 이게 맞나 보는 건 할 수 있습니다. 진입장벽이 훨씬 낮습니다. 셋째, 일관성입니다. 사람 두 명이 24항목을 나눠 쓰면 기준과 문체가 갈립니다. 이 대회는 24항목 평균으로 채점하니 어느 항목은 엄격하고 어느 항목은 느슨한 게 그대로 점수 손실입니다. API는 같은 틀로 뽑으니 일관됩니다. 넷째, 반복 비용이 거의 0입니다. 명세를 고치면 프롬프트를 다시 써야 하고, 사람이면 또 하루입니다. 자동이면 분 단위입니다. 2주에 여러 바퀴 돌 수 있느냐가 여기서 갈립니다. 다섯째, 2차 평가에 유리합니다. 재현 가능한 코드와 프롬프트를 제출해야 하는데, 사람 수작업은 판단 근거가 머릿속에 있습니다. 파이프라인으로 만들면 기록이 자동으로 남습니다. 마지막 줄은 정직하게 말하는 리스크입니다. 검토를 형식적으로 하면 자동화가 아니라 오류 증폭입니다. 그래서 다음 장에 품질 게이트를 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전원 필독 장입니다. 이걸 틀리면 점수가 아니라 제출 자체가 무효입니다. 경계선은 딱 하나입니다. 제출물 밖에서 만드는 것은 자유롭고, 제출물 안에서 호출하는 것은 금지입니다. 왼쪽이 허용입니다. 우리 환경에서 API를 돌려 명세 초안을 뽑고, 매핑을 교차검증하고, 무라벨 2만 건에 라벨을 붙이고, 프롬프트를 쓰고, 사례를 발굴하고, 코드를 작성하는 것. 전부 준비 작업이고 허용됩니다. 특히 자가 라벨링은 규칙에 명시적으로 허용돼 있습니다. 결과물은 파일로 제출물에 굽습니다. 파일로 들어가는 건 호출이 아닙니다. 오른쪽이 금지입니다. script.py가 실행 중에 외부 API를 부르는 것. 평가 서버는 인터넷이 차단돼 있어 실패합니다. 판정은 서버에 준비된 고정 모델로만 합니다. 그리고 조건이 두 개 붙습니다. API에 넣는 입력은 대회가 준 자료로만 한정합니다. 인터넷에서 찾은 법령 해설을 넣으면 안 됩니다. 웹 검색이나 외부 문서를 붙이는 기능도 라벨 단계에서조차 금지입니다. 마지막 줄이 중요합니다. 2차 평가에 라벨 생성에 쓴 프롬프트까지 제출해야 합니다. 그러니 API로 무엇을 했는지 기록이 남아야 하고, 파이프라인으로 만들면 자동으로 남습니다. 애매한 건 추측하지 말고 게시판에 물어봅니다.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이게 우리가 만들 것의 전체 그림입니다. 산출물 공장이라고 부르겠습니다. 왼쪽이 투입인데 대회가 준 자료 전부입니다. 가운데가 공장이고 여덟 개 라인이 돕니다. 각 라인은 같은 모양입니다. API가 초안을 만들고 사람이 검토해서 통과시킵니다. 오른쪽이 산출물이고 이게 제출물 안에 파일로 들어갑니다. 두 가지를 강조하겠습니다. 첫째, 공장은 제출물 밖에 있습니다. 제출물 안에는 공장이 만든 결과물만 들어갑니다. 아까 본 경계선이 이 그림에 그려져 있습니다. 둘째, 라인들이 서로를 먹입니다. 명세가 프롬프트를 만들고, 라벨이 사례를 만들고, 사례가 다시 명세를 고칩니다. 그래서 한 바퀴 돌 때마다 전체가 좋아집니다. 사람이 손으로 돌리면 한 바퀴에 며칠인데 자동이면 반나절입니다. 아래가 우리 목표입니다. 이 한 바퀴를 하루 안에 돌리는 것. 제출이 하루 한 번이니 사이클을 제출 주기에 맞추는 겁니다. 그러면 남은 2주에 열 바퀴 이상 돌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여덟 개 라인을 두 장에 나눠 구체적으로 보겠습니다. 각 칸에 API가 무엇을 하고 사람이 무엇을 보는지 적어 뒀습니다. 1번 판정 명세 생성. 항목표의 항목 정의와 해당 조문을 넣고 일곱 칸 명세를 뽑습니다. 사람이 볼 것은 딱 하나입니다. 조건과 예외가 조문에 실제로 있는 문장인가. 초안이 없는 말을 만들었으면 거기서 걸러집니다. 2번 매핑 교차검증. 항목표에 항목별 근거 조문이 이미 매핑돼 있는데, 그게 맞는지, 빠진 조문이 없는지 API로 역방향 확인을 돌립니다. 조문에서 항목을 찾아보게 하고 양방향이 일치하는지 봅니다. 3번 자가 라벨링. 무라벨 2만 건에 24항목 판정을 붙입니다. 초반에 한 번에 돌립니다. 이게 뒤에 사례 발굴과 프롬프트 예시의 재료가 됩니다. 사람은 전수 검토가 불가능하니 dev 정답과 겹치는 부분으로 정확도를 재고, 확신도가 낮은 건만 봅니다. 4번 사례 발굴. 라벨링 결과에서 애매한 것, 판정이 갈린 것, 조건 경계에 걸친 것을 자동으로 골라냅니다. 이게 프롬프트에 넣을 예시가 되고, 사람이 명세를 고칠 단서가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나머지 네 라인입니다. 5번 프롬프트 생성. 승인된 명세를 항목별 지시문으로 변환합니다. 사람이 손으로 문구를 쓰지 않습니다. 명세가 고쳐지면 프롬프트를 다시 뽑습니다. 이게 아까 말한 반복 비용 0에 해당하는 부분입니다. 사람은 지시문이 명세와 어긋나지 않는지, 근거를 원문에서 오려 오라는 문구가 빠지지 않았는지만 봅니다. 6번 검색 질의 생성. 지금 베이스라인은 공고문 앞부분을 질의로 씁니다. API로 항목마다 검색 키워드를 만들고, 국가계약이냐 지방계약이냐에 따라 볼 법을 갈라 줍니다. 7번 오답 원인 자동 분류. 이게 반복 작업 중 가장 지겨운 일인데 자동화 효과가 큽니다. dev 채점 결과와 프롬프트와 정답을 함께 넣고 아홉 유형 중 무엇인지 분류하게 합니다. 명세 오류인지 문서가 잘린 건지 조문이 엉뚱한 건지. 원인별로 고칠 사람이 다르니 분류만 되면 바로 배분됩니다. 8번 기록 정리. 2차 평가에 제출할 자료를 매일 자동으로 정리합니다. 실험 기록, 프롬프트 변경 이력, 출처 명세. 마감 전에 몰아서 만들면 재현이 안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자동화의 최대 리스크는 틀린 산출물을 믿고 진행하는 겁니다. 그래서 공정을 늘리기 전에 그 공정을 믿어도 되는지부터 숫자로 확인합니다. 순서가 중요합니다. 왼쪽 위부터. 먼저 dev 200건으로 API 산출물의 정확도를 잽니다. API에게 dev 200건을 라벨링시키고 실제 정답과 비교합니다. 그러면 항목별로 API가 몇 퍼센트 맞히는지 숫자가 나옵니다. 이게 기준선입니다. 이 숫자 없이 2만 건을 돌리면 도박입니다. 그 다음 기준선으로 항목을 세 등급으로 나눕니다. 정확도가 높은 항목은 사람이 샘플만 봅니다. 중간은 확신도 낮은 것만 봅니다. 낮은 항목은 사람이 전수 검토하고, 명세부터 다시 씁니다. 즉 검토 강도를 항목마다 다르게 줍니다. 전부 똑같이 보면 시간이 안 맞고, 전부 안 보면 오류가 번집니다. 오른쪽이 각 라인을 통과시키는 조건입니다. 명세는 조문 문장으로 근거를 댈 수 있어야 통과, 라벨은 dev 대조 정확도가 기준선 이상이어야 통과, 프롬프트는 dev 점수가 이전보다 떨어지지 않아야 통과. 통과 못 하면 다음 라인으로 안 넘깁니다. 맨 아래가 핵심입니다. 검토를 줄이는 게 목표가 아니라 검토를 옳은 데 집중시키는 게 목표입니다.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사람은 뭘 하냐. 자동화한다고 사람이 없어도 되는 게 아닙니다. 사람만 할 수 있는 게 분명히 있고, 오히려 그것만 남깁니다. 왼쪽 네 가지입니다. 첫째 최종 승인. API가 만든 명세를 판정 기준으로 쓸지 결정하는 건 사람입니다. 승인본에 이름이 붙습니다. 둘째 규칙 판단. 이 방식이 규칙에 걸리는지, 애매하면 운영진에 물어볼지는 사람만 결정합니다. 규칙 위반은 점수가 아니라 무효니까요. 셋째 이상 감지. 초안이 그럴듯한데 뭔가 이상하다는 감각. API는 자기 출력에 대해 이걸 못 합니다. 넷째 제출 결정. 오늘 무엇을 제출할지, 지금 버전이 안정적인지. 오른쪽은 검토할 때 쓰는 체크리스트고 항목당 몇 분입니다. 조문에 실제로 있는 문장인가, 예외를 빠뜨리지 않았나, 정보 부족 시 처리가 있나, 근거 위치가 실제 문서의 위치인가, 다른 항목과 기준이 충돌하지 않나. 아래가 원칙입니다. 검토자가 통과시킨 산출물의 책임은 검토자에게 있습니다. API가 만들었다는 건 변명이 안 됩니다. 이게 자동화를 안전하게 만드는 유일한 장치입니다.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역할입니다. 5명이고, 공정 오너십으로 나눕니다. 각자 공장 라인 하나를 맡고 그 라인의 산출물을 책임집니다. 저는 통합입니다. 실행 환경, 모듈 간 규격, 코드 검토, 제출 패키지, 그리고 공정 자체를 돌리는 스크립트를 관리합니다. 명세 오너는 1번과 2번 라인, 즉 판정 명세와 조문 매핑입니다. 24항목 명세의 승인 권한을 가집니다. 라벨 오너는 3번과 4번, 자가 라벨링과 사례 발굴입니다. 2만 건 라벨의 품질 기준선을 재는 게 이 사람 일입니다. 프롬프트 오너는 5번과 6번, 프롬프트 생성과 검색 질의입니다. 실험 오너는 7번과 8번, 오답 분류와 기록 정리, 그리고 dev 채점과 실행시간 측정입니다. 여기서 중요한 건 각자가 코드를 직접 만진다는 겁니다. AI 코딩 도구로 자기 라인 스크립트를 만들고 고칩니다. 아래를 보세요. 역할 이름이 분석가나 작성자가 아니라 오너입니다. 자기 라인이 무엇을 만들고, 그게 품질 기준을 통과했는지, 다음 라인에 넘겨도 되는지를 판단하는 사람입니다.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전원이 코드를 고치니 충돌이 걱정될 겁니다. 충돌은 두 사람이 같은 파일의 같은 줄을 동시에 고칠 때만 생깁니다. 그래서 공정 경계를 그대로 파일 경계로 씁니다. 왼쪽이 소유권 지도인데, 아까 본 다섯 역할과 일대일로 대응합니다. 공정 스크립트도 라인별로 파일이 갈립니다. gen_spec, gen_label, gen_prompt, classify_errors. 각자 자기 것만 고칩니다. 그리고 산출물 폴더도 갈립니다. specs, labels, prompts, reports. 서로 남의 폴더에 쓰지 않습니다. 오른쪽 규칙 여섯 개만 지키면 됩니다. 시작할 때 최신 받기, 브랜치 하나에 작업 하나, 한 시간 안에 끝나는 크기로, 남의 파일은 고치지 말고 요청, main 병합은 제가, 그리고 AI 도구에 수정 범위를 파일 단위로 못 박기. 마지막이 자동화 시대에 특히 중요합니다. AI에게 범위를 안 주면 옆 파일까지 고쳐놓습니다. 그게 충돌과 회귀의 주원인입니다. 충돌이 나면 혼자 풀지 말고 저에게 넘기세요. 하루 한 번 제출인데 병합 사고로 하루를 버리지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일정입니다. 원칙 두 가지를 먼저 말씀드립니다. 첫째 제출 성공이 공장보다 먼저입니다. 9월 17일까지 리더보드에 점수 1건을 찍습니다. 공장이 아무리 좋아도 제출이 안 되면 0점입니다. 둘째 공장은 제출과 병행합니다. 순차로 하면 시간이 안 맞습니다. 왼쪽이 공식 일정인데 팀 병합 마감이 9월 23일이라 5명 등록은 이번 주에 끝냅니다. 오른쪽이 우리 실행안이고 공식이 아닙니다. 첫 구간 9월 15일부터 17일까지, 베이스라인을 그대로 돌려 제출을 성공시킵니다. 동시에 dev 200건으로 API 기준선을 측정합니다. 이 두 개가 첫 구간의 산출물입니다. 두 번째 구간, 공장 1차 가동입니다. 명세 24개 초안과 검토, 2만 건 라벨링, 그리고 그걸 반영한 프롬프트로 두 번째 제출. 세 번째 구간이 반복입니다. 오답 자동 분류를 돌려 약한 항목을 찾고 명세를 고치고 프롬프트를 다시 뽑아 제출합니다. 하루 한 바퀴가 목표입니다. 마지막 구간은 안정화고 새 기능을 중단합니다. 9월 28일이 내부 마감입니다. 9월 29일에는 상태만 확인하고 새 시도를 하지 않습니다. 채점 대기열이 몇 시간씩 걸리니 마감일 첫 제출은 위험합니다.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비용과 위험입니다. 왼쪽 비용은 확정된 게 없어서 지어낸 숫자를 넣지 않았습니다. 다만 항목 성격은 바뀌었습니다. API를 공정에 쓰니 호출량이 늘어납니다. 2만 건 라벨링이 가장 큰 덩어리고, 명세 생성과 오답 분류는 반복이라 누적됩니다. 추정이 필요하면 건수, 토큰 수, 단가를 가정으로 명시해서 따로 계산하겠습니다. 로컬 GPU가 없어도 참가는 가능합니다. 채점용 모델과 GPU는 평가 서버가 제공합니다. 오른쪽이 위험인데, 자동화 때문에 새로 생긴 위험이 위에 세 개 있습니다. 첫째 잘못된 산출물 증폭. 틀린 명세가 라벨과 프롬프트로 번지는 건데, 그래서 기준선 측정과 통과 조건을 뒀습니다. 둘째 형식적 검토. 승인본에 검토자 이름을 붙이고 체크리스트를 씁니다. 셋째 규칙 경계 착오. 제출 코드에 API 호출이 남아 있으면 무효인데, 제출 전 체크리스트로 확인합니다. 아래 네 개는 원래 있던 위험이고 앞 장들에서 대응을 이미 넣었습니다.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마지막입니다. 오늘 이 자리에서 세 가지를 정하고 끝냅니다. 첫째 공정 오너 배정. 통합은 제가 맡고 명세, 라벨, 프롬프트, 실험 네 오너를 지금 정합니다. 둘째 작업 공간과 API 접근. 저장소와 문서 공간을 하나로 정하고 전원 권한을 오늘 부여합니다. API 키 발급과 사용 한도도 오늘 정리합니다. 키는 저장소에 올리지 않습니다. 모듈 분할과 소유권 지도는 제가 오늘 올려두겠습니다. 셋째 첫 산출물과 기한입니다. 전원 9월 17일까지. 명세 오너는 3개 항목으로 생성 파이프라인을 시험해서 초안과 검토 결과를 내놓습니다. 라벨 오너는 dev 200건 기준선 숫자를 냅니다. 이게 제일 중요한 첫 산출물입니다. 프롬프트 오너는 명세 하나를 지시문으로 변환하는 경로를 만듭니다. 실험 오너는 dev 채점이 도는 상태를 만듭니다. 저는 초기 서버 제출을 성공시킵니다. 아래 세 가지를 같이 확인합니다. 하루 투입 시간, 팀 병합 신청, API 예산 승인. 다음 점검은 9월 18일 저녁 30분이고, 발표 끝나고 도구 실습 30분 이어서 하겠습니다. 질문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담당 분배용 부록입니다. 항목명은 대회가 배포한 항목표 기준이고 상세 정의와 근거 조문은 항목표 파일에 있습니다. 다이아몬드 표시 다섯 개는 부재탐지형이라 근거 문구가 항상 빈칸입니다. 명세 오너가 이 24개를 다 보게 되는데, 계열별로 묶여 있다는 걸 알면 이해가 빠릅니다. 5번에서 7번이 지역제한 계열, 13번에서 19번 사이가 중소기업·소기업 제한 계열, 22번과 23번이 현장설명회 계열입니다. 24번은 조문 위반이 아니라 공고서와 등록값의 불일치를 보는 항목이라 성격이 다릅니다.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출처입니다. 이 발표의 모든 수치와 규칙은 아래 공식 페이지에서 2026년 9월 15일에 확인한 내용이고, 베이스라인 관련 숫자는 배포된 노트북 두 개에서 직접 읽었습니다. 아래 주의사항 두 개를 봐주세요. 참가자 946명은 참가자 수이지 제출 팀 수가 아닙니다. 이 숫자로 상위 15팀 진출 확률을 계산하지 않습니다. 그리고 6장의 작업량 추정은 제가 가정값으로 계산한 것이고 실측이 아닙니다. 근거를 대기 위한 산수지 확정된 숫자가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아직 결정되지 않은 것들입니다. 왼쪽은 우리가 오늘 또는 이번 주에 정할 것, 오른쪽은 운영진에게 확인할 것입니다. 오른쪽 첫 줄이 가장 중요합니다. 라벨 생성용 API의 구체적 허용 범위. 우리가 API를 명세 생성과 사례 발굴에도 쓰려고 하는데, 그게 라벨 생성 단계에 포함되는지 해석을 확인해야 합니다. 두 번째는 제출물 안에 검색 인덱스나 캐시를 정적 자산으로 넣는 것의 한계입니다. 이것도 게시판으로 묻겠습니다. 추측을 공식 규칙처럼 쓰지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1028700" y="9906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FC3B2"/>
                </a:solidFill>
                <a:latin typeface="Noto Sans KR" pitchFamily="34" charset="0"/>
                <a:ea typeface="Noto Sans KR" pitchFamily="34" charset="-122"/>
                <a:cs typeface="Noto Sans KR" pitchFamily="34" charset="-120"/>
              </a:rPr>
              <a:t>팀 킥오프 · 2026.09.15 · 5인 팀</a:t>
            </a:r>
            <a:endParaRPr lang="en-US" sz="1950" dirty="0"/>
          </a:p>
        </p:txBody>
      </p:sp>
      <p:sp>
        <p:nvSpPr>
          <p:cNvPr id="3" name="Text 1"/>
          <p:cNvSpPr/>
          <p:nvPr/>
        </p:nvSpPr>
        <p:spPr>
          <a:xfrm>
            <a:off x="1028700" y="1666875"/>
            <a:ext cx="15108555" cy="1912441"/>
          </a:xfrm>
          <a:prstGeom prst="rect">
            <a:avLst/>
          </a:prstGeom>
          <a:noFill/>
          <a:ln/>
        </p:spPr>
        <p:txBody>
          <a:bodyPr wrap="square" lIns="25400" tIns="25400" rIns="25400" bIns="25400" rtlCol="0" anchor="t">
            <a:normAutofit/>
          </a:bodyPr>
          <a:lstStyle/>
          <a:p>
            <a:pPr algn="l" indent="0" marL="0">
              <a:lnSpc>
                <a:spcPct val="82689"/>
              </a:lnSpc>
              <a:buNone/>
            </a:pPr>
            <a:r>
              <a:rPr lang="en-US" sz="6150" b="1" spc="-123" kern="0" dirty="0">
                <a:solidFill>
                  <a:srgbClr val="F6F4EF"/>
                </a:solidFill>
                <a:latin typeface="Noto Sans KR" pitchFamily="34" charset="0"/>
                <a:ea typeface="Noto Sans KR" pitchFamily="34" charset="-122"/>
                <a:cs typeface="Noto Sans KR" pitchFamily="34" charset="-120"/>
              </a:rPr>
              <a:t>약 2주 안에 제출 가능한 공고 위반 판단 시스템을 함께 만든다</a:t>
            </a:r>
            <a:endParaRPr lang="en-US" sz="6150" dirty="0"/>
          </a:p>
        </p:txBody>
      </p:sp>
      <p:sp>
        <p:nvSpPr>
          <p:cNvPr id="4" name="Text 2"/>
          <p:cNvSpPr/>
          <p:nvPr/>
        </p:nvSpPr>
        <p:spPr>
          <a:xfrm>
            <a:off x="1028700" y="3865066"/>
            <a:ext cx="15087600" cy="509587"/>
          </a:xfrm>
          <a:prstGeom prst="rect">
            <a:avLst/>
          </a:prstGeom>
          <a:noFill/>
          <a:ln/>
        </p:spPr>
        <p:txBody>
          <a:bodyPr wrap="square" lIns="25400" tIns="25400" rIns="25400" bIns="25400" rtlCol="0" anchor="t">
            <a:normAutofit/>
          </a:bodyPr>
          <a:lstStyle/>
          <a:p>
            <a:pPr algn="l" indent="0" marL="0">
              <a:lnSpc>
                <a:spcPct val="103125"/>
              </a:lnSpc>
              <a:buNone/>
            </a:pPr>
            <a:r>
              <a:rPr lang="en-US" sz="2475" dirty="0">
                <a:solidFill>
                  <a:srgbClr val="B9C2CE"/>
                </a:solidFill>
                <a:latin typeface="Noto Sans KR" pitchFamily="34" charset="0"/>
                <a:ea typeface="Noto Sans KR" pitchFamily="34" charset="-122"/>
                <a:cs typeface="Noto Sans KR" pitchFamily="34" charset="-120"/>
              </a:rPr>
              <a:t>나라장터 자체입찰 공고 법령 위반사항 모니터링 AI 경진대회</a:t>
            </a:r>
            <a:endParaRPr lang="en-US" sz="2475" dirty="0"/>
          </a:p>
        </p:txBody>
      </p:sp>
      <p:sp>
        <p:nvSpPr>
          <p:cNvPr id="5" name="Shape 3"/>
          <p:cNvSpPr/>
          <p:nvPr/>
        </p:nvSpPr>
        <p:spPr>
          <a:xfrm>
            <a:off x="1028700" y="8277225"/>
            <a:ext cx="16230600" cy="9525"/>
          </a:xfrm>
          <a:prstGeom prst="rect">
            <a:avLst/>
          </a:prstGeom>
          <a:solidFill>
            <a:srgbClr val="33404F"/>
          </a:solidFill>
          <a:ln/>
        </p:spPr>
      </p:sp>
      <p:sp>
        <p:nvSpPr>
          <p:cNvPr id="6" name="Text 4"/>
          <p:cNvSpPr/>
          <p:nvPr/>
        </p:nvSpPr>
        <p:spPr>
          <a:xfrm>
            <a:off x="1028700" y="8591550"/>
            <a:ext cx="4259104" cy="371475"/>
          </a:xfrm>
          <a:prstGeom prst="rect">
            <a:avLst/>
          </a:prstGeom>
          <a:noFill/>
          <a:ln/>
        </p:spPr>
        <p:txBody>
          <a:bodyPr wrap="square" lIns="25400" tIns="25400" rIns="25400" bIns="25400" rtlCol="0" anchor="t">
            <a:normAutofit/>
          </a:bodyPr>
          <a:lstStyle/>
          <a:p>
            <a:pPr algn="l" indent="0" marL="0">
              <a:buNone/>
            </a:pPr>
            <a:r>
              <a:rPr lang="en-US" sz="1800" dirty="0">
                <a:solidFill>
                  <a:srgbClr val="8A97A6"/>
                </a:solidFill>
                <a:latin typeface="Noto Sans KR" pitchFamily="34" charset="0"/>
                <a:ea typeface="Noto Sans KR" pitchFamily="34" charset="-122"/>
                <a:cs typeface="Noto Sans KR" pitchFamily="34" charset="-120"/>
              </a:rPr>
              <a:t>리더보드 제출 마감</a:t>
            </a:r>
            <a:endParaRPr lang="en-US" sz="1800" dirty="0"/>
          </a:p>
        </p:txBody>
      </p:sp>
      <p:sp>
        <p:nvSpPr>
          <p:cNvPr id="7" name="Text 5"/>
          <p:cNvSpPr/>
          <p:nvPr/>
        </p:nvSpPr>
        <p:spPr>
          <a:xfrm>
            <a:off x="1028700" y="9010650"/>
            <a:ext cx="4259104" cy="533400"/>
          </a:xfrm>
          <a:prstGeom prst="rect">
            <a:avLst/>
          </a:prstGeom>
          <a:noFill/>
          <a:ln/>
        </p:spPr>
        <p:txBody>
          <a:bodyPr wrap="square" lIns="25400" tIns="25400" rIns="25400" bIns="25400" rtlCol="0" anchor="t">
            <a:normAutofit/>
          </a:bodyPr>
          <a:lstStyle/>
          <a:p>
            <a:pPr algn="l" indent="0" marL="0">
              <a:buNone/>
            </a:pPr>
            <a:r>
              <a:rPr lang="en-US" sz="2700" b="1" dirty="0">
                <a:solidFill>
                  <a:srgbClr val="F6F4EF"/>
                </a:solidFill>
                <a:latin typeface="Noto Sans KR" pitchFamily="34" charset="0"/>
                <a:ea typeface="Noto Sans KR" pitchFamily="34" charset="-122"/>
                <a:cs typeface="Noto Sans KR" pitchFamily="34" charset="-120"/>
              </a:rPr>
              <a:t>9월 29일 오전</a:t>
            </a:r>
            <a:endParaRPr lang="en-US" sz="2700" dirty="0"/>
          </a:p>
        </p:txBody>
      </p:sp>
      <p:sp>
        <p:nvSpPr>
          <p:cNvPr id="8" name="Text 6"/>
          <p:cNvSpPr/>
          <p:nvPr/>
        </p:nvSpPr>
        <p:spPr>
          <a:xfrm>
            <a:off x="5148263" y="8591550"/>
            <a:ext cx="4259104" cy="371475"/>
          </a:xfrm>
          <a:prstGeom prst="rect">
            <a:avLst/>
          </a:prstGeom>
          <a:noFill/>
          <a:ln/>
        </p:spPr>
        <p:txBody>
          <a:bodyPr wrap="square" lIns="25400" tIns="25400" rIns="25400" bIns="25400" rtlCol="0" anchor="t">
            <a:normAutofit/>
          </a:bodyPr>
          <a:lstStyle/>
          <a:p>
            <a:pPr algn="l" indent="0" marL="0">
              <a:buNone/>
            </a:pPr>
            <a:r>
              <a:rPr lang="en-US" sz="1800" dirty="0">
                <a:solidFill>
                  <a:srgbClr val="8A97A6"/>
                </a:solidFill>
                <a:latin typeface="Noto Sans KR" pitchFamily="34" charset="0"/>
                <a:ea typeface="Noto Sans KR" pitchFamily="34" charset="-122"/>
                <a:cs typeface="Noto Sans KR" pitchFamily="34" charset="-120"/>
              </a:rPr>
              <a:t>우리 내부 마감</a:t>
            </a:r>
            <a:endParaRPr lang="en-US" sz="1800" dirty="0"/>
          </a:p>
        </p:txBody>
      </p:sp>
      <p:sp>
        <p:nvSpPr>
          <p:cNvPr id="9" name="Text 7"/>
          <p:cNvSpPr/>
          <p:nvPr/>
        </p:nvSpPr>
        <p:spPr>
          <a:xfrm>
            <a:off x="5148263" y="9010650"/>
            <a:ext cx="4259104" cy="533400"/>
          </a:xfrm>
          <a:prstGeom prst="rect">
            <a:avLst/>
          </a:prstGeom>
          <a:noFill/>
          <a:ln/>
        </p:spPr>
        <p:txBody>
          <a:bodyPr wrap="square" lIns="25400" tIns="25400" rIns="25400" bIns="25400" rtlCol="0" anchor="t">
            <a:normAutofit/>
          </a:bodyPr>
          <a:lstStyle/>
          <a:p>
            <a:pPr algn="l" indent="0" marL="0">
              <a:buNone/>
            </a:pPr>
            <a:r>
              <a:rPr lang="en-US" sz="2700" b="1" dirty="0">
                <a:solidFill>
                  <a:srgbClr val="F6F4EF"/>
                </a:solidFill>
                <a:latin typeface="Noto Sans KR" pitchFamily="34" charset="0"/>
                <a:ea typeface="Noto Sans KR" pitchFamily="34" charset="-122"/>
                <a:cs typeface="Noto Sans KR" pitchFamily="34" charset="-120"/>
              </a:rPr>
              <a:t>9월 28일</a:t>
            </a:r>
            <a:endParaRPr lang="en-US" sz="2700" dirty="0"/>
          </a:p>
        </p:txBody>
      </p:sp>
      <p:sp>
        <p:nvSpPr>
          <p:cNvPr id="10" name="Text 8"/>
          <p:cNvSpPr/>
          <p:nvPr/>
        </p:nvSpPr>
        <p:spPr>
          <a:xfrm>
            <a:off x="9267825" y="8591550"/>
            <a:ext cx="4259104" cy="371475"/>
          </a:xfrm>
          <a:prstGeom prst="rect">
            <a:avLst/>
          </a:prstGeom>
          <a:noFill/>
          <a:ln/>
        </p:spPr>
        <p:txBody>
          <a:bodyPr wrap="square" lIns="25400" tIns="25400" rIns="25400" bIns="25400" rtlCol="0" anchor="t">
            <a:normAutofit/>
          </a:bodyPr>
          <a:lstStyle/>
          <a:p>
            <a:pPr algn="l" indent="0" marL="0">
              <a:buNone/>
            </a:pPr>
            <a:r>
              <a:rPr lang="en-US" sz="1800" dirty="0">
                <a:solidFill>
                  <a:srgbClr val="8A97A6"/>
                </a:solidFill>
                <a:latin typeface="Noto Sans KR" pitchFamily="34" charset="0"/>
                <a:ea typeface="Noto Sans KR" pitchFamily="34" charset="-122"/>
                <a:cs typeface="Noto Sans KR" pitchFamily="34" charset="-120"/>
              </a:rPr>
              <a:t>출발점</a:t>
            </a:r>
            <a:endParaRPr lang="en-US" sz="1800" dirty="0"/>
          </a:p>
        </p:txBody>
      </p:sp>
      <p:sp>
        <p:nvSpPr>
          <p:cNvPr id="11" name="Text 9"/>
          <p:cNvSpPr/>
          <p:nvPr/>
        </p:nvSpPr>
        <p:spPr>
          <a:xfrm>
            <a:off x="9267825" y="9010650"/>
            <a:ext cx="4259104" cy="533400"/>
          </a:xfrm>
          <a:prstGeom prst="rect">
            <a:avLst/>
          </a:prstGeom>
          <a:noFill/>
          <a:ln/>
        </p:spPr>
        <p:txBody>
          <a:bodyPr wrap="square" lIns="25400" tIns="25400" rIns="25400" bIns="25400" rtlCol="0" anchor="t">
            <a:normAutofit/>
          </a:bodyPr>
          <a:lstStyle/>
          <a:p>
            <a:pPr algn="l" indent="0" marL="0">
              <a:buNone/>
            </a:pPr>
            <a:r>
              <a:rPr lang="en-US" sz="2700" b="1" dirty="0">
                <a:solidFill>
                  <a:srgbClr val="F6F4EF"/>
                </a:solidFill>
                <a:latin typeface="Noto Sans KR" pitchFamily="34" charset="0"/>
                <a:ea typeface="Noto Sans KR" pitchFamily="34" charset="-122"/>
                <a:cs typeface="Noto Sans KR" pitchFamily="34" charset="-120"/>
              </a:rPr>
              <a:t>베이스라인 + 상용 API</a:t>
            </a:r>
            <a:endParaRPr lang="en-US" sz="2700" dirty="0"/>
          </a:p>
        </p:txBody>
      </p:sp>
      <p:sp>
        <p:nvSpPr>
          <p:cNvPr id="12" name="Text 10"/>
          <p:cNvSpPr/>
          <p:nvPr/>
        </p:nvSpPr>
        <p:spPr>
          <a:xfrm>
            <a:off x="13387388" y="8591550"/>
            <a:ext cx="4259104" cy="371475"/>
          </a:xfrm>
          <a:prstGeom prst="rect">
            <a:avLst/>
          </a:prstGeom>
          <a:noFill/>
          <a:ln/>
        </p:spPr>
        <p:txBody>
          <a:bodyPr wrap="square" lIns="25400" tIns="25400" rIns="25400" bIns="25400" rtlCol="0" anchor="t">
            <a:normAutofit/>
          </a:bodyPr>
          <a:lstStyle/>
          <a:p>
            <a:pPr algn="l" indent="0" marL="0">
              <a:buNone/>
            </a:pPr>
            <a:r>
              <a:rPr lang="en-US" sz="1800" dirty="0">
                <a:solidFill>
                  <a:srgbClr val="8A97A6"/>
                </a:solidFill>
                <a:latin typeface="Noto Sans KR" pitchFamily="34" charset="0"/>
                <a:ea typeface="Noto Sans KR" pitchFamily="34" charset="-122"/>
                <a:cs typeface="Noto Sans KR" pitchFamily="34" charset="-120"/>
              </a:rPr>
              <a:t>오늘의 목표</a:t>
            </a:r>
            <a:endParaRPr lang="en-US" sz="1800" dirty="0"/>
          </a:p>
        </p:txBody>
      </p:sp>
      <p:sp>
        <p:nvSpPr>
          <p:cNvPr id="13" name="Text 11"/>
          <p:cNvSpPr/>
          <p:nvPr/>
        </p:nvSpPr>
        <p:spPr>
          <a:xfrm>
            <a:off x="13387388" y="9010650"/>
            <a:ext cx="4259104" cy="533400"/>
          </a:xfrm>
          <a:prstGeom prst="rect">
            <a:avLst/>
          </a:prstGeom>
          <a:noFill/>
          <a:ln/>
        </p:spPr>
        <p:txBody>
          <a:bodyPr wrap="square" lIns="25400" tIns="25400" rIns="25400" bIns="25400" rtlCol="0" anchor="t">
            <a:normAutofit/>
          </a:bodyPr>
          <a:lstStyle/>
          <a:p>
            <a:pPr algn="l" indent="0" marL="0">
              <a:buNone/>
            </a:pPr>
            <a:r>
              <a:rPr lang="en-US" sz="2700" b="1" dirty="0">
                <a:solidFill>
                  <a:srgbClr val="F6F4EF"/>
                </a:solidFill>
                <a:latin typeface="Noto Sans KR" pitchFamily="34" charset="0"/>
                <a:ea typeface="Noto Sans KR" pitchFamily="34" charset="-122"/>
                <a:cs typeface="Noto Sans KR" pitchFamily="34" charset="-120"/>
              </a:rPr>
              <a:t>역할·첫 작업 확정</a:t>
            </a:r>
            <a:endParaRPr lang="en-US" sz="2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1915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대회 한 장 요약</a:t>
            </a:r>
            <a:endParaRPr lang="en-US" sz="1950" dirty="0"/>
          </a:p>
        </p:txBody>
      </p:sp>
      <p:sp>
        <p:nvSpPr>
          <p:cNvPr id="3" name="Text 1"/>
          <p:cNvSpPr/>
          <p:nvPr/>
        </p:nvSpPr>
        <p:spPr>
          <a:xfrm>
            <a:off x="1028700" y="1314450"/>
            <a:ext cx="16764000" cy="734169"/>
          </a:xfrm>
          <a:prstGeom prst="rect">
            <a:avLst/>
          </a:prstGeom>
          <a:noFill/>
          <a:ln/>
        </p:spPr>
        <p:txBody>
          <a:bodyPr wrap="square" lIns="25400" tIns="25400" rIns="25400" bIns="25400" rtlCol="0" anchor="t">
            <a:normAutofit/>
          </a:bodyPr>
          <a:lstStyle/>
          <a:p>
            <a:pPr algn="l" indent="0" marL="0">
              <a:lnSpc>
                <a:spcPct val="87000"/>
              </a:lnSpc>
              <a:buNone/>
            </a:pPr>
            <a:r>
              <a:rPr lang="en-US" sz="4350" b="1" spc="-43" kern="0" dirty="0">
                <a:solidFill>
                  <a:srgbClr val="16202E"/>
                </a:solidFill>
                <a:latin typeface="Noto Sans KR" pitchFamily="34" charset="0"/>
                <a:ea typeface="Noto Sans KR" pitchFamily="34" charset="-122"/>
                <a:cs typeface="Noto Sans KR" pitchFamily="34" charset="-120"/>
              </a:rPr>
              <a:t>공고 한 건을 읽고 24개 항목의 위반 여부와 근거 문구를 내놓는다</a:t>
            </a:r>
            <a:endParaRPr lang="en-US" sz="4350" dirty="0"/>
          </a:p>
        </p:txBody>
      </p:sp>
      <p:sp>
        <p:nvSpPr>
          <p:cNvPr id="4" name="Shape 2"/>
          <p:cNvSpPr/>
          <p:nvPr/>
        </p:nvSpPr>
        <p:spPr>
          <a:xfrm>
            <a:off x="1028700" y="2353419"/>
            <a:ext cx="5067300" cy="3132683"/>
          </a:xfrm>
          <a:prstGeom prst="roundRect">
            <a:avLst>
              <a:gd name="adj" fmla="val 1824"/>
            </a:avLst>
          </a:prstGeom>
          <a:solidFill>
            <a:srgbClr val="FFFFFF"/>
          </a:solidFill>
          <a:ln w="9525">
            <a:solidFill>
              <a:srgbClr val="E3DED3"/>
            </a:solidFill>
            <a:prstDash val="solid"/>
          </a:ln>
        </p:spPr>
      </p:sp>
      <p:sp>
        <p:nvSpPr>
          <p:cNvPr id="5" name="Text 3"/>
          <p:cNvSpPr/>
          <p:nvPr/>
        </p:nvSpPr>
        <p:spPr>
          <a:xfrm>
            <a:off x="1304925" y="2629644"/>
            <a:ext cx="496633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입력 — 공고 1건</a:t>
            </a:r>
            <a:endParaRPr lang="en-US" sz="1800" dirty="0"/>
          </a:p>
        </p:txBody>
      </p:sp>
      <p:sp>
        <p:nvSpPr>
          <p:cNvPr id="6" name="Text 4"/>
          <p:cNvSpPr/>
          <p:nvPr/>
        </p:nvSpPr>
        <p:spPr>
          <a:xfrm>
            <a:off x="1304925" y="3077319"/>
            <a:ext cx="4966335" cy="410914"/>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16202E"/>
                </a:solidFill>
                <a:latin typeface="Noto Sans KR" pitchFamily="34" charset="0"/>
                <a:ea typeface="Noto Sans KR" pitchFamily="34" charset="-122"/>
                <a:cs typeface="Noto Sans KR" pitchFamily="34" charset="-120"/>
              </a:rPr>
              <a:t>공고문 + 첨부 문서 텍스트</a:t>
            </a:r>
            <a:endParaRPr lang="en-US" sz="2175" dirty="0"/>
          </a:p>
        </p:txBody>
      </p:sp>
      <p:sp>
        <p:nvSpPr>
          <p:cNvPr id="7" name="Text 5"/>
          <p:cNvSpPr/>
          <p:nvPr/>
        </p:nvSpPr>
        <p:spPr>
          <a:xfrm>
            <a:off x="1304925" y="3564434"/>
            <a:ext cx="4650296" cy="752475"/>
          </a:xfrm>
          <a:prstGeom prst="rect">
            <a:avLst/>
          </a:prstGeom>
          <a:noFill/>
          <a:ln/>
        </p:spPr>
        <p:txBody>
          <a:bodyPr wrap="square" lIns="25400" tIns="25400" rIns="25400" bIns="25400" rtlCol="0" anchor="t">
            <a:normAutofit/>
          </a:bodyPr>
          <a:lstStyle/>
          <a:p>
            <a:pPr algn="l" indent="0" marL="0">
              <a:lnSpc>
                <a:spcPct val="104167"/>
              </a:lnSpc>
              <a:buNone/>
            </a:pPr>
            <a:r>
              <a:rPr lang="en-US" sz="1875" dirty="0">
                <a:solidFill>
                  <a:srgbClr val="5A6472"/>
                </a:solidFill>
                <a:latin typeface="Noto Sans KR" pitchFamily="34" charset="0"/>
                <a:ea typeface="Noto Sans KR" pitchFamily="34" charset="-122"/>
                <a:cs typeface="Noto Sans KR" pitchFamily="34" charset="-120"/>
              </a:rPr>
              <a:t>규격서 · 과업지시서 · 제안요청서 · 예외공표서</a:t>
            </a:r>
            <a:endParaRPr lang="en-US" sz="1875" dirty="0"/>
          </a:p>
        </p:txBody>
      </p:sp>
      <p:sp>
        <p:nvSpPr>
          <p:cNvPr id="8" name="Text 6"/>
          <p:cNvSpPr/>
          <p:nvPr/>
        </p:nvSpPr>
        <p:spPr>
          <a:xfrm>
            <a:off x="1304925" y="4393109"/>
            <a:ext cx="4966335" cy="395288"/>
          </a:xfrm>
          <a:prstGeom prst="rect">
            <a:avLst/>
          </a:prstGeom>
          <a:noFill/>
          <a:ln/>
        </p:spPr>
        <p:txBody>
          <a:bodyPr wrap="square" lIns="25400" tIns="25400" rIns="25400" bIns="25400" rtlCol="0" anchor="t">
            <a:normAutofit/>
          </a:bodyPr>
          <a:lstStyle/>
          <a:p>
            <a:pPr algn="l" indent="0" marL="0">
              <a:lnSpc>
                <a:spcPct val="104167"/>
              </a:lnSpc>
              <a:buNone/>
            </a:pPr>
            <a:r>
              <a:rPr lang="en-US" sz="1875" dirty="0">
                <a:solidFill>
                  <a:srgbClr val="5A6472"/>
                </a:solidFill>
                <a:latin typeface="Noto Sans KR" pitchFamily="34" charset="0"/>
                <a:ea typeface="Noto Sans KR" pitchFamily="34" charset="-122"/>
                <a:cs typeface="Noto Sans KR" pitchFamily="34" charset="-120"/>
              </a:rPr>
              <a:t>나라장터 등록 정보 21필드</a:t>
            </a:r>
            <a:endParaRPr lang="en-US" sz="1875" dirty="0"/>
          </a:p>
        </p:txBody>
      </p:sp>
      <p:sp>
        <p:nvSpPr>
          <p:cNvPr id="9" name="Text 7"/>
          <p:cNvSpPr/>
          <p:nvPr/>
        </p:nvSpPr>
        <p:spPr>
          <a:xfrm>
            <a:off x="1304925" y="4864596"/>
            <a:ext cx="4966335" cy="383381"/>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A4402E"/>
                </a:solidFill>
                <a:latin typeface="Noto Sans KR" pitchFamily="34" charset="0"/>
                <a:ea typeface="Noto Sans KR" pitchFamily="34" charset="-122"/>
                <a:cs typeface="Noto Sans KR" pitchFamily="34" charset="-120"/>
              </a:rPr>
              <a:t>위반이 첨부에만 있는 항목이 있다</a:t>
            </a:r>
            <a:endParaRPr lang="en-US" sz="1875" dirty="0"/>
          </a:p>
        </p:txBody>
      </p:sp>
      <p:sp>
        <p:nvSpPr>
          <p:cNvPr id="10" name="Text 8"/>
          <p:cNvSpPr/>
          <p:nvPr/>
        </p:nvSpPr>
        <p:spPr>
          <a:xfrm>
            <a:off x="6057900" y="2353419"/>
            <a:ext cx="590550" cy="3170783"/>
          </a:xfrm>
          <a:prstGeom prst="rect">
            <a:avLst/>
          </a:prstGeom>
          <a:noFill/>
          <a:ln/>
        </p:spPr>
        <p:txBody>
          <a:bodyPr wrap="square" lIns="25400" tIns="25400" rIns="25400" bIns="25400" rtlCol="0" anchor="ctr">
            <a:normAutofit/>
          </a:bodyPr>
          <a:lstStyle/>
          <a:p>
            <a:pPr algn="ctr" indent="0" marL="0">
              <a:buNone/>
            </a:pPr>
            <a:r>
              <a:rPr lang="en-US" sz="3000" dirty="0">
                <a:solidFill>
                  <a:srgbClr val="B4AC9C"/>
                </a:solidFill>
                <a:latin typeface="Noto Sans KR" pitchFamily="34" charset="0"/>
                <a:ea typeface="Noto Sans KR" pitchFamily="34" charset="-122"/>
                <a:cs typeface="Noto Sans KR" pitchFamily="34" charset="-120"/>
              </a:rPr>
              <a:t>→</a:t>
            </a:r>
            <a:endParaRPr lang="en-US" sz="3000" dirty="0"/>
          </a:p>
        </p:txBody>
      </p:sp>
      <p:sp>
        <p:nvSpPr>
          <p:cNvPr id="11" name="Shape 9"/>
          <p:cNvSpPr/>
          <p:nvPr/>
        </p:nvSpPr>
        <p:spPr>
          <a:xfrm>
            <a:off x="6610350" y="2353419"/>
            <a:ext cx="5067300" cy="3132683"/>
          </a:xfrm>
          <a:prstGeom prst="roundRect">
            <a:avLst>
              <a:gd name="adj" fmla="val 1824"/>
            </a:avLst>
          </a:prstGeom>
          <a:solidFill>
            <a:srgbClr val="FFFFFF"/>
          </a:solidFill>
          <a:ln w="9525">
            <a:solidFill>
              <a:srgbClr val="E3DED3"/>
            </a:solidFill>
            <a:prstDash val="solid"/>
          </a:ln>
        </p:spPr>
      </p:sp>
      <p:sp>
        <p:nvSpPr>
          <p:cNvPr id="12" name="Text 10"/>
          <p:cNvSpPr/>
          <p:nvPr/>
        </p:nvSpPr>
        <p:spPr>
          <a:xfrm>
            <a:off x="6886575" y="2629644"/>
            <a:ext cx="496633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우리가 만드는 것</a:t>
            </a:r>
            <a:endParaRPr lang="en-US" sz="1800" dirty="0"/>
          </a:p>
        </p:txBody>
      </p:sp>
      <p:sp>
        <p:nvSpPr>
          <p:cNvPr id="13" name="Text 11"/>
          <p:cNvSpPr/>
          <p:nvPr/>
        </p:nvSpPr>
        <p:spPr>
          <a:xfrm>
            <a:off x="6886575" y="3077319"/>
            <a:ext cx="4650296" cy="783729"/>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16202E"/>
                </a:solidFill>
                <a:latin typeface="Noto Sans KR" pitchFamily="34" charset="0"/>
                <a:ea typeface="Noto Sans KR" pitchFamily="34" charset="-122"/>
                <a:cs typeface="Noto Sans KR" pitchFamily="34" charset="-120"/>
              </a:rPr>
              <a:t>문서 정리 → 근거 조문 검색 → 고정 모델 1회 호출 → 후처리 검증</a:t>
            </a:r>
            <a:endParaRPr lang="en-US" sz="2175" dirty="0"/>
          </a:p>
        </p:txBody>
      </p:sp>
      <p:sp>
        <p:nvSpPr>
          <p:cNvPr id="14" name="Text 12"/>
          <p:cNvSpPr/>
          <p:nvPr/>
        </p:nvSpPr>
        <p:spPr>
          <a:xfrm>
            <a:off x="6886575" y="3937248"/>
            <a:ext cx="4966335" cy="395288"/>
          </a:xfrm>
          <a:prstGeom prst="rect">
            <a:avLst/>
          </a:prstGeom>
          <a:noFill/>
          <a:ln/>
        </p:spPr>
        <p:txBody>
          <a:bodyPr wrap="square" lIns="25400" tIns="25400" rIns="25400" bIns="25400" rtlCol="0" anchor="t">
            <a:normAutofit/>
          </a:bodyPr>
          <a:lstStyle/>
          <a:p>
            <a:pPr algn="l" indent="0" marL="0">
              <a:lnSpc>
                <a:spcPct val="104167"/>
              </a:lnSpc>
              <a:buNone/>
            </a:pPr>
            <a:r>
              <a:rPr lang="en-US" sz="1875" dirty="0">
                <a:solidFill>
                  <a:srgbClr val="5A6472"/>
                </a:solidFill>
                <a:latin typeface="Noto Sans KR" pitchFamily="34" charset="0"/>
                <a:ea typeface="Noto Sans KR" pitchFamily="34" charset="-122"/>
                <a:cs typeface="Noto Sans KR" pitchFamily="34" charset="-120"/>
              </a:rPr>
              <a:t>모델은 고정, 파이프라인은 우리 설계</a:t>
            </a:r>
            <a:endParaRPr lang="en-US" sz="1875" dirty="0"/>
          </a:p>
        </p:txBody>
      </p:sp>
      <p:sp>
        <p:nvSpPr>
          <p:cNvPr id="15" name="Text 13"/>
          <p:cNvSpPr/>
          <p:nvPr/>
        </p:nvSpPr>
        <p:spPr>
          <a:xfrm>
            <a:off x="6886575" y="4408736"/>
            <a:ext cx="4966335" cy="395288"/>
          </a:xfrm>
          <a:prstGeom prst="rect">
            <a:avLst/>
          </a:prstGeom>
          <a:noFill/>
          <a:ln/>
        </p:spPr>
        <p:txBody>
          <a:bodyPr wrap="square" lIns="25400" tIns="25400" rIns="25400" bIns="25400" rtlCol="0" anchor="t">
            <a:normAutofit/>
          </a:bodyPr>
          <a:lstStyle/>
          <a:p>
            <a:pPr algn="l" indent="0" marL="0">
              <a:lnSpc>
                <a:spcPct val="104167"/>
              </a:lnSpc>
              <a:buNone/>
            </a:pPr>
            <a:r>
              <a:rPr lang="en-US" sz="1875" dirty="0">
                <a:solidFill>
                  <a:srgbClr val="5A6472"/>
                </a:solidFill>
                <a:latin typeface="Noto Sans KR" pitchFamily="34" charset="0"/>
                <a:ea typeface="Noto Sans KR" pitchFamily="34" charset="-122"/>
                <a:cs typeface="Noto Sans KR" pitchFamily="34" charset="-120"/>
              </a:rPr>
              <a:t>24개 항목을 한 번의 JSON으로 받는다</a:t>
            </a:r>
            <a:endParaRPr lang="en-US" sz="1875" dirty="0"/>
          </a:p>
        </p:txBody>
      </p:sp>
      <p:sp>
        <p:nvSpPr>
          <p:cNvPr id="16" name="Text 14"/>
          <p:cNvSpPr/>
          <p:nvPr/>
        </p:nvSpPr>
        <p:spPr>
          <a:xfrm>
            <a:off x="11639550" y="2353419"/>
            <a:ext cx="590550" cy="3170783"/>
          </a:xfrm>
          <a:prstGeom prst="rect">
            <a:avLst/>
          </a:prstGeom>
          <a:noFill/>
          <a:ln/>
        </p:spPr>
        <p:txBody>
          <a:bodyPr wrap="square" lIns="25400" tIns="25400" rIns="25400" bIns="25400" rtlCol="0" anchor="ctr">
            <a:normAutofit/>
          </a:bodyPr>
          <a:lstStyle/>
          <a:p>
            <a:pPr algn="ctr" indent="0" marL="0">
              <a:buNone/>
            </a:pPr>
            <a:r>
              <a:rPr lang="en-US" sz="3000" dirty="0">
                <a:solidFill>
                  <a:srgbClr val="B4AC9C"/>
                </a:solidFill>
                <a:latin typeface="Noto Sans KR" pitchFamily="34" charset="0"/>
                <a:ea typeface="Noto Sans KR" pitchFamily="34" charset="-122"/>
                <a:cs typeface="Noto Sans KR" pitchFamily="34" charset="-120"/>
              </a:rPr>
              <a:t>→</a:t>
            </a:r>
            <a:endParaRPr lang="en-US" sz="3000" dirty="0"/>
          </a:p>
        </p:txBody>
      </p:sp>
      <p:sp>
        <p:nvSpPr>
          <p:cNvPr id="17" name="Shape 15"/>
          <p:cNvSpPr/>
          <p:nvPr/>
        </p:nvSpPr>
        <p:spPr>
          <a:xfrm>
            <a:off x="12192000" y="2353419"/>
            <a:ext cx="5067300" cy="3132683"/>
          </a:xfrm>
          <a:prstGeom prst="roundRect">
            <a:avLst>
              <a:gd name="adj" fmla="val 1824"/>
            </a:avLst>
          </a:prstGeom>
          <a:solidFill>
            <a:srgbClr val="16202E"/>
          </a:solidFill>
          <a:ln/>
        </p:spPr>
      </p:sp>
      <p:sp>
        <p:nvSpPr>
          <p:cNvPr id="18" name="Text 16"/>
          <p:cNvSpPr/>
          <p:nvPr/>
        </p:nvSpPr>
        <p:spPr>
          <a:xfrm>
            <a:off x="12458700" y="2620119"/>
            <a:ext cx="498729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출력 — submission.csv</a:t>
            </a:r>
            <a:endParaRPr lang="en-US" sz="1800" dirty="0"/>
          </a:p>
        </p:txBody>
      </p:sp>
      <p:sp>
        <p:nvSpPr>
          <p:cNvPr id="19" name="Text 17"/>
          <p:cNvSpPr/>
          <p:nvPr/>
        </p:nvSpPr>
        <p:spPr>
          <a:xfrm>
            <a:off x="12458700" y="3067794"/>
            <a:ext cx="4987290" cy="410914"/>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F6F4EF"/>
                </a:solidFill>
                <a:latin typeface="Noto Sans KR" pitchFamily="34" charset="0"/>
                <a:ea typeface="Noto Sans KR" pitchFamily="34" charset="-122"/>
                <a:cs typeface="Noto Sans KR" pitchFamily="34" charset="-120"/>
              </a:rPr>
              <a:t>v1~v24 위반 여부 정수 0/1</a:t>
            </a:r>
            <a:endParaRPr lang="en-US" sz="2175" dirty="0"/>
          </a:p>
        </p:txBody>
      </p:sp>
      <p:sp>
        <p:nvSpPr>
          <p:cNvPr id="20" name="Text 18"/>
          <p:cNvSpPr/>
          <p:nvPr/>
        </p:nvSpPr>
        <p:spPr>
          <a:xfrm>
            <a:off x="12458700" y="3554909"/>
            <a:ext cx="4987290" cy="410914"/>
          </a:xfrm>
          <a:prstGeom prst="rect">
            <a:avLst/>
          </a:prstGeom>
          <a:noFill/>
          <a:ln/>
        </p:spPr>
        <p:txBody>
          <a:bodyPr wrap="square" lIns="25400" tIns="25400" rIns="25400" bIns="25400" rtlCol="0" anchor="t">
            <a:normAutofit/>
          </a:bodyPr>
          <a:lstStyle/>
          <a:p>
            <a:pPr algn="l" indent="0" marL="0">
              <a:lnSpc>
                <a:spcPct val="93214"/>
              </a:lnSpc>
              <a:buNone/>
            </a:pPr>
            <a:r>
              <a:rPr lang="en-US" sz="2175" b="1" dirty="0">
                <a:solidFill>
                  <a:srgbClr val="F6F4EF"/>
                </a:solidFill>
                <a:latin typeface="Noto Sans KR" pitchFamily="34" charset="0"/>
                <a:ea typeface="Noto Sans KR" pitchFamily="34" charset="-122"/>
                <a:cs typeface="Noto Sans KR" pitchFamily="34" charset="-120"/>
              </a:rPr>
              <a:t>e1~e24 근거 문구</a:t>
            </a:r>
            <a:endParaRPr lang="en-US" sz="2175" dirty="0"/>
          </a:p>
        </p:txBody>
      </p:sp>
      <p:sp>
        <p:nvSpPr>
          <p:cNvPr id="21" name="Text 19"/>
          <p:cNvSpPr/>
          <p:nvPr/>
        </p:nvSpPr>
        <p:spPr>
          <a:xfrm>
            <a:off x="12458700" y="4042023"/>
            <a:ext cx="4987290" cy="395288"/>
          </a:xfrm>
          <a:prstGeom prst="rect">
            <a:avLst/>
          </a:prstGeom>
          <a:noFill/>
          <a:ln/>
        </p:spPr>
        <p:txBody>
          <a:bodyPr wrap="square" lIns="25400" tIns="25400" rIns="25400" bIns="25400" rtlCol="0" anchor="t">
            <a:normAutofit/>
          </a:bodyPr>
          <a:lstStyle/>
          <a:p>
            <a:pPr algn="l" indent="0" marL="0">
              <a:lnSpc>
                <a:spcPct val="104167"/>
              </a:lnSpc>
              <a:buNone/>
            </a:pPr>
            <a:r>
              <a:rPr lang="en-US" sz="1875" dirty="0">
                <a:solidFill>
                  <a:srgbClr val="B9C2CE"/>
                </a:solidFill>
                <a:latin typeface="Noto Sans KR" pitchFamily="34" charset="0"/>
                <a:ea typeface="Noto Sans KR" pitchFamily="34" charset="-122"/>
                <a:cs typeface="Noto Sans KR" pitchFamily="34" charset="-120"/>
              </a:rPr>
              <a:t>49열 · 행 수 = 입력 건수 · UTF-8(BOM 없음)</a:t>
            </a:r>
            <a:endParaRPr lang="en-US" sz="1875" dirty="0"/>
          </a:p>
        </p:txBody>
      </p:sp>
      <p:sp>
        <p:nvSpPr>
          <p:cNvPr id="22" name="Shape 20"/>
          <p:cNvSpPr/>
          <p:nvPr/>
        </p:nvSpPr>
        <p:spPr>
          <a:xfrm>
            <a:off x="1028700" y="5829002"/>
            <a:ext cx="3131790" cy="1143000"/>
          </a:xfrm>
          <a:prstGeom prst="roundRect">
            <a:avLst>
              <a:gd name="adj" fmla="val 5000"/>
            </a:avLst>
          </a:prstGeom>
          <a:solidFill>
            <a:srgbClr val="EDE9E0"/>
          </a:solidFill>
          <a:ln/>
        </p:spPr>
      </p:sp>
      <p:sp>
        <p:nvSpPr>
          <p:cNvPr id="23" name="Text 21"/>
          <p:cNvSpPr/>
          <p:nvPr/>
        </p:nvSpPr>
        <p:spPr>
          <a:xfrm>
            <a:off x="1238250" y="6009977"/>
            <a:ext cx="2983959"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무라벨 공고</a:t>
            </a:r>
            <a:endParaRPr lang="en-US" sz="1800" dirty="0"/>
          </a:p>
        </p:txBody>
      </p:sp>
      <p:sp>
        <p:nvSpPr>
          <p:cNvPr id="24" name="Text 22"/>
          <p:cNvSpPr/>
          <p:nvPr/>
        </p:nvSpPr>
        <p:spPr>
          <a:xfrm>
            <a:off x="1238250" y="6390977"/>
            <a:ext cx="2983959" cy="438150"/>
          </a:xfrm>
          <a:prstGeom prst="rect">
            <a:avLst/>
          </a:prstGeom>
          <a:noFill/>
          <a:ln/>
        </p:spPr>
        <p:txBody>
          <a:bodyPr wrap="square" lIns="25400" tIns="25400" rIns="25400" bIns="25400" rtlCol="0" anchor="t">
            <a:normAutofit/>
          </a:bodyPr>
          <a:lstStyle/>
          <a:p>
            <a:pPr algn="l" indent="0" marL="0">
              <a:buNone/>
            </a:pPr>
            <a:r>
              <a:rPr lang="en-US" sz="2175" b="1" dirty="0">
                <a:solidFill>
                  <a:srgbClr val="16202E"/>
                </a:solidFill>
                <a:latin typeface="Noto Sans KR" pitchFamily="34" charset="0"/>
                <a:ea typeface="Noto Sans KR" pitchFamily="34" charset="-122"/>
                <a:cs typeface="Noto Sans KR" pitchFamily="34" charset="-120"/>
              </a:rPr>
              <a:t>20,000건</a:t>
            </a:r>
            <a:endParaRPr lang="en-US" sz="2175" dirty="0"/>
          </a:p>
        </p:txBody>
      </p:sp>
      <p:sp>
        <p:nvSpPr>
          <p:cNvPr id="25" name="Shape 23"/>
          <p:cNvSpPr/>
          <p:nvPr/>
        </p:nvSpPr>
        <p:spPr>
          <a:xfrm>
            <a:off x="4303365" y="5829002"/>
            <a:ext cx="3131939" cy="1143000"/>
          </a:xfrm>
          <a:prstGeom prst="roundRect">
            <a:avLst>
              <a:gd name="adj" fmla="val 5000"/>
            </a:avLst>
          </a:prstGeom>
          <a:solidFill>
            <a:srgbClr val="EDE9E0"/>
          </a:solidFill>
          <a:ln/>
        </p:spPr>
      </p:sp>
      <p:sp>
        <p:nvSpPr>
          <p:cNvPr id="26" name="Text 24"/>
          <p:cNvSpPr/>
          <p:nvPr/>
        </p:nvSpPr>
        <p:spPr>
          <a:xfrm>
            <a:off x="4512915" y="6009977"/>
            <a:ext cx="2984123"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dev 정답 포함</a:t>
            </a:r>
            <a:endParaRPr lang="en-US" sz="1800" dirty="0"/>
          </a:p>
        </p:txBody>
      </p:sp>
      <p:sp>
        <p:nvSpPr>
          <p:cNvPr id="27" name="Text 25"/>
          <p:cNvSpPr/>
          <p:nvPr/>
        </p:nvSpPr>
        <p:spPr>
          <a:xfrm>
            <a:off x="4512915" y="6390977"/>
            <a:ext cx="2984123" cy="438150"/>
          </a:xfrm>
          <a:prstGeom prst="rect">
            <a:avLst/>
          </a:prstGeom>
          <a:noFill/>
          <a:ln/>
        </p:spPr>
        <p:txBody>
          <a:bodyPr wrap="square" lIns="25400" tIns="25400" rIns="25400" bIns="25400" rtlCol="0" anchor="t">
            <a:normAutofit/>
          </a:bodyPr>
          <a:lstStyle/>
          <a:p>
            <a:pPr algn="l" indent="0" marL="0">
              <a:buNone/>
            </a:pPr>
            <a:r>
              <a:rPr lang="en-US" sz="2175" b="1" dirty="0">
                <a:solidFill>
                  <a:srgbClr val="16202E"/>
                </a:solidFill>
                <a:latin typeface="Noto Sans KR" pitchFamily="34" charset="0"/>
                <a:ea typeface="Noto Sans KR" pitchFamily="34" charset="-122"/>
                <a:cs typeface="Noto Sans KR" pitchFamily="34" charset="-120"/>
              </a:rPr>
              <a:t>200건</a:t>
            </a:r>
            <a:endParaRPr lang="en-US" sz="2175" dirty="0"/>
          </a:p>
        </p:txBody>
      </p:sp>
      <p:sp>
        <p:nvSpPr>
          <p:cNvPr id="28" name="Shape 26"/>
          <p:cNvSpPr/>
          <p:nvPr/>
        </p:nvSpPr>
        <p:spPr>
          <a:xfrm>
            <a:off x="7578179" y="5829002"/>
            <a:ext cx="3131790" cy="1143000"/>
          </a:xfrm>
          <a:prstGeom prst="roundRect">
            <a:avLst>
              <a:gd name="adj" fmla="val 5000"/>
            </a:avLst>
          </a:prstGeom>
          <a:solidFill>
            <a:srgbClr val="EDE9E0"/>
          </a:solidFill>
          <a:ln/>
        </p:spPr>
      </p:sp>
      <p:sp>
        <p:nvSpPr>
          <p:cNvPr id="29" name="Text 27"/>
          <p:cNvSpPr/>
          <p:nvPr/>
        </p:nvSpPr>
        <p:spPr>
          <a:xfrm>
            <a:off x="7787729" y="6009977"/>
            <a:ext cx="2983959"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항목표·스키마</a:t>
            </a:r>
            <a:endParaRPr lang="en-US" sz="1800" dirty="0"/>
          </a:p>
        </p:txBody>
      </p:sp>
      <p:sp>
        <p:nvSpPr>
          <p:cNvPr id="30" name="Text 28"/>
          <p:cNvSpPr/>
          <p:nvPr/>
        </p:nvSpPr>
        <p:spPr>
          <a:xfrm>
            <a:off x="7787729" y="6390977"/>
            <a:ext cx="2983959" cy="438150"/>
          </a:xfrm>
          <a:prstGeom prst="rect">
            <a:avLst/>
          </a:prstGeom>
          <a:noFill/>
          <a:ln/>
        </p:spPr>
        <p:txBody>
          <a:bodyPr wrap="square" lIns="25400" tIns="25400" rIns="25400" bIns="25400" rtlCol="0" anchor="t">
            <a:normAutofit/>
          </a:bodyPr>
          <a:lstStyle/>
          <a:p>
            <a:pPr algn="l" indent="0" marL="0">
              <a:buNone/>
            </a:pPr>
            <a:r>
              <a:rPr lang="en-US" sz="2175" b="1" dirty="0">
                <a:solidFill>
                  <a:srgbClr val="16202E"/>
                </a:solidFill>
                <a:latin typeface="Noto Sans KR" pitchFamily="34" charset="0"/>
                <a:ea typeface="Noto Sans KR" pitchFamily="34" charset="-122"/>
                <a:cs typeface="Noto Sans KR" pitchFamily="34" charset="-120"/>
              </a:rPr>
              <a:t>24개 정의·조문</a:t>
            </a:r>
            <a:endParaRPr lang="en-US" sz="2175" dirty="0"/>
          </a:p>
        </p:txBody>
      </p:sp>
      <p:sp>
        <p:nvSpPr>
          <p:cNvPr id="31" name="Shape 29"/>
          <p:cNvSpPr/>
          <p:nvPr/>
        </p:nvSpPr>
        <p:spPr>
          <a:xfrm>
            <a:off x="10852845" y="5829002"/>
            <a:ext cx="3131790" cy="1143000"/>
          </a:xfrm>
          <a:prstGeom prst="roundRect">
            <a:avLst>
              <a:gd name="adj" fmla="val 5000"/>
            </a:avLst>
          </a:prstGeom>
          <a:solidFill>
            <a:srgbClr val="EDE9E0"/>
          </a:solidFill>
          <a:ln/>
        </p:spPr>
      </p:sp>
      <p:sp>
        <p:nvSpPr>
          <p:cNvPr id="32" name="Text 30"/>
          <p:cNvSpPr/>
          <p:nvPr/>
        </p:nvSpPr>
        <p:spPr>
          <a:xfrm>
            <a:off x="11062395" y="6009977"/>
            <a:ext cx="2983959"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법령 패키지</a:t>
            </a:r>
            <a:endParaRPr lang="en-US" sz="1800" dirty="0"/>
          </a:p>
        </p:txBody>
      </p:sp>
      <p:sp>
        <p:nvSpPr>
          <p:cNvPr id="33" name="Text 31"/>
          <p:cNvSpPr/>
          <p:nvPr/>
        </p:nvSpPr>
        <p:spPr>
          <a:xfrm>
            <a:off x="11062395" y="6390977"/>
            <a:ext cx="2983959" cy="438150"/>
          </a:xfrm>
          <a:prstGeom prst="rect">
            <a:avLst/>
          </a:prstGeom>
          <a:noFill/>
          <a:ln/>
        </p:spPr>
        <p:txBody>
          <a:bodyPr wrap="square" lIns="25400" tIns="25400" rIns="25400" bIns="25400" rtlCol="0" anchor="t">
            <a:normAutofit/>
          </a:bodyPr>
          <a:lstStyle/>
          <a:p>
            <a:pPr algn="l" indent="0" marL="0">
              <a:buNone/>
            </a:pPr>
            <a:r>
              <a:rPr lang="en-US" sz="2175" b="1" dirty="0">
                <a:solidFill>
                  <a:srgbClr val="16202E"/>
                </a:solidFill>
                <a:latin typeface="Noto Sans KR" pitchFamily="34" charset="0"/>
                <a:ea typeface="Noto Sans KR" pitchFamily="34" charset="-122"/>
                <a:cs typeface="Noto Sans KR" pitchFamily="34" charset="-120"/>
              </a:rPr>
              <a:t>전문 23건 + 고시</a:t>
            </a:r>
            <a:endParaRPr lang="en-US" sz="2175" dirty="0"/>
          </a:p>
        </p:txBody>
      </p:sp>
      <p:sp>
        <p:nvSpPr>
          <p:cNvPr id="34" name="Shape 32"/>
          <p:cNvSpPr/>
          <p:nvPr/>
        </p:nvSpPr>
        <p:spPr>
          <a:xfrm>
            <a:off x="14127510" y="5829002"/>
            <a:ext cx="3131790" cy="1143000"/>
          </a:xfrm>
          <a:prstGeom prst="roundRect">
            <a:avLst>
              <a:gd name="adj" fmla="val 5000"/>
            </a:avLst>
          </a:prstGeom>
          <a:solidFill>
            <a:srgbClr val="EDE9E0"/>
          </a:solidFill>
          <a:ln/>
        </p:spPr>
      </p:sp>
      <p:sp>
        <p:nvSpPr>
          <p:cNvPr id="35" name="Text 33"/>
          <p:cNvSpPr/>
          <p:nvPr/>
        </p:nvSpPr>
        <p:spPr>
          <a:xfrm>
            <a:off x="14337060" y="6009977"/>
            <a:ext cx="2983959"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베이스라인</a:t>
            </a:r>
            <a:endParaRPr lang="en-US" sz="1800" dirty="0"/>
          </a:p>
        </p:txBody>
      </p:sp>
      <p:sp>
        <p:nvSpPr>
          <p:cNvPr id="36" name="Text 34"/>
          <p:cNvSpPr/>
          <p:nvPr/>
        </p:nvSpPr>
        <p:spPr>
          <a:xfrm>
            <a:off x="14337060" y="6390977"/>
            <a:ext cx="2983959" cy="438150"/>
          </a:xfrm>
          <a:prstGeom prst="rect">
            <a:avLst/>
          </a:prstGeom>
          <a:noFill/>
          <a:ln/>
        </p:spPr>
        <p:txBody>
          <a:bodyPr wrap="square" lIns="25400" tIns="25400" rIns="25400" bIns="25400" rtlCol="0" anchor="t">
            <a:normAutofit/>
          </a:bodyPr>
          <a:lstStyle/>
          <a:p>
            <a:pPr algn="l" indent="0" marL="0">
              <a:buNone/>
            </a:pPr>
            <a:r>
              <a:rPr lang="en-US" sz="2175" b="1" dirty="0">
                <a:solidFill>
                  <a:srgbClr val="16202E"/>
                </a:solidFill>
                <a:latin typeface="Noto Sans KR" pitchFamily="34" charset="0"/>
                <a:ea typeface="Noto Sans KR" pitchFamily="34" charset="-122"/>
                <a:cs typeface="Noto Sans KR" pitchFamily="34" charset="-120"/>
              </a:rPr>
              <a:t>script.py + RAG 변형</a:t>
            </a:r>
            <a:endParaRPr lang="en-US" sz="21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1028700" y="8382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FC3B2"/>
                </a:solidFill>
                <a:latin typeface="Noto Sans KR" pitchFamily="34" charset="0"/>
                <a:ea typeface="Noto Sans KR" pitchFamily="34" charset="-122"/>
                <a:cs typeface="Noto Sans KR" pitchFamily="34" charset="-120"/>
              </a:rPr>
              <a:t>이 대회의 성격</a:t>
            </a:r>
            <a:endParaRPr lang="en-US" sz="1950" dirty="0"/>
          </a:p>
        </p:txBody>
      </p:sp>
      <p:sp>
        <p:nvSpPr>
          <p:cNvPr id="3" name="Text 1"/>
          <p:cNvSpPr/>
          <p:nvPr/>
        </p:nvSpPr>
        <p:spPr>
          <a:xfrm>
            <a:off x="1028700" y="1333500"/>
            <a:ext cx="16089630" cy="1403449"/>
          </a:xfrm>
          <a:prstGeom prst="rect">
            <a:avLst/>
          </a:prstGeom>
          <a:noFill/>
          <a:ln/>
        </p:spPr>
        <p:txBody>
          <a:bodyPr wrap="square" lIns="25400" tIns="25400" rIns="25400" bIns="25400" rtlCol="0" anchor="t">
            <a:normAutofit/>
          </a:bodyPr>
          <a:lstStyle/>
          <a:p>
            <a:pPr algn="l" indent="0" marL="0">
              <a:lnSpc>
                <a:spcPct val="88494"/>
              </a:lnSpc>
              <a:buNone/>
            </a:pPr>
            <a:r>
              <a:rPr lang="en-US" sz="4200" b="1" spc="-42" kern="0" dirty="0">
                <a:solidFill>
                  <a:srgbClr val="F6F4EF"/>
                </a:solidFill>
                <a:latin typeface="Noto Sans KR" pitchFamily="34" charset="0"/>
                <a:ea typeface="Noto Sans KR" pitchFamily="34" charset="-122"/>
                <a:cs typeface="Noto Sans KR" pitchFamily="34" charset="-120"/>
              </a:rPr>
              <a:t>모두가 같은 모델을 쓴다 — 점수는 모델에게 무엇을 보여주는가에서 갈린다</a:t>
            </a:r>
            <a:endParaRPr lang="en-US" sz="4200" dirty="0"/>
          </a:p>
        </p:txBody>
      </p:sp>
      <p:sp>
        <p:nvSpPr>
          <p:cNvPr id="4" name="Shape 2"/>
          <p:cNvSpPr/>
          <p:nvPr/>
        </p:nvSpPr>
        <p:spPr>
          <a:xfrm>
            <a:off x="1028700" y="3060799"/>
            <a:ext cx="3914775" cy="2053530"/>
          </a:xfrm>
          <a:prstGeom prst="roundRect">
            <a:avLst>
              <a:gd name="adj" fmla="val 2783"/>
            </a:avLst>
          </a:prstGeom>
          <a:solidFill>
            <a:srgbClr val="1E2B3B"/>
          </a:solidFill>
          <a:ln w="9525">
            <a:solidFill>
              <a:srgbClr val="33404F"/>
            </a:solidFill>
            <a:prstDash val="solid"/>
          </a:ln>
        </p:spPr>
      </p:sp>
      <p:sp>
        <p:nvSpPr>
          <p:cNvPr id="5" name="Text 3"/>
          <p:cNvSpPr/>
          <p:nvPr/>
        </p:nvSpPr>
        <p:spPr>
          <a:xfrm>
            <a:off x="1266825" y="3298924"/>
            <a:ext cx="378237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점수가 움직이는 곳 1</a:t>
            </a:r>
            <a:endParaRPr lang="en-US" sz="1800" dirty="0"/>
          </a:p>
        </p:txBody>
      </p:sp>
      <p:sp>
        <p:nvSpPr>
          <p:cNvPr id="6" name="Text 4"/>
          <p:cNvSpPr/>
          <p:nvPr/>
        </p:nvSpPr>
        <p:spPr>
          <a:xfrm>
            <a:off x="1266825" y="3737074"/>
            <a:ext cx="3782378" cy="409575"/>
          </a:xfrm>
          <a:prstGeom prst="rect">
            <a:avLst/>
          </a:prstGeom>
          <a:noFill/>
          <a:ln/>
        </p:spPr>
        <p:txBody>
          <a:bodyPr wrap="square" lIns="25400" tIns="25400" rIns="25400" bIns="25400" rtlCol="0" anchor="t">
            <a:normAutofit/>
          </a:bodyPr>
          <a:lstStyle/>
          <a:p>
            <a:pPr algn="l" indent="0" marL="0">
              <a:lnSpc>
                <a:spcPct val="88636"/>
              </a:lnSpc>
              <a:buNone/>
            </a:pPr>
            <a:r>
              <a:rPr lang="en-US" sz="2250" b="1" dirty="0">
                <a:solidFill>
                  <a:srgbClr val="F6F4EF"/>
                </a:solidFill>
                <a:latin typeface="Noto Sans KR" pitchFamily="34" charset="0"/>
                <a:ea typeface="Noto Sans KR" pitchFamily="34" charset="-122"/>
                <a:cs typeface="Noto Sans KR" pitchFamily="34" charset="-120"/>
              </a:rPr>
              <a:t>문서 선택과 절단</a:t>
            </a:r>
            <a:endParaRPr lang="en-US" sz="2250" dirty="0"/>
          </a:p>
        </p:txBody>
      </p:sp>
      <p:sp>
        <p:nvSpPr>
          <p:cNvPr id="7" name="Text 5"/>
          <p:cNvSpPr/>
          <p:nvPr/>
        </p:nvSpPr>
        <p:spPr>
          <a:xfrm>
            <a:off x="1266825" y="4213324"/>
            <a:ext cx="3541681" cy="70098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C6CEDA"/>
                </a:solidFill>
                <a:latin typeface="Noto Sans KR" pitchFamily="34" charset="0"/>
                <a:ea typeface="Noto Sans KR" pitchFamily="34" charset="-122"/>
                <a:cs typeface="Noto Sans KR" pitchFamily="34" charset="-120"/>
              </a:rPr>
              <a:t>어떤 문서를 어느 순서로 얼마나 넣는가</a:t>
            </a:r>
            <a:endParaRPr lang="en-US" sz="1800" dirty="0"/>
          </a:p>
        </p:txBody>
      </p:sp>
      <p:sp>
        <p:nvSpPr>
          <p:cNvPr id="8" name="Shape 6"/>
          <p:cNvSpPr/>
          <p:nvPr/>
        </p:nvSpPr>
        <p:spPr>
          <a:xfrm>
            <a:off x="5133975" y="3060799"/>
            <a:ext cx="3914775" cy="2053530"/>
          </a:xfrm>
          <a:prstGeom prst="roundRect">
            <a:avLst>
              <a:gd name="adj" fmla="val 2783"/>
            </a:avLst>
          </a:prstGeom>
          <a:solidFill>
            <a:srgbClr val="1E2B3B"/>
          </a:solidFill>
          <a:ln w="9525">
            <a:solidFill>
              <a:srgbClr val="33404F"/>
            </a:solidFill>
            <a:prstDash val="solid"/>
          </a:ln>
        </p:spPr>
      </p:sp>
      <p:sp>
        <p:nvSpPr>
          <p:cNvPr id="9" name="Text 7"/>
          <p:cNvSpPr/>
          <p:nvPr/>
        </p:nvSpPr>
        <p:spPr>
          <a:xfrm>
            <a:off x="5372100" y="3298924"/>
            <a:ext cx="378237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2</a:t>
            </a:r>
            <a:endParaRPr lang="en-US" sz="1800" dirty="0"/>
          </a:p>
        </p:txBody>
      </p:sp>
      <p:sp>
        <p:nvSpPr>
          <p:cNvPr id="10" name="Text 8"/>
          <p:cNvSpPr/>
          <p:nvPr/>
        </p:nvSpPr>
        <p:spPr>
          <a:xfrm>
            <a:off x="5372100" y="3737074"/>
            <a:ext cx="3782378" cy="409575"/>
          </a:xfrm>
          <a:prstGeom prst="rect">
            <a:avLst/>
          </a:prstGeom>
          <a:noFill/>
          <a:ln/>
        </p:spPr>
        <p:txBody>
          <a:bodyPr wrap="square" lIns="25400" tIns="25400" rIns="25400" bIns="25400" rtlCol="0" anchor="t">
            <a:normAutofit/>
          </a:bodyPr>
          <a:lstStyle/>
          <a:p>
            <a:pPr algn="l" indent="0" marL="0">
              <a:lnSpc>
                <a:spcPct val="88636"/>
              </a:lnSpc>
              <a:buNone/>
            </a:pPr>
            <a:r>
              <a:rPr lang="en-US" sz="2250" b="1" dirty="0">
                <a:solidFill>
                  <a:srgbClr val="F6F4EF"/>
                </a:solidFill>
                <a:latin typeface="Noto Sans KR" pitchFamily="34" charset="0"/>
                <a:ea typeface="Noto Sans KR" pitchFamily="34" charset="-122"/>
                <a:cs typeface="Noto Sans KR" pitchFamily="34" charset="-120"/>
              </a:rPr>
              <a:t>근거 조문 검색</a:t>
            </a:r>
            <a:endParaRPr lang="en-US" sz="2250" dirty="0"/>
          </a:p>
        </p:txBody>
      </p:sp>
      <p:sp>
        <p:nvSpPr>
          <p:cNvPr id="11" name="Text 9"/>
          <p:cNvSpPr/>
          <p:nvPr/>
        </p:nvSpPr>
        <p:spPr>
          <a:xfrm>
            <a:off x="5372100" y="4213324"/>
            <a:ext cx="3782378" cy="36954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C6CEDA"/>
                </a:solidFill>
                <a:latin typeface="Noto Sans KR" pitchFamily="34" charset="0"/>
                <a:ea typeface="Noto Sans KR" pitchFamily="34" charset="-122"/>
                <a:cs typeface="Noto Sans KR" pitchFamily="34" charset="-120"/>
              </a:rPr>
              <a:t>맞는 조문을 찾아 붙이는가</a:t>
            </a:r>
            <a:endParaRPr lang="en-US" sz="1800" dirty="0"/>
          </a:p>
        </p:txBody>
      </p:sp>
      <p:sp>
        <p:nvSpPr>
          <p:cNvPr id="12" name="Shape 10"/>
          <p:cNvSpPr/>
          <p:nvPr/>
        </p:nvSpPr>
        <p:spPr>
          <a:xfrm>
            <a:off x="9239250" y="3060799"/>
            <a:ext cx="3914775" cy="2053530"/>
          </a:xfrm>
          <a:prstGeom prst="roundRect">
            <a:avLst>
              <a:gd name="adj" fmla="val 2783"/>
            </a:avLst>
          </a:prstGeom>
          <a:solidFill>
            <a:srgbClr val="1E2B3B"/>
          </a:solidFill>
          <a:ln w="9525">
            <a:solidFill>
              <a:srgbClr val="33404F"/>
            </a:solidFill>
            <a:prstDash val="solid"/>
          </a:ln>
        </p:spPr>
      </p:sp>
      <p:sp>
        <p:nvSpPr>
          <p:cNvPr id="13" name="Text 11"/>
          <p:cNvSpPr/>
          <p:nvPr/>
        </p:nvSpPr>
        <p:spPr>
          <a:xfrm>
            <a:off x="9477375" y="3298924"/>
            <a:ext cx="378237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3</a:t>
            </a:r>
            <a:endParaRPr lang="en-US" sz="1800" dirty="0"/>
          </a:p>
        </p:txBody>
      </p:sp>
      <p:sp>
        <p:nvSpPr>
          <p:cNvPr id="14" name="Text 12"/>
          <p:cNvSpPr/>
          <p:nvPr/>
        </p:nvSpPr>
        <p:spPr>
          <a:xfrm>
            <a:off x="9477375" y="3737074"/>
            <a:ext cx="3782378" cy="409575"/>
          </a:xfrm>
          <a:prstGeom prst="rect">
            <a:avLst/>
          </a:prstGeom>
          <a:noFill/>
          <a:ln/>
        </p:spPr>
        <p:txBody>
          <a:bodyPr wrap="square" lIns="25400" tIns="25400" rIns="25400" bIns="25400" rtlCol="0" anchor="t">
            <a:normAutofit/>
          </a:bodyPr>
          <a:lstStyle/>
          <a:p>
            <a:pPr algn="l" indent="0" marL="0">
              <a:lnSpc>
                <a:spcPct val="88636"/>
              </a:lnSpc>
              <a:buNone/>
            </a:pPr>
            <a:r>
              <a:rPr lang="en-US" sz="2250" b="1" dirty="0">
                <a:solidFill>
                  <a:srgbClr val="F6F4EF"/>
                </a:solidFill>
                <a:latin typeface="Noto Sans KR" pitchFamily="34" charset="0"/>
                <a:ea typeface="Noto Sans KR" pitchFamily="34" charset="-122"/>
                <a:cs typeface="Noto Sans KR" pitchFamily="34" charset="-120"/>
              </a:rPr>
              <a:t>판정 지시문</a:t>
            </a:r>
            <a:endParaRPr lang="en-US" sz="2250" dirty="0"/>
          </a:p>
        </p:txBody>
      </p:sp>
      <p:sp>
        <p:nvSpPr>
          <p:cNvPr id="15" name="Text 13"/>
          <p:cNvSpPr/>
          <p:nvPr/>
        </p:nvSpPr>
        <p:spPr>
          <a:xfrm>
            <a:off x="9477375" y="4213324"/>
            <a:ext cx="3541681" cy="70098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C6CEDA"/>
                </a:solidFill>
                <a:latin typeface="Noto Sans KR" pitchFamily="34" charset="0"/>
                <a:ea typeface="Noto Sans KR" pitchFamily="34" charset="-122"/>
                <a:cs typeface="Noto Sans KR" pitchFamily="34" charset="-120"/>
              </a:rPr>
              <a:t>조건·예외·정보 부족 시 처리를 어떻게 지시하는가</a:t>
            </a:r>
            <a:endParaRPr lang="en-US" sz="1800" dirty="0"/>
          </a:p>
        </p:txBody>
      </p:sp>
      <p:sp>
        <p:nvSpPr>
          <p:cNvPr id="16" name="Shape 14"/>
          <p:cNvSpPr/>
          <p:nvPr/>
        </p:nvSpPr>
        <p:spPr>
          <a:xfrm>
            <a:off x="13344525" y="3060799"/>
            <a:ext cx="3914775" cy="2053530"/>
          </a:xfrm>
          <a:prstGeom prst="roundRect">
            <a:avLst>
              <a:gd name="adj" fmla="val 2783"/>
            </a:avLst>
          </a:prstGeom>
          <a:solidFill>
            <a:srgbClr val="1E2B3B"/>
          </a:solidFill>
          <a:ln w="9525">
            <a:solidFill>
              <a:srgbClr val="33404F"/>
            </a:solidFill>
            <a:prstDash val="solid"/>
          </a:ln>
        </p:spPr>
      </p:sp>
      <p:sp>
        <p:nvSpPr>
          <p:cNvPr id="17" name="Text 15"/>
          <p:cNvSpPr/>
          <p:nvPr/>
        </p:nvSpPr>
        <p:spPr>
          <a:xfrm>
            <a:off x="13582650" y="3298924"/>
            <a:ext cx="378237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4</a:t>
            </a:r>
            <a:endParaRPr lang="en-US" sz="1800" dirty="0"/>
          </a:p>
        </p:txBody>
      </p:sp>
      <p:sp>
        <p:nvSpPr>
          <p:cNvPr id="18" name="Text 16"/>
          <p:cNvSpPr/>
          <p:nvPr/>
        </p:nvSpPr>
        <p:spPr>
          <a:xfrm>
            <a:off x="13582650" y="3737074"/>
            <a:ext cx="3782378" cy="409575"/>
          </a:xfrm>
          <a:prstGeom prst="rect">
            <a:avLst/>
          </a:prstGeom>
          <a:noFill/>
          <a:ln/>
        </p:spPr>
        <p:txBody>
          <a:bodyPr wrap="square" lIns="25400" tIns="25400" rIns="25400" bIns="25400" rtlCol="0" anchor="t">
            <a:normAutofit/>
          </a:bodyPr>
          <a:lstStyle/>
          <a:p>
            <a:pPr algn="l" indent="0" marL="0">
              <a:lnSpc>
                <a:spcPct val="88636"/>
              </a:lnSpc>
              <a:buNone/>
            </a:pPr>
            <a:r>
              <a:rPr lang="en-US" sz="2250" b="1" dirty="0">
                <a:solidFill>
                  <a:srgbClr val="F6F4EF"/>
                </a:solidFill>
                <a:latin typeface="Noto Sans KR" pitchFamily="34" charset="0"/>
                <a:ea typeface="Noto Sans KR" pitchFamily="34" charset="-122"/>
                <a:cs typeface="Noto Sans KR" pitchFamily="34" charset="-120"/>
              </a:rPr>
              <a:t>출력 후처리·검증</a:t>
            </a:r>
            <a:endParaRPr lang="en-US" sz="2250" dirty="0"/>
          </a:p>
        </p:txBody>
      </p:sp>
      <p:sp>
        <p:nvSpPr>
          <p:cNvPr id="19" name="Text 17"/>
          <p:cNvSpPr/>
          <p:nvPr/>
        </p:nvSpPr>
        <p:spPr>
          <a:xfrm>
            <a:off x="13582650" y="4213324"/>
            <a:ext cx="3782378" cy="36954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C6CEDA"/>
                </a:solidFill>
                <a:latin typeface="Noto Sans KR" pitchFamily="34" charset="0"/>
                <a:ea typeface="Noto Sans KR" pitchFamily="34" charset="-122"/>
                <a:cs typeface="Noto Sans KR" pitchFamily="34" charset="-120"/>
              </a:rPr>
              <a:t>형식·근거 대조로 무효를 막는가</a:t>
            </a:r>
            <a:endParaRPr lang="en-US" sz="1800" dirty="0"/>
          </a:p>
        </p:txBody>
      </p:sp>
      <p:sp>
        <p:nvSpPr>
          <p:cNvPr id="20" name="Shape 18"/>
          <p:cNvSpPr/>
          <p:nvPr/>
        </p:nvSpPr>
        <p:spPr>
          <a:xfrm>
            <a:off x="1028700" y="5476280"/>
            <a:ext cx="16230600" cy="9525"/>
          </a:xfrm>
          <a:prstGeom prst="rect">
            <a:avLst/>
          </a:prstGeom>
          <a:solidFill>
            <a:srgbClr val="33404F"/>
          </a:solidFill>
          <a:ln/>
        </p:spPr>
      </p:sp>
      <p:sp>
        <p:nvSpPr>
          <p:cNvPr id="21" name="Text 19"/>
          <p:cNvSpPr/>
          <p:nvPr/>
        </p:nvSpPr>
        <p:spPr>
          <a:xfrm>
            <a:off x="1028700" y="5771555"/>
            <a:ext cx="4306253" cy="371475"/>
          </a:xfrm>
          <a:prstGeom prst="rect">
            <a:avLst/>
          </a:prstGeom>
          <a:noFill/>
          <a:ln/>
        </p:spPr>
        <p:txBody>
          <a:bodyPr wrap="square" lIns="25400" tIns="25400" rIns="25400" bIns="25400" rtlCol="0" anchor="t">
            <a:normAutofit/>
          </a:bodyPr>
          <a:lstStyle/>
          <a:p>
            <a:pPr algn="l" indent="0" marL="0">
              <a:buNone/>
            </a:pPr>
            <a:r>
              <a:rPr lang="en-US" sz="1800" dirty="0">
                <a:solidFill>
                  <a:srgbClr val="8A97A6"/>
                </a:solidFill>
                <a:latin typeface="Noto Sans KR" pitchFamily="34" charset="0"/>
                <a:ea typeface="Noto Sans KR" pitchFamily="34" charset="-122"/>
                <a:cs typeface="Noto Sans KR" pitchFamily="34" charset="-120"/>
              </a:rPr>
              <a:t>채점할 공고</a:t>
            </a:r>
            <a:endParaRPr lang="en-US" sz="1800" dirty="0"/>
          </a:p>
        </p:txBody>
      </p:sp>
      <p:sp>
        <p:nvSpPr>
          <p:cNvPr id="22" name="Text 20"/>
          <p:cNvSpPr/>
          <p:nvPr/>
        </p:nvSpPr>
        <p:spPr>
          <a:xfrm>
            <a:off x="1028700" y="6171605"/>
            <a:ext cx="4306253" cy="619125"/>
          </a:xfrm>
          <a:prstGeom prst="rect">
            <a:avLst/>
          </a:prstGeom>
          <a:noFill/>
          <a:ln/>
        </p:spPr>
        <p:txBody>
          <a:bodyPr wrap="square" lIns="25400" tIns="25400" rIns="25400" bIns="25400" rtlCol="0" anchor="t">
            <a:normAutofit/>
          </a:bodyPr>
          <a:lstStyle/>
          <a:p>
            <a:pPr algn="l" indent="0" marL="0">
              <a:buNone/>
            </a:pPr>
            <a:r>
              <a:rPr lang="en-US" sz="3150" b="1" dirty="0">
                <a:solidFill>
                  <a:srgbClr val="F6F4EF"/>
                </a:solidFill>
                <a:latin typeface="Noto Sans KR" pitchFamily="34" charset="0"/>
                <a:ea typeface="Noto Sans KR" pitchFamily="34" charset="-122"/>
                <a:cs typeface="Noto Sans KR" pitchFamily="34" charset="-120"/>
              </a:rPr>
              <a:t>1,853건</a:t>
            </a:r>
            <a:endParaRPr lang="en-US" sz="3150" dirty="0"/>
          </a:p>
        </p:txBody>
      </p:sp>
      <p:sp>
        <p:nvSpPr>
          <p:cNvPr id="23" name="Text 21"/>
          <p:cNvSpPr/>
          <p:nvPr/>
        </p:nvSpPr>
        <p:spPr>
          <a:xfrm>
            <a:off x="5133975" y="5771555"/>
            <a:ext cx="4306253" cy="371475"/>
          </a:xfrm>
          <a:prstGeom prst="rect">
            <a:avLst/>
          </a:prstGeom>
          <a:noFill/>
          <a:ln/>
        </p:spPr>
        <p:txBody>
          <a:bodyPr wrap="square" lIns="25400" tIns="25400" rIns="25400" bIns="25400" rtlCol="0" anchor="t">
            <a:normAutofit/>
          </a:bodyPr>
          <a:lstStyle/>
          <a:p>
            <a:pPr algn="l" indent="0" marL="0">
              <a:buNone/>
            </a:pPr>
            <a:r>
              <a:rPr lang="en-US" sz="1800" dirty="0">
                <a:solidFill>
                  <a:srgbClr val="8A97A6"/>
                </a:solidFill>
                <a:latin typeface="Noto Sans KR" pitchFamily="34" charset="0"/>
                <a:ea typeface="Noto Sans KR" pitchFamily="34" charset="-122"/>
                <a:cs typeface="Noto Sans KR" pitchFamily="34" charset="-120"/>
              </a:rPr>
              <a:t>허용 실행시간</a:t>
            </a:r>
            <a:endParaRPr lang="en-US" sz="1800" dirty="0"/>
          </a:p>
        </p:txBody>
      </p:sp>
      <p:sp>
        <p:nvSpPr>
          <p:cNvPr id="24" name="Text 22"/>
          <p:cNvSpPr/>
          <p:nvPr/>
        </p:nvSpPr>
        <p:spPr>
          <a:xfrm>
            <a:off x="5133975" y="6171605"/>
            <a:ext cx="4306253" cy="619125"/>
          </a:xfrm>
          <a:prstGeom prst="rect">
            <a:avLst/>
          </a:prstGeom>
          <a:noFill/>
          <a:ln/>
        </p:spPr>
        <p:txBody>
          <a:bodyPr wrap="square" lIns="25400" tIns="25400" rIns="25400" bIns="25400" rtlCol="0" anchor="t">
            <a:normAutofit/>
          </a:bodyPr>
          <a:lstStyle/>
          <a:p>
            <a:pPr algn="l" indent="0" marL="0">
              <a:buNone/>
            </a:pPr>
            <a:r>
              <a:rPr lang="en-US" sz="3150" b="1" dirty="0">
                <a:solidFill>
                  <a:srgbClr val="F6F4EF"/>
                </a:solidFill>
                <a:latin typeface="Noto Sans KR" pitchFamily="34" charset="0"/>
                <a:ea typeface="Noto Sans KR" pitchFamily="34" charset="-122"/>
                <a:cs typeface="Noto Sans KR" pitchFamily="34" charset="-120"/>
              </a:rPr>
              <a:t>2시간</a:t>
            </a:r>
            <a:endParaRPr lang="en-US" sz="3150" dirty="0"/>
          </a:p>
        </p:txBody>
      </p:sp>
      <p:sp>
        <p:nvSpPr>
          <p:cNvPr id="25" name="Text 23"/>
          <p:cNvSpPr/>
          <p:nvPr/>
        </p:nvSpPr>
        <p:spPr>
          <a:xfrm>
            <a:off x="9239250" y="5771555"/>
            <a:ext cx="4306253" cy="371475"/>
          </a:xfrm>
          <a:prstGeom prst="rect">
            <a:avLst/>
          </a:prstGeom>
          <a:noFill/>
          <a:ln/>
        </p:spPr>
        <p:txBody>
          <a:bodyPr wrap="square" lIns="25400" tIns="25400" rIns="25400" bIns="25400" rtlCol="0" anchor="t">
            <a:normAutofit/>
          </a:bodyPr>
          <a:lstStyle/>
          <a:p>
            <a:pPr algn="l" indent="0" marL="0">
              <a:buNone/>
            </a:pPr>
            <a:r>
              <a:rPr lang="en-US" sz="1800" dirty="0">
                <a:solidFill>
                  <a:srgbClr val="8A97A6"/>
                </a:solidFill>
                <a:latin typeface="Noto Sans KR" pitchFamily="34" charset="0"/>
                <a:ea typeface="Noto Sans KR" pitchFamily="34" charset="-122"/>
                <a:cs typeface="Noto Sans KR" pitchFamily="34" charset="-120"/>
              </a:rPr>
              <a:t>건당 예산</a:t>
            </a:r>
            <a:endParaRPr lang="en-US" sz="1800" dirty="0"/>
          </a:p>
        </p:txBody>
      </p:sp>
      <p:sp>
        <p:nvSpPr>
          <p:cNvPr id="26" name="Text 24"/>
          <p:cNvSpPr/>
          <p:nvPr/>
        </p:nvSpPr>
        <p:spPr>
          <a:xfrm>
            <a:off x="9239250" y="6171605"/>
            <a:ext cx="4306253" cy="619125"/>
          </a:xfrm>
          <a:prstGeom prst="rect">
            <a:avLst/>
          </a:prstGeom>
          <a:noFill/>
          <a:ln/>
        </p:spPr>
        <p:txBody>
          <a:bodyPr wrap="square" lIns="25400" tIns="25400" rIns="25400" bIns="25400" rtlCol="0" anchor="t">
            <a:normAutofit/>
          </a:bodyPr>
          <a:lstStyle/>
          <a:p>
            <a:pPr algn="l" indent="0" marL="0">
              <a:buNone/>
            </a:pPr>
            <a:r>
              <a:rPr lang="en-US" sz="3150" b="1" dirty="0">
                <a:solidFill>
                  <a:srgbClr val="6FC3B2"/>
                </a:solidFill>
                <a:latin typeface="Noto Sans KR" pitchFamily="34" charset="0"/>
                <a:ea typeface="Noto Sans KR" pitchFamily="34" charset="-122"/>
                <a:cs typeface="Noto Sans KR" pitchFamily="34" charset="-120"/>
              </a:rPr>
              <a:t>약 3.9초</a:t>
            </a:r>
            <a:endParaRPr lang="en-US" sz="3150" dirty="0"/>
          </a:p>
        </p:txBody>
      </p:sp>
      <p:sp>
        <p:nvSpPr>
          <p:cNvPr id="27" name="Text 25"/>
          <p:cNvSpPr/>
          <p:nvPr/>
        </p:nvSpPr>
        <p:spPr>
          <a:xfrm>
            <a:off x="13344525" y="5771555"/>
            <a:ext cx="4306253" cy="371475"/>
          </a:xfrm>
          <a:prstGeom prst="rect">
            <a:avLst/>
          </a:prstGeom>
          <a:noFill/>
          <a:ln/>
        </p:spPr>
        <p:txBody>
          <a:bodyPr wrap="square" lIns="25400" tIns="25400" rIns="25400" bIns="25400" rtlCol="0" anchor="t">
            <a:normAutofit/>
          </a:bodyPr>
          <a:lstStyle/>
          <a:p>
            <a:pPr algn="l" indent="0" marL="0">
              <a:buNone/>
            </a:pPr>
            <a:r>
              <a:rPr lang="en-US" sz="1800" dirty="0">
                <a:solidFill>
                  <a:srgbClr val="8A97A6"/>
                </a:solidFill>
                <a:latin typeface="Noto Sans KR" pitchFamily="34" charset="0"/>
                <a:ea typeface="Noto Sans KR" pitchFamily="34" charset="-122"/>
                <a:cs typeface="Noto Sans KR" pitchFamily="34" charset="-120"/>
              </a:rPr>
              <a:t>그래서 호출은</a:t>
            </a:r>
            <a:endParaRPr lang="en-US" sz="1800" dirty="0"/>
          </a:p>
        </p:txBody>
      </p:sp>
      <p:sp>
        <p:nvSpPr>
          <p:cNvPr id="28" name="Text 26"/>
          <p:cNvSpPr/>
          <p:nvPr/>
        </p:nvSpPr>
        <p:spPr>
          <a:xfrm>
            <a:off x="13344525" y="6171605"/>
            <a:ext cx="4306253" cy="619125"/>
          </a:xfrm>
          <a:prstGeom prst="rect">
            <a:avLst/>
          </a:prstGeom>
          <a:noFill/>
          <a:ln/>
        </p:spPr>
        <p:txBody>
          <a:bodyPr wrap="square" lIns="25400" tIns="25400" rIns="25400" bIns="25400" rtlCol="0" anchor="t">
            <a:normAutofit/>
          </a:bodyPr>
          <a:lstStyle/>
          <a:p>
            <a:pPr algn="l" indent="0" marL="0">
              <a:buNone/>
            </a:pPr>
            <a:r>
              <a:rPr lang="en-US" sz="3150" b="1" dirty="0">
                <a:solidFill>
                  <a:srgbClr val="6FC3B2"/>
                </a:solidFill>
                <a:latin typeface="Noto Sans KR" pitchFamily="34" charset="0"/>
                <a:ea typeface="Noto Sans KR" pitchFamily="34" charset="-122"/>
                <a:cs typeface="Noto Sans KR" pitchFamily="34" charset="-120"/>
              </a:rPr>
              <a:t>공고당 1회</a:t>
            </a:r>
            <a:endParaRPr lang="en-US" sz="3150" dirty="0"/>
          </a:p>
        </p:txBody>
      </p:sp>
      <p:sp>
        <p:nvSpPr>
          <p:cNvPr id="29" name="Text 27"/>
          <p:cNvSpPr/>
          <p:nvPr/>
        </p:nvSpPr>
        <p:spPr>
          <a:xfrm>
            <a:off x="1028700" y="7114580"/>
            <a:ext cx="16717518" cy="809625"/>
          </a:xfrm>
          <a:prstGeom prst="rect">
            <a:avLst/>
          </a:prstGeom>
          <a:noFill/>
          <a:ln/>
        </p:spPr>
        <p:txBody>
          <a:bodyPr wrap="square" lIns="25400" tIns="25400" rIns="25400" bIns="25400" rtlCol="0" anchor="t">
            <a:normAutofit/>
          </a:bodyPr>
          <a:lstStyle/>
          <a:p>
            <a:pPr algn="l" indent="0" marL="0">
              <a:lnSpc>
                <a:spcPct val="103846"/>
              </a:lnSpc>
              <a:buNone/>
            </a:pPr>
            <a:r>
              <a:rPr lang="en-US" sz="2025" dirty="0">
                <a:solidFill>
                  <a:srgbClr val="8FA0B1"/>
                </a:solidFill>
                <a:latin typeface="Noto Sans KR" pitchFamily="34" charset="0"/>
                <a:ea typeface="Noto Sans KR" pitchFamily="34" charset="-122"/>
                <a:cs typeface="Noto Sans KR" pitchFamily="34" charset="-120"/>
              </a:rPr>
              <a:t>항목마다 따로 호출하는 구조는 24배가 되어 구조적으로 불가능하다 · GPU는 L40S 1장이고 고정 모델이 메모리 대부분을 쓴다 · </a:t>
            </a:r>
            <a:pPr algn="l" indent="0" marL="0">
              <a:lnSpc>
                <a:spcPct val="103846"/>
              </a:lnSpc>
              <a:buNone/>
            </a:pPr>
            <a:r>
              <a:rPr lang="en-US" sz="2025" b="1" dirty="0">
                <a:solidFill>
                  <a:srgbClr val="6FC3B2"/>
                </a:solidFill>
                <a:latin typeface="Noto Sans KR" pitchFamily="34" charset="0"/>
                <a:ea typeface="Noto Sans KR" pitchFamily="34" charset="-122"/>
                <a:cs typeface="Noto Sans KR" pitchFamily="34" charset="-120"/>
              </a:rPr>
              <a:t>이 숫자가 오늘 나올 모든 기술 선택의 상한선</a:t>
            </a:r>
            <a:endParaRPr lang="en-US" sz="20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1915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평가 방식과 근거 규약</a:t>
            </a:r>
            <a:endParaRPr lang="en-US" sz="1950" dirty="0"/>
          </a:p>
        </p:txBody>
      </p:sp>
      <p:sp>
        <p:nvSpPr>
          <p:cNvPr id="3" name="Text 1"/>
          <p:cNvSpPr/>
          <p:nvPr/>
        </p:nvSpPr>
        <p:spPr>
          <a:xfrm>
            <a:off x="1028700" y="1314450"/>
            <a:ext cx="16764000" cy="734169"/>
          </a:xfrm>
          <a:prstGeom prst="rect">
            <a:avLst/>
          </a:prstGeom>
          <a:noFill/>
          <a:ln/>
        </p:spPr>
        <p:txBody>
          <a:bodyPr wrap="square" lIns="25400" tIns="25400" rIns="25400" bIns="25400" rtlCol="0" anchor="t">
            <a:normAutofit/>
          </a:bodyPr>
          <a:lstStyle/>
          <a:p>
            <a:pPr algn="l" indent="0" marL="0">
              <a:lnSpc>
                <a:spcPct val="87000"/>
              </a:lnSpc>
              <a:buNone/>
            </a:pPr>
            <a:r>
              <a:rPr lang="en-US" sz="4350" b="1" spc="-43" kern="0" dirty="0">
                <a:solidFill>
                  <a:srgbClr val="16202E"/>
                </a:solidFill>
                <a:latin typeface="Noto Sans KR" pitchFamily="34" charset="0"/>
                <a:ea typeface="Noto Sans KR" pitchFamily="34" charset="-122"/>
                <a:cs typeface="Noto Sans KR" pitchFamily="34" charset="-120"/>
              </a:rPr>
              <a:t>24개 항목을 단순 평균하므로 드문 항목을 버릴 수 없다</a:t>
            </a:r>
            <a:endParaRPr lang="en-US" sz="4350" dirty="0"/>
          </a:p>
        </p:txBody>
      </p:sp>
      <p:sp>
        <p:nvSpPr>
          <p:cNvPr id="4" name="Shape 2"/>
          <p:cNvSpPr/>
          <p:nvPr/>
        </p:nvSpPr>
        <p:spPr>
          <a:xfrm>
            <a:off x="1028700" y="2353419"/>
            <a:ext cx="8041630" cy="3188643"/>
          </a:xfrm>
          <a:prstGeom prst="roundRect">
            <a:avLst>
              <a:gd name="adj" fmla="val 1792"/>
            </a:avLst>
          </a:prstGeom>
          <a:solidFill>
            <a:srgbClr val="FFFFFF"/>
          </a:solidFill>
          <a:ln w="9525">
            <a:solidFill>
              <a:srgbClr val="E3DED3"/>
            </a:solidFill>
            <a:prstDash val="solid"/>
          </a:ln>
        </p:spPr>
      </p:sp>
      <p:sp>
        <p:nvSpPr>
          <p:cNvPr id="5" name="Text 3"/>
          <p:cNvSpPr/>
          <p:nvPr/>
        </p:nvSpPr>
        <p:spPr>
          <a:xfrm>
            <a:off x="1323975" y="2629644"/>
            <a:ext cx="819618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리더보드 점수</a:t>
            </a:r>
            <a:endParaRPr lang="en-US" sz="1800" dirty="0"/>
          </a:p>
        </p:txBody>
      </p:sp>
      <p:sp>
        <p:nvSpPr>
          <p:cNvPr id="6" name="Text 4"/>
          <p:cNvSpPr/>
          <p:nvPr/>
        </p:nvSpPr>
        <p:spPr>
          <a:xfrm>
            <a:off x="1323975" y="3086844"/>
            <a:ext cx="8196188" cy="508546"/>
          </a:xfrm>
          <a:prstGeom prst="rect">
            <a:avLst/>
          </a:prstGeom>
          <a:noFill/>
          <a:ln/>
        </p:spPr>
        <p:txBody>
          <a:bodyPr wrap="square" lIns="25400" tIns="25400" rIns="25400" bIns="25400" rtlCol="0" anchor="t">
            <a:normAutofit/>
          </a:bodyPr>
          <a:lstStyle/>
          <a:p>
            <a:pPr algn="l" indent="0" marL="0">
              <a:lnSpc>
                <a:spcPct val="89818"/>
              </a:lnSpc>
              <a:buNone/>
            </a:pPr>
            <a:r>
              <a:rPr lang="en-US" sz="2850" b="1" dirty="0">
                <a:solidFill>
                  <a:srgbClr val="16202E"/>
                </a:solidFill>
                <a:latin typeface="Noto Sans KR" pitchFamily="34" charset="0"/>
                <a:ea typeface="Noto Sans KR" pitchFamily="34" charset="-122"/>
                <a:cs typeface="Noto Sans KR" pitchFamily="34" charset="-120"/>
              </a:rPr>
              <a:t>Macro F1 = 24개 항목 위반 F1의 단순 평균</a:t>
            </a:r>
            <a:endParaRPr lang="en-US" sz="2850" dirty="0"/>
          </a:p>
        </p:txBody>
      </p:sp>
      <p:sp>
        <p:nvSpPr>
          <p:cNvPr id="7" name="Text 5"/>
          <p:cNvSpPr/>
          <p:nvPr/>
        </p:nvSpPr>
        <p:spPr>
          <a:xfrm>
            <a:off x="1323975" y="3681115"/>
            <a:ext cx="7674612" cy="781050"/>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v1~v24만 채점 · 테스트 1,853건 전량 · Private는 종료 시점 점수 · 24개 항목 전부에 위반 사례가 있다</a:t>
            </a:r>
            <a:endParaRPr lang="en-US" sz="1950" dirty="0"/>
          </a:p>
        </p:txBody>
      </p:sp>
      <p:sp>
        <p:nvSpPr>
          <p:cNvPr id="8" name="Text 6"/>
          <p:cNvSpPr/>
          <p:nvPr/>
        </p:nvSpPr>
        <p:spPr>
          <a:xfrm>
            <a:off x="1323975" y="4547890"/>
            <a:ext cx="7674612" cy="756047"/>
          </a:xfrm>
          <a:prstGeom prst="rect">
            <a:avLst/>
          </a:prstGeom>
          <a:noFill/>
          <a:ln/>
        </p:spPr>
        <p:txBody>
          <a:bodyPr wrap="square" lIns="25400" tIns="25400" rIns="25400" bIns="25400" rtlCol="0" anchor="t">
            <a:normAutofit/>
          </a:bodyPr>
          <a:lstStyle/>
          <a:p>
            <a:pPr algn="l" indent="0" marL="0">
              <a:lnSpc>
                <a:spcPct val="101892"/>
              </a:lnSpc>
              <a:buNone/>
            </a:pPr>
            <a:r>
              <a:rPr lang="en-US" sz="1950" b="1" dirty="0">
                <a:solidFill>
                  <a:srgbClr val="A4402E"/>
                </a:solidFill>
                <a:latin typeface="Noto Sans KR" pitchFamily="34" charset="0"/>
                <a:ea typeface="Noto Sans KR" pitchFamily="34" charset="-122"/>
                <a:cs typeface="Noto Sans KR" pitchFamily="34" charset="-120"/>
              </a:rPr>
              <a:t>약한 항목 하나를 올리는 것이 평균에 가장 크게 기여한다 → 24항목을 고르게 다 챙겨야 한다</a:t>
            </a:r>
            <a:endParaRPr lang="en-US" sz="1950" dirty="0"/>
          </a:p>
        </p:txBody>
      </p:sp>
      <p:sp>
        <p:nvSpPr>
          <p:cNvPr id="9" name="Shape 7"/>
          <p:cNvSpPr/>
          <p:nvPr/>
        </p:nvSpPr>
        <p:spPr>
          <a:xfrm>
            <a:off x="1028700" y="5713512"/>
            <a:ext cx="8041630" cy="2243138"/>
          </a:xfrm>
          <a:prstGeom prst="roundRect">
            <a:avLst>
              <a:gd name="adj" fmla="val 2548"/>
            </a:avLst>
          </a:prstGeom>
          <a:solidFill>
            <a:srgbClr val="FFFFFF"/>
          </a:solidFill>
          <a:ln w="9525">
            <a:solidFill>
              <a:srgbClr val="E3DED3"/>
            </a:solidFill>
            <a:prstDash val="solid"/>
          </a:ln>
        </p:spPr>
      </p:sp>
      <p:sp>
        <p:nvSpPr>
          <p:cNvPr id="10" name="Text 8"/>
          <p:cNvSpPr/>
          <p:nvPr/>
        </p:nvSpPr>
        <p:spPr>
          <a:xfrm>
            <a:off x="1323975" y="5989737"/>
            <a:ext cx="819618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두 단계 평가</a:t>
            </a:r>
            <a:endParaRPr lang="en-US" sz="1800" dirty="0"/>
          </a:p>
        </p:txBody>
      </p:sp>
      <p:sp>
        <p:nvSpPr>
          <p:cNvPr id="11" name="Text 9"/>
          <p:cNvSpPr/>
          <p:nvPr/>
        </p:nvSpPr>
        <p:spPr>
          <a:xfrm>
            <a:off x="1323975" y="6437412"/>
            <a:ext cx="8196188" cy="423863"/>
          </a:xfrm>
          <a:prstGeom prst="rect">
            <a:avLst/>
          </a:prstGeom>
          <a:noFill/>
          <a:ln/>
        </p:spPr>
        <p:txBody>
          <a:bodyPr wrap="square" lIns="25400" tIns="25400" rIns="25400" bIns="25400" rtlCol="0" anchor="t">
            <a:normAutofit/>
          </a:bodyPr>
          <a:lstStyle/>
          <a:p>
            <a:pPr algn="l" indent="0" marL="0">
              <a:lnSpc>
                <a:spcPct val="92045"/>
              </a:lnSpc>
              <a:buNone/>
            </a:pPr>
            <a:r>
              <a:rPr lang="en-US" sz="2250" b="1" dirty="0">
                <a:solidFill>
                  <a:srgbClr val="16202E"/>
                </a:solidFill>
                <a:latin typeface="Noto Sans KR" pitchFamily="34" charset="0"/>
                <a:ea typeface="Noto Sans KR" pitchFamily="34" charset="-122"/>
                <a:cs typeface="Noto Sans KR" pitchFamily="34" charset="-120"/>
              </a:rPr>
              <a:t>1차 상위 15팀 → 2차는 정량 80% + 근거 정성 20%</a:t>
            </a:r>
            <a:endParaRPr lang="en-US" sz="2250" dirty="0"/>
          </a:p>
        </p:txBody>
      </p:sp>
      <p:sp>
        <p:nvSpPr>
          <p:cNvPr id="12" name="Text 10"/>
          <p:cNvSpPr/>
          <p:nvPr/>
        </p:nvSpPr>
        <p:spPr>
          <a:xfrm>
            <a:off x="1323975" y="6937474"/>
            <a:ext cx="7674612" cy="781050"/>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2차 제출물 — 재현 가능한 코드·프롬프트(라벨 생성 포함), 자료 출처 명세, 팀원 정보. 재현 불가 시 수상 취소.</a:t>
            </a:r>
            <a:endParaRPr lang="en-US" sz="1950" dirty="0"/>
          </a:p>
        </p:txBody>
      </p:sp>
      <p:sp>
        <p:nvSpPr>
          <p:cNvPr id="13" name="Shape 11"/>
          <p:cNvSpPr/>
          <p:nvPr/>
        </p:nvSpPr>
        <p:spPr>
          <a:xfrm>
            <a:off x="9375130" y="2353419"/>
            <a:ext cx="7884170" cy="5603230"/>
          </a:xfrm>
          <a:prstGeom prst="roundRect">
            <a:avLst>
              <a:gd name="adj" fmla="val 1020"/>
            </a:avLst>
          </a:prstGeom>
          <a:solidFill>
            <a:srgbClr val="16202E"/>
          </a:solidFill>
          <a:ln/>
        </p:spPr>
      </p:sp>
      <p:sp>
        <p:nvSpPr>
          <p:cNvPr id="14" name="Text 12"/>
          <p:cNvSpPr/>
          <p:nvPr/>
        </p:nvSpPr>
        <p:spPr>
          <a:xfrm>
            <a:off x="9660880" y="2620119"/>
            <a:ext cx="8043937"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근거 문구(e열) — 이 대회 최대의 함정</a:t>
            </a:r>
            <a:endParaRPr lang="en-US" sz="1800" dirty="0"/>
          </a:p>
        </p:txBody>
      </p:sp>
      <p:sp>
        <p:nvSpPr>
          <p:cNvPr id="15" name="Text 13"/>
          <p:cNvSpPr/>
          <p:nvPr/>
        </p:nvSpPr>
        <p:spPr>
          <a:xfrm>
            <a:off x="9660880" y="3086844"/>
            <a:ext cx="8043937" cy="451396"/>
          </a:xfrm>
          <a:prstGeom prst="rect">
            <a:avLst/>
          </a:prstGeom>
          <a:noFill/>
          <a:ln/>
        </p:spPr>
        <p:txBody>
          <a:bodyPr wrap="square" lIns="25400" tIns="25400" rIns="25400" bIns="25400" rtlCol="0" anchor="t">
            <a:normAutofit/>
          </a:bodyPr>
          <a:lstStyle/>
          <a:p>
            <a:pPr algn="l" indent="0" marL="0">
              <a:lnSpc>
                <a:spcPct val="96444"/>
              </a:lnSpc>
              <a:buNone/>
            </a:pPr>
            <a:r>
              <a:rPr lang="en-US" sz="2325" b="1" dirty="0">
                <a:solidFill>
                  <a:srgbClr val="F6F4EF"/>
                </a:solidFill>
                <a:latin typeface="Noto Sans KR" pitchFamily="34" charset="0"/>
                <a:ea typeface="Noto Sans KR" pitchFamily="34" charset="-122"/>
                <a:cs typeface="Noto Sans KR" pitchFamily="34" charset="-120"/>
              </a:rPr>
              <a:t>제공 원문의 부분문자열이 아니면 자동 무효</a:t>
            </a:r>
            <a:endParaRPr lang="en-US" sz="2325" dirty="0"/>
          </a:p>
        </p:txBody>
      </p:sp>
      <p:sp>
        <p:nvSpPr>
          <p:cNvPr id="16" name="Text 14"/>
          <p:cNvSpPr/>
          <p:nvPr/>
        </p:nvSpPr>
        <p:spPr>
          <a:xfrm>
            <a:off x="9660880" y="3633490"/>
            <a:ext cx="7532050" cy="781050"/>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C6CEDA"/>
                </a:solidFill>
                <a:latin typeface="Noto Sans KR" pitchFamily="34" charset="0"/>
                <a:ea typeface="Noto Sans KR" pitchFamily="34" charset="-122"/>
                <a:cs typeface="Noto Sans KR" pitchFamily="34" charset="-120"/>
              </a:rPr>
              <a:t>요약·수정·생성 금지 · 500자 이하 · NFC 정규화 · 수식 접두 문자(= + @) 금지</a:t>
            </a:r>
            <a:endParaRPr lang="en-US" sz="1950" dirty="0"/>
          </a:p>
        </p:txBody>
      </p:sp>
      <p:sp>
        <p:nvSpPr>
          <p:cNvPr id="17" name="Text 15"/>
          <p:cNvSpPr/>
          <p:nvPr/>
        </p:nvSpPr>
        <p:spPr>
          <a:xfrm>
            <a:off x="9660880" y="4509790"/>
            <a:ext cx="7532050" cy="781050"/>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C6CEDA"/>
                </a:solidFill>
                <a:latin typeface="Noto Sans KR" pitchFamily="34" charset="0"/>
                <a:ea typeface="Noto Sans KR" pitchFamily="34" charset="-122"/>
                <a:cs typeface="Noto Sans KR" pitchFamily="34" charset="-120"/>
              </a:rPr>
              <a:t>뜻이 같아도 글자가 다르면 버려진다 · 메타 필드값은 대조 대상이 아니다</a:t>
            </a:r>
            <a:endParaRPr lang="en-US" sz="1950" dirty="0"/>
          </a:p>
        </p:txBody>
      </p:sp>
      <p:sp>
        <p:nvSpPr>
          <p:cNvPr id="18" name="Text 16"/>
          <p:cNvSpPr/>
          <p:nvPr/>
        </p:nvSpPr>
        <p:spPr>
          <a:xfrm>
            <a:off x="9660880" y="5386090"/>
            <a:ext cx="8043937" cy="409575"/>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C6CEDA"/>
                </a:solidFill>
                <a:latin typeface="Noto Sans KR" pitchFamily="34" charset="0"/>
                <a:ea typeface="Noto Sans KR" pitchFamily="34" charset="-122"/>
                <a:cs typeface="Noto Sans KR" pitchFamily="34" charset="-120"/>
              </a:rPr>
              <a:t>부재탐지형 5개(v10·11·16·18·20)는 항상 빈칸</a:t>
            </a:r>
            <a:endParaRPr lang="en-US" sz="1950" dirty="0"/>
          </a:p>
        </p:txBody>
      </p:sp>
      <p:sp>
        <p:nvSpPr>
          <p:cNvPr id="19" name="Text 17"/>
          <p:cNvSpPr/>
          <p:nvPr/>
        </p:nvSpPr>
        <p:spPr>
          <a:xfrm>
            <a:off x="9660880" y="5890915"/>
            <a:ext cx="8043937"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b="1" dirty="0">
                <a:solidFill>
                  <a:srgbClr val="6FC3B2"/>
                </a:solidFill>
                <a:latin typeface="Noto Sans KR" pitchFamily="34" charset="0"/>
                <a:ea typeface="Noto Sans KR" pitchFamily="34" charset="-122"/>
                <a:cs typeface="Noto Sans KR" pitchFamily="34" charset="-120"/>
              </a:rPr>
              <a:t>→ 첫 제출부터 성실하게 채운다. 소급해서 만들 수 없다.</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78105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베이스라인 해부도</a:t>
            </a:r>
            <a:endParaRPr lang="en-US" sz="1950" dirty="0"/>
          </a:p>
        </p:txBody>
      </p:sp>
      <p:sp>
        <p:nvSpPr>
          <p:cNvPr id="3" name="Text 1"/>
          <p:cNvSpPr/>
          <p:nvPr/>
        </p:nvSpPr>
        <p:spPr>
          <a:xfrm>
            <a:off x="1028700" y="1266825"/>
            <a:ext cx="16973550" cy="710059"/>
          </a:xfrm>
          <a:prstGeom prst="rect">
            <a:avLst/>
          </a:prstGeom>
          <a:noFill/>
          <a:ln/>
        </p:spPr>
        <p:txBody>
          <a:bodyPr wrap="square" lIns="25400" tIns="25400" rIns="25400" bIns="25400" rtlCol="0" anchor="t">
            <a:normAutofit/>
          </a:bodyPr>
          <a:lstStyle/>
          <a:p>
            <a:pPr algn="l" indent="0" marL="0">
              <a:lnSpc>
                <a:spcPct val="87111"/>
              </a:lnSpc>
              <a:buNone/>
            </a:pPr>
            <a:r>
              <a:rPr lang="en-US" sz="4200" b="1" spc="-42" kern="0" dirty="0">
                <a:solidFill>
                  <a:srgbClr val="16202E"/>
                </a:solidFill>
                <a:latin typeface="Noto Sans KR" pitchFamily="34" charset="0"/>
                <a:ea typeface="Noto Sans KR" pitchFamily="34" charset="-122"/>
                <a:cs typeface="Noto Sans KR" pitchFamily="34" charset="-120"/>
              </a:rPr>
              <a:t>이미 도는 코드가 있고, 우리가 건드릴 곳은 네 모듈이다</a:t>
            </a:r>
            <a:endParaRPr lang="en-US" sz="4200" dirty="0"/>
          </a:p>
        </p:txBody>
      </p:sp>
      <p:sp>
        <p:nvSpPr>
          <p:cNvPr id="4" name="Shape 2"/>
          <p:cNvSpPr/>
          <p:nvPr/>
        </p:nvSpPr>
        <p:spPr>
          <a:xfrm>
            <a:off x="1028700" y="2243584"/>
            <a:ext cx="3929063" cy="3116312"/>
          </a:xfrm>
          <a:prstGeom prst="roundRect">
            <a:avLst>
              <a:gd name="adj" fmla="val 1834"/>
            </a:avLst>
          </a:prstGeom>
          <a:solidFill>
            <a:srgbClr val="FFFFFF"/>
          </a:solidFill>
          <a:ln w="9525">
            <a:solidFill>
              <a:srgbClr val="E3DED3"/>
            </a:solidFill>
            <a:prstDash val="solid"/>
          </a:ln>
        </p:spPr>
      </p:sp>
      <p:sp>
        <p:nvSpPr>
          <p:cNvPr id="5" name="Text 3"/>
          <p:cNvSpPr/>
          <p:nvPr/>
        </p:nvSpPr>
        <p:spPr>
          <a:xfrm>
            <a:off x="1266825" y="2481709"/>
            <a:ext cx="3798094"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① 입력 구성</a:t>
            </a:r>
            <a:endParaRPr lang="en-US" sz="1800" dirty="0"/>
          </a:p>
        </p:txBody>
      </p:sp>
      <p:sp>
        <p:nvSpPr>
          <p:cNvPr id="6" name="Text 4"/>
          <p:cNvSpPr/>
          <p:nvPr/>
        </p:nvSpPr>
        <p:spPr>
          <a:xfrm>
            <a:off x="1266825" y="2919859"/>
            <a:ext cx="3798094" cy="384721"/>
          </a:xfrm>
          <a:prstGeom prst="rect">
            <a:avLst/>
          </a:prstGeom>
          <a:noFill/>
          <a:ln/>
        </p:spPr>
        <p:txBody>
          <a:bodyPr wrap="square" lIns="25400" tIns="25400" rIns="25400" bIns="25400" rtlCol="0" anchor="t">
            <a:normAutofit/>
          </a:bodyPr>
          <a:lstStyle/>
          <a:p>
            <a:pPr algn="l" indent="0" marL="0">
              <a:lnSpc>
                <a:spcPct val="91000"/>
              </a:lnSpc>
              <a:buNone/>
            </a:pPr>
            <a:r>
              <a:rPr lang="en-US" sz="2100" b="1" dirty="0">
                <a:solidFill>
                  <a:srgbClr val="16202E"/>
                </a:solidFill>
                <a:latin typeface="Noto Sans KR" pitchFamily="34" charset="0"/>
                <a:ea typeface="Noto Sans KR" pitchFamily="34" charset="-122"/>
                <a:cs typeface="Noto Sans KR" pitchFamily="34" charset="-120"/>
              </a:rPr>
              <a:t>문서 이어붙이기와 길이 예산</a:t>
            </a:r>
            <a:endParaRPr lang="en-US" sz="2100" dirty="0"/>
          </a:p>
        </p:txBody>
      </p:sp>
      <p:sp>
        <p:nvSpPr>
          <p:cNvPr id="7" name="Text 5"/>
          <p:cNvSpPr/>
          <p:nvPr/>
        </p:nvSpPr>
        <p:spPr>
          <a:xfrm>
            <a:off x="1266825" y="3371255"/>
            <a:ext cx="3556397" cy="1032421"/>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3C4654"/>
                </a:solidFill>
                <a:latin typeface="Noto Sans KR" pitchFamily="34" charset="0"/>
                <a:ea typeface="Noto Sans KR" pitchFamily="34" charset="-122"/>
                <a:cs typeface="Noto Sans KR" pitchFamily="34" charset="-120"/>
              </a:rPr>
              <a:t>공고문 먼저, 첨부는 순서대로 · 기본 문서 4,000자 · 토큰 예산 14,848에 맞을 때까지 축소</a:t>
            </a:r>
            <a:endParaRPr lang="en-US" sz="1800" dirty="0"/>
          </a:p>
        </p:txBody>
      </p:sp>
      <p:sp>
        <p:nvSpPr>
          <p:cNvPr id="8" name="Text 6"/>
          <p:cNvSpPr/>
          <p:nvPr/>
        </p:nvSpPr>
        <p:spPr>
          <a:xfrm>
            <a:off x="1266825" y="4470350"/>
            <a:ext cx="3556397" cy="678061"/>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A4402E"/>
                </a:solidFill>
                <a:latin typeface="Noto Sans KR" pitchFamily="34" charset="0"/>
                <a:ea typeface="Noto Sans KR" pitchFamily="34" charset="-122"/>
                <a:cs typeface="Noto Sans KR" pitchFamily="34" charset="-120"/>
              </a:rPr>
              <a:t>개선 여지 — 예산이 남는데 잘라 버린다</a:t>
            </a:r>
            <a:endParaRPr lang="en-US" sz="1800" dirty="0"/>
          </a:p>
        </p:txBody>
      </p:sp>
      <p:sp>
        <p:nvSpPr>
          <p:cNvPr id="9" name="Shape 7"/>
          <p:cNvSpPr/>
          <p:nvPr/>
        </p:nvSpPr>
        <p:spPr>
          <a:xfrm>
            <a:off x="5129213" y="2243584"/>
            <a:ext cx="3929063" cy="3116312"/>
          </a:xfrm>
          <a:prstGeom prst="roundRect">
            <a:avLst>
              <a:gd name="adj" fmla="val 1834"/>
            </a:avLst>
          </a:prstGeom>
          <a:solidFill>
            <a:srgbClr val="FFFFFF"/>
          </a:solidFill>
          <a:ln w="9525">
            <a:solidFill>
              <a:srgbClr val="E3DED3"/>
            </a:solidFill>
            <a:prstDash val="solid"/>
          </a:ln>
        </p:spPr>
      </p:sp>
      <p:sp>
        <p:nvSpPr>
          <p:cNvPr id="10" name="Text 8"/>
          <p:cNvSpPr/>
          <p:nvPr/>
        </p:nvSpPr>
        <p:spPr>
          <a:xfrm>
            <a:off x="5367338" y="2481709"/>
            <a:ext cx="3798094"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② 근거 검색</a:t>
            </a:r>
            <a:endParaRPr lang="en-US" sz="1800" dirty="0"/>
          </a:p>
        </p:txBody>
      </p:sp>
      <p:sp>
        <p:nvSpPr>
          <p:cNvPr id="11" name="Text 9"/>
          <p:cNvSpPr/>
          <p:nvPr/>
        </p:nvSpPr>
        <p:spPr>
          <a:xfrm>
            <a:off x="5367338" y="2919859"/>
            <a:ext cx="3798094" cy="384721"/>
          </a:xfrm>
          <a:prstGeom prst="rect">
            <a:avLst/>
          </a:prstGeom>
          <a:noFill/>
          <a:ln/>
        </p:spPr>
        <p:txBody>
          <a:bodyPr wrap="square" lIns="25400" tIns="25400" rIns="25400" bIns="25400" rtlCol="0" anchor="t">
            <a:normAutofit/>
          </a:bodyPr>
          <a:lstStyle/>
          <a:p>
            <a:pPr algn="l" indent="0" marL="0">
              <a:lnSpc>
                <a:spcPct val="91000"/>
              </a:lnSpc>
              <a:buNone/>
            </a:pPr>
            <a:r>
              <a:rPr lang="en-US" sz="2100" b="1" dirty="0">
                <a:solidFill>
                  <a:srgbClr val="16202E"/>
                </a:solidFill>
                <a:latin typeface="Noto Sans KR" pitchFamily="34" charset="0"/>
                <a:ea typeface="Noto Sans KR" pitchFamily="34" charset="-122"/>
                <a:cs typeface="Noto Sans KR" pitchFamily="34" charset="-120"/>
              </a:rPr>
              <a:t>법령 조문 BM25 1단</a:t>
            </a:r>
            <a:endParaRPr lang="en-US" sz="2100" dirty="0"/>
          </a:p>
        </p:txBody>
      </p:sp>
      <p:sp>
        <p:nvSpPr>
          <p:cNvPr id="12" name="Text 10"/>
          <p:cNvSpPr/>
          <p:nvPr/>
        </p:nvSpPr>
        <p:spPr>
          <a:xfrm>
            <a:off x="5367338" y="3371255"/>
            <a:ext cx="3556397" cy="1032421"/>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3C4654"/>
                </a:solidFill>
                <a:latin typeface="Noto Sans KR" pitchFamily="34" charset="0"/>
                <a:ea typeface="Noto Sans KR" pitchFamily="34" charset="-122"/>
                <a:cs typeface="Noto Sans KR" pitchFamily="34" charset="-120"/>
              </a:rPr>
              <a:t>법령 전문을 제N조 단위로 자름 · 질의는 공고문 앞부분 그대로 · 상위 8개를 8,000자까지 주입</a:t>
            </a:r>
            <a:endParaRPr lang="en-US" sz="1800" dirty="0"/>
          </a:p>
        </p:txBody>
      </p:sp>
      <p:sp>
        <p:nvSpPr>
          <p:cNvPr id="13" name="Text 11"/>
          <p:cNvSpPr/>
          <p:nvPr/>
        </p:nvSpPr>
        <p:spPr>
          <a:xfrm>
            <a:off x="5367338" y="4470350"/>
            <a:ext cx="3556397" cy="678061"/>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A4402E"/>
                </a:solidFill>
                <a:latin typeface="Noto Sans KR" pitchFamily="34" charset="0"/>
                <a:ea typeface="Noto Sans KR" pitchFamily="34" charset="-122"/>
                <a:cs typeface="Noto Sans KR" pitchFamily="34" charset="-120"/>
              </a:rPr>
              <a:t>개선 여지 — 항목→조문 매핑을 안 쓴다</a:t>
            </a:r>
            <a:endParaRPr lang="en-US" sz="1800" dirty="0"/>
          </a:p>
        </p:txBody>
      </p:sp>
      <p:sp>
        <p:nvSpPr>
          <p:cNvPr id="14" name="Shape 12"/>
          <p:cNvSpPr/>
          <p:nvPr/>
        </p:nvSpPr>
        <p:spPr>
          <a:xfrm>
            <a:off x="9229725" y="2243584"/>
            <a:ext cx="3929063" cy="3116312"/>
          </a:xfrm>
          <a:prstGeom prst="roundRect">
            <a:avLst>
              <a:gd name="adj" fmla="val 1834"/>
            </a:avLst>
          </a:prstGeom>
          <a:solidFill>
            <a:srgbClr val="FFFFFF"/>
          </a:solidFill>
          <a:ln w="9525">
            <a:solidFill>
              <a:srgbClr val="E3DED3"/>
            </a:solidFill>
            <a:prstDash val="solid"/>
          </a:ln>
        </p:spPr>
      </p:sp>
      <p:sp>
        <p:nvSpPr>
          <p:cNvPr id="15" name="Text 13"/>
          <p:cNvSpPr/>
          <p:nvPr/>
        </p:nvSpPr>
        <p:spPr>
          <a:xfrm>
            <a:off x="9467850" y="2481709"/>
            <a:ext cx="3798094"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③ 모델 호출</a:t>
            </a:r>
            <a:endParaRPr lang="en-US" sz="1800" dirty="0"/>
          </a:p>
        </p:txBody>
      </p:sp>
      <p:sp>
        <p:nvSpPr>
          <p:cNvPr id="16" name="Text 14"/>
          <p:cNvSpPr/>
          <p:nvPr/>
        </p:nvSpPr>
        <p:spPr>
          <a:xfrm>
            <a:off x="9467850" y="2919859"/>
            <a:ext cx="3798094" cy="384721"/>
          </a:xfrm>
          <a:prstGeom prst="rect">
            <a:avLst/>
          </a:prstGeom>
          <a:noFill/>
          <a:ln/>
        </p:spPr>
        <p:txBody>
          <a:bodyPr wrap="square" lIns="25400" tIns="25400" rIns="25400" bIns="25400" rtlCol="0" anchor="t">
            <a:normAutofit/>
          </a:bodyPr>
          <a:lstStyle/>
          <a:p>
            <a:pPr algn="l" indent="0" marL="0">
              <a:lnSpc>
                <a:spcPct val="91000"/>
              </a:lnSpc>
              <a:buNone/>
            </a:pPr>
            <a:r>
              <a:rPr lang="en-US" sz="2100" b="1" dirty="0">
                <a:solidFill>
                  <a:srgbClr val="16202E"/>
                </a:solidFill>
                <a:latin typeface="Noto Sans KR" pitchFamily="34" charset="0"/>
                <a:ea typeface="Noto Sans KR" pitchFamily="34" charset="-122"/>
                <a:cs typeface="Noto Sans KR" pitchFamily="34" charset="-120"/>
              </a:rPr>
              <a:t>제약 디코딩 1회</a:t>
            </a:r>
            <a:endParaRPr lang="en-US" sz="2100" dirty="0"/>
          </a:p>
        </p:txBody>
      </p:sp>
      <p:sp>
        <p:nvSpPr>
          <p:cNvPr id="17" name="Text 15"/>
          <p:cNvSpPr/>
          <p:nvPr/>
        </p:nvSpPr>
        <p:spPr>
          <a:xfrm>
            <a:off x="9467850" y="3371255"/>
            <a:ext cx="3556397" cy="1363861"/>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3C4654"/>
                </a:solidFill>
                <a:latin typeface="Noto Sans KR" pitchFamily="34" charset="0"/>
                <a:ea typeface="Noto Sans KR" pitchFamily="34" charset="-122"/>
                <a:cs typeface="Noto Sans KR" pitchFamily="34" charset="-120"/>
              </a:rPr>
              <a:t>vLLM 오프라인 · 24항목 JSON 스키마 강제 · temperature 0 · 시드 고정 · 128건 배치 · 실패 시 건별 재시도</a:t>
            </a:r>
            <a:endParaRPr lang="en-US" sz="1800" dirty="0"/>
          </a:p>
        </p:txBody>
      </p:sp>
      <p:sp>
        <p:nvSpPr>
          <p:cNvPr id="18" name="Text 16"/>
          <p:cNvSpPr/>
          <p:nvPr/>
        </p:nvSpPr>
        <p:spPr>
          <a:xfrm>
            <a:off x="9467850" y="4801791"/>
            <a:ext cx="3798094"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0F6B5E"/>
                </a:solidFill>
                <a:latin typeface="Noto Sans KR" pitchFamily="34" charset="0"/>
                <a:ea typeface="Noto Sans KR" pitchFamily="34" charset="-122"/>
                <a:cs typeface="Noto Sans KR" pitchFamily="34" charset="-120"/>
              </a:rPr>
              <a:t>규칙상 건드릴 폭이 좁다</a:t>
            </a:r>
            <a:endParaRPr lang="en-US" sz="1800" dirty="0"/>
          </a:p>
        </p:txBody>
      </p:sp>
      <p:sp>
        <p:nvSpPr>
          <p:cNvPr id="19" name="Shape 17"/>
          <p:cNvSpPr/>
          <p:nvPr/>
        </p:nvSpPr>
        <p:spPr>
          <a:xfrm>
            <a:off x="13330238" y="2243584"/>
            <a:ext cx="3929063" cy="3116312"/>
          </a:xfrm>
          <a:prstGeom prst="roundRect">
            <a:avLst>
              <a:gd name="adj" fmla="val 1834"/>
            </a:avLst>
          </a:prstGeom>
          <a:solidFill>
            <a:srgbClr val="FFFFFF"/>
          </a:solidFill>
          <a:ln w="9525">
            <a:solidFill>
              <a:srgbClr val="E3DED3"/>
            </a:solidFill>
            <a:prstDash val="solid"/>
          </a:ln>
        </p:spPr>
      </p:sp>
      <p:sp>
        <p:nvSpPr>
          <p:cNvPr id="20" name="Text 18"/>
          <p:cNvSpPr/>
          <p:nvPr/>
        </p:nvSpPr>
        <p:spPr>
          <a:xfrm>
            <a:off x="13568363" y="2481709"/>
            <a:ext cx="3798094"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④ 후처리·검증</a:t>
            </a:r>
            <a:endParaRPr lang="en-US" sz="1800" dirty="0"/>
          </a:p>
        </p:txBody>
      </p:sp>
      <p:sp>
        <p:nvSpPr>
          <p:cNvPr id="21" name="Text 19"/>
          <p:cNvSpPr/>
          <p:nvPr/>
        </p:nvSpPr>
        <p:spPr>
          <a:xfrm>
            <a:off x="13568363" y="2919859"/>
            <a:ext cx="3798094" cy="384721"/>
          </a:xfrm>
          <a:prstGeom prst="rect">
            <a:avLst/>
          </a:prstGeom>
          <a:noFill/>
          <a:ln/>
        </p:spPr>
        <p:txBody>
          <a:bodyPr wrap="square" lIns="25400" tIns="25400" rIns="25400" bIns="25400" rtlCol="0" anchor="t">
            <a:normAutofit/>
          </a:bodyPr>
          <a:lstStyle/>
          <a:p>
            <a:pPr algn="l" indent="0" marL="0">
              <a:lnSpc>
                <a:spcPct val="91000"/>
              </a:lnSpc>
              <a:buNone/>
            </a:pPr>
            <a:r>
              <a:rPr lang="en-US" sz="2100" b="1" dirty="0">
                <a:solidFill>
                  <a:srgbClr val="16202E"/>
                </a:solidFill>
                <a:latin typeface="Noto Sans KR" pitchFamily="34" charset="0"/>
                <a:ea typeface="Noto Sans KR" pitchFamily="34" charset="-122"/>
                <a:cs typeface="Noto Sans KR" pitchFamily="34" charset="-120"/>
              </a:rPr>
              <a:t>근거 대조와 형식 방어</a:t>
            </a:r>
            <a:endParaRPr lang="en-US" sz="2100" dirty="0"/>
          </a:p>
        </p:txBody>
      </p:sp>
      <p:sp>
        <p:nvSpPr>
          <p:cNvPr id="22" name="Text 20"/>
          <p:cNvSpPr/>
          <p:nvPr/>
        </p:nvSpPr>
        <p:spPr>
          <a:xfrm>
            <a:off x="13568363" y="3371255"/>
            <a:ext cx="3556397" cy="1032421"/>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3C4654"/>
                </a:solidFill>
                <a:latin typeface="Noto Sans KR" pitchFamily="34" charset="0"/>
                <a:ea typeface="Noto Sans KR" pitchFamily="34" charset="-122"/>
                <a:cs typeface="Noto Sans KR" pitchFamily="34" charset="-120"/>
              </a:rPr>
              <a:t>부재탐지 5항목 근거 강제 빈칸 · 비위반 빈칸 · 원문 부분문자열 아니면 폐기 · 49열 CSV 자가검증</a:t>
            </a:r>
            <a:endParaRPr lang="en-US" sz="1800" dirty="0"/>
          </a:p>
        </p:txBody>
      </p:sp>
      <p:sp>
        <p:nvSpPr>
          <p:cNvPr id="23" name="Text 21"/>
          <p:cNvSpPr/>
          <p:nvPr/>
        </p:nvSpPr>
        <p:spPr>
          <a:xfrm>
            <a:off x="13568363" y="4470350"/>
            <a:ext cx="3798094"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0F6B5E"/>
                </a:solidFill>
                <a:latin typeface="Noto Sans KR" pitchFamily="34" charset="0"/>
                <a:ea typeface="Noto Sans KR" pitchFamily="34" charset="-122"/>
                <a:cs typeface="Noto Sans KR" pitchFamily="34" charset="-120"/>
              </a:rPr>
              <a:t>형식 사고 방어는 이미 들어 있다</a:t>
            </a:r>
            <a:endParaRPr lang="en-US" sz="1800" dirty="0"/>
          </a:p>
        </p:txBody>
      </p:sp>
      <p:sp>
        <p:nvSpPr>
          <p:cNvPr id="24" name="Shape 22"/>
          <p:cNvSpPr/>
          <p:nvPr/>
        </p:nvSpPr>
        <p:spPr>
          <a:xfrm>
            <a:off x="1028700" y="5664696"/>
            <a:ext cx="16230600" cy="1533525"/>
          </a:xfrm>
          <a:prstGeom prst="roundRect">
            <a:avLst>
              <a:gd name="adj" fmla="val 3727"/>
            </a:avLst>
          </a:prstGeom>
          <a:solidFill>
            <a:srgbClr val="16202E"/>
          </a:solidFill>
          <a:ln/>
        </p:spPr>
      </p:sp>
      <p:sp>
        <p:nvSpPr>
          <p:cNvPr id="25" name="Text 23"/>
          <p:cNvSpPr/>
          <p:nvPr/>
        </p:nvSpPr>
        <p:spPr>
          <a:xfrm>
            <a:off x="1295400" y="5874246"/>
            <a:ext cx="16184118" cy="1152525"/>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F6F4EF"/>
                </a:solidFill>
                <a:highlight>
                  <a:srgbClr val="16202E"/>
                </a:highlight>
                <a:latin typeface="Noto Sans KR" pitchFamily="34" charset="0"/>
                <a:ea typeface="Noto Sans KR" pitchFamily="34" charset="-122"/>
                <a:cs typeface="Noto Sans KR" pitchFamily="34" charset="-120"/>
              </a:rPr>
              <a:t>실행 관례도 정해져 있다 — 경로는 환경변수(PPS_DATA_DIR·PPS_OUTPUT_DIR·PPS_MODEL_DIR·PPS_EMBED_DIR)로만 접근 · 실행 코드는 if __name__ 아래 · int8 양자화, max_model_len 16,384 · id 접두와 건수를 하드코딩하지 않는다 · </a:t>
            </a:r>
            <a:pPr algn="l" indent="0" marL="0">
              <a:lnSpc>
                <a:spcPct val="105405"/>
              </a:lnSpc>
              <a:buNone/>
            </a:pPr>
            <a:r>
              <a:rPr lang="en-US" sz="1950" b="1" dirty="0">
                <a:solidFill>
                  <a:srgbClr val="6FC3B2"/>
                </a:solidFill>
                <a:latin typeface="Noto Sans KR" pitchFamily="34" charset="0"/>
                <a:ea typeface="Noto Sans KR" pitchFamily="34" charset="-122"/>
                <a:cs typeface="Noto Sans KR" pitchFamily="34" charset="-120"/>
              </a:rPr>
              <a:t>형식은 이미 안전하다. 우리가 올릴 것은 판단 품질이다.</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1915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일의 총량 — 작업 방식을 정하기 전에</a:t>
            </a:r>
            <a:endParaRPr lang="en-US" sz="1950" dirty="0"/>
          </a:p>
        </p:txBody>
      </p:sp>
      <p:sp>
        <p:nvSpPr>
          <p:cNvPr id="3" name="Text 1"/>
          <p:cNvSpPr/>
          <p:nvPr/>
        </p:nvSpPr>
        <p:spPr>
          <a:xfrm>
            <a:off x="1028700" y="1314450"/>
            <a:ext cx="16973550" cy="734169"/>
          </a:xfrm>
          <a:prstGeom prst="rect">
            <a:avLst/>
          </a:prstGeom>
          <a:noFill/>
          <a:ln/>
        </p:spPr>
        <p:txBody>
          <a:bodyPr wrap="square" lIns="25400" tIns="25400" rIns="25400" bIns="25400" rtlCol="0" anchor="t">
            <a:normAutofit/>
          </a:bodyPr>
          <a:lstStyle/>
          <a:p>
            <a:pPr algn="l" indent="0" marL="0">
              <a:lnSpc>
                <a:spcPct val="87000"/>
              </a:lnSpc>
              <a:buNone/>
            </a:pPr>
            <a:r>
              <a:rPr lang="en-US" sz="4350" b="1" spc="-43" kern="0" dirty="0">
                <a:solidFill>
                  <a:srgbClr val="16202E"/>
                </a:solidFill>
                <a:latin typeface="Noto Sans KR" pitchFamily="34" charset="0"/>
                <a:ea typeface="Noto Sans KR" pitchFamily="34" charset="-122"/>
                <a:cs typeface="Noto Sans KR" pitchFamily="34" charset="-120"/>
              </a:rPr>
              <a:t>사람 손으로 하면 산수가 맞지 않는다</a:t>
            </a:r>
            <a:endParaRPr lang="en-US" sz="4350" dirty="0"/>
          </a:p>
        </p:txBody>
      </p:sp>
      <p:sp>
        <p:nvSpPr>
          <p:cNvPr id="4" name="Shape 2"/>
          <p:cNvSpPr/>
          <p:nvPr/>
        </p:nvSpPr>
        <p:spPr>
          <a:xfrm>
            <a:off x="1028700" y="2334369"/>
            <a:ext cx="9148763" cy="5941814"/>
          </a:xfrm>
          <a:prstGeom prst="roundRect">
            <a:avLst>
              <a:gd name="adj" fmla="val 962"/>
            </a:avLst>
          </a:prstGeom>
          <a:solidFill>
            <a:srgbClr val="FFFFFF"/>
          </a:solidFill>
          <a:ln w="9525">
            <a:solidFill>
              <a:srgbClr val="E3DED3"/>
            </a:solidFill>
            <a:prstDash val="solid"/>
          </a:ln>
        </p:spPr>
      </p:sp>
      <p:sp>
        <p:nvSpPr>
          <p:cNvPr id="5" name="Text 3"/>
          <p:cNvSpPr/>
          <p:nvPr/>
        </p:nvSpPr>
        <p:spPr>
          <a:xfrm>
            <a:off x="1323975" y="2591544"/>
            <a:ext cx="9414034"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반드시 나와야 하는 산출물 (사람 손 기준 추정)</a:t>
            </a:r>
            <a:endParaRPr lang="en-US" sz="1800" dirty="0"/>
          </a:p>
        </p:txBody>
      </p:sp>
      <p:sp>
        <p:nvSpPr>
          <p:cNvPr id="6" name="Shape 4"/>
          <p:cNvSpPr/>
          <p:nvPr/>
        </p:nvSpPr>
        <p:spPr>
          <a:xfrm>
            <a:off x="1323975" y="3515469"/>
            <a:ext cx="8558213" cy="9525"/>
          </a:xfrm>
          <a:prstGeom prst="rect">
            <a:avLst/>
          </a:prstGeom>
          <a:solidFill>
            <a:srgbClr val="DCD7CC"/>
          </a:solidFill>
          <a:ln/>
        </p:spPr>
      </p:sp>
      <p:sp>
        <p:nvSpPr>
          <p:cNvPr id="7" name="Text 5"/>
          <p:cNvSpPr/>
          <p:nvPr/>
        </p:nvSpPr>
        <p:spPr>
          <a:xfrm>
            <a:off x="1323975" y="3039219"/>
            <a:ext cx="5259869" cy="40957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24개 항목 판정 명세 (조건·예외·정보 부족 시)</a:t>
            </a:r>
            <a:endParaRPr lang="en-US" sz="1950" dirty="0"/>
          </a:p>
        </p:txBody>
      </p:sp>
      <p:sp>
        <p:nvSpPr>
          <p:cNvPr id="8" name="Text 6"/>
          <p:cNvSpPr/>
          <p:nvPr/>
        </p:nvSpPr>
        <p:spPr>
          <a:xfrm>
            <a:off x="9033421" y="3039219"/>
            <a:ext cx="924967" cy="409575"/>
          </a:xfrm>
          <a:prstGeom prst="rect">
            <a:avLst/>
          </a:prstGeom>
          <a:noFill/>
          <a:ln/>
        </p:spPr>
        <p:txBody>
          <a:bodyPr wrap="none" lIns="25400" tIns="25400" rIns="25400" bIns="25400" rtlCol="0" anchor="t">
            <a:normAutofit/>
          </a:bodyPr>
          <a:lstStyle/>
          <a:p>
            <a:pPr algn="l" indent="0" marL="0">
              <a:buNone/>
            </a:pPr>
            <a:r>
              <a:rPr lang="en-US" sz="2025" b="1" dirty="0">
                <a:solidFill>
                  <a:srgbClr val="16202E"/>
                </a:solidFill>
                <a:latin typeface="Noto Sans KR" pitchFamily="34" charset="0"/>
                <a:ea typeface="Noto Sans KR" pitchFamily="34" charset="-122"/>
                <a:cs typeface="Noto Sans KR" pitchFamily="34" charset="-120"/>
              </a:rPr>
              <a:t>약 12일</a:t>
            </a:r>
            <a:endParaRPr lang="en-US" sz="2025" dirty="0"/>
          </a:p>
        </p:txBody>
      </p:sp>
      <p:sp>
        <p:nvSpPr>
          <p:cNvPr id="9" name="Shape 7"/>
          <p:cNvSpPr/>
          <p:nvPr/>
        </p:nvSpPr>
        <p:spPr>
          <a:xfrm>
            <a:off x="1323975" y="4115544"/>
            <a:ext cx="8558213" cy="9525"/>
          </a:xfrm>
          <a:prstGeom prst="rect">
            <a:avLst/>
          </a:prstGeom>
          <a:solidFill>
            <a:srgbClr val="DCD7CC"/>
          </a:solidFill>
          <a:ln/>
        </p:spPr>
      </p:sp>
      <p:sp>
        <p:nvSpPr>
          <p:cNvPr id="10" name="Text 8"/>
          <p:cNvSpPr/>
          <p:nvPr/>
        </p:nvSpPr>
        <p:spPr>
          <a:xfrm>
            <a:off x="1323975" y="3639294"/>
            <a:ext cx="3639785" cy="40957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항목별 프롬프트 문구 작성·조율</a:t>
            </a:r>
            <a:endParaRPr lang="en-US" sz="1950" dirty="0"/>
          </a:p>
        </p:txBody>
      </p:sp>
      <p:sp>
        <p:nvSpPr>
          <p:cNvPr id="11" name="Text 9"/>
          <p:cNvSpPr/>
          <p:nvPr/>
        </p:nvSpPr>
        <p:spPr>
          <a:xfrm>
            <a:off x="9185225" y="3639294"/>
            <a:ext cx="773162" cy="409575"/>
          </a:xfrm>
          <a:prstGeom prst="rect">
            <a:avLst/>
          </a:prstGeom>
          <a:noFill/>
          <a:ln/>
        </p:spPr>
        <p:txBody>
          <a:bodyPr wrap="none" lIns="25400" tIns="25400" rIns="25400" bIns="25400" rtlCol="0" anchor="t">
            <a:normAutofit/>
          </a:bodyPr>
          <a:lstStyle/>
          <a:p>
            <a:pPr algn="l" indent="0" marL="0">
              <a:buNone/>
            </a:pPr>
            <a:r>
              <a:rPr lang="en-US" sz="2025" b="1" dirty="0">
                <a:solidFill>
                  <a:srgbClr val="16202E"/>
                </a:solidFill>
                <a:latin typeface="Noto Sans KR" pitchFamily="34" charset="0"/>
                <a:ea typeface="Noto Sans KR" pitchFamily="34" charset="-122"/>
                <a:cs typeface="Noto Sans KR" pitchFamily="34" charset="-120"/>
              </a:rPr>
              <a:t>약 3일</a:t>
            </a:r>
            <a:endParaRPr lang="en-US" sz="2025" dirty="0"/>
          </a:p>
        </p:txBody>
      </p:sp>
      <p:sp>
        <p:nvSpPr>
          <p:cNvPr id="12" name="Shape 10"/>
          <p:cNvSpPr/>
          <p:nvPr/>
        </p:nvSpPr>
        <p:spPr>
          <a:xfrm>
            <a:off x="1323975" y="4715619"/>
            <a:ext cx="8558213" cy="9525"/>
          </a:xfrm>
          <a:prstGeom prst="rect">
            <a:avLst/>
          </a:prstGeom>
          <a:solidFill>
            <a:srgbClr val="DCD7CC"/>
          </a:solidFill>
          <a:ln/>
        </p:spPr>
      </p:sp>
      <p:sp>
        <p:nvSpPr>
          <p:cNvPr id="13" name="Text 11"/>
          <p:cNvSpPr/>
          <p:nvPr/>
        </p:nvSpPr>
        <p:spPr>
          <a:xfrm>
            <a:off x="1323975" y="4239369"/>
            <a:ext cx="4391382" cy="40957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경계·함정 사례 수집 (dev 200건 정독)</a:t>
            </a:r>
            <a:endParaRPr lang="en-US" sz="1950" dirty="0"/>
          </a:p>
        </p:txBody>
      </p:sp>
      <p:sp>
        <p:nvSpPr>
          <p:cNvPr id="14" name="Text 12"/>
          <p:cNvSpPr/>
          <p:nvPr/>
        </p:nvSpPr>
        <p:spPr>
          <a:xfrm>
            <a:off x="9185225" y="4239369"/>
            <a:ext cx="773162" cy="409575"/>
          </a:xfrm>
          <a:prstGeom prst="rect">
            <a:avLst/>
          </a:prstGeom>
          <a:noFill/>
          <a:ln/>
        </p:spPr>
        <p:txBody>
          <a:bodyPr wrap="none" lIns="25400" tIns="25400" rIns="25400" bIns="25400" rtlCol="0" anchor="t">
            <a:normAutofit/>
          </a:bodyPr>
          <a:lstStyle/>
          <a:p>
            <a:pPr algn="l" indent="0" marL="0">
              <a:buNone/>
            </a:pPr>
            <a:r>
              <a:rPr lang="en-US" sz="2025" b="1" dirty="0">
                <a:solidFill>
                  <a:srgbClr val="16202E"/>
                </a:solidFill>
                <a:latin typeface="Noto Sans KR" pitchFamily="34" charset="0"/>
                <a:ea typeface="Noto Sans KR" pitchFamily="34" charset="-122"/>
                <a:cs typeface="Noto Sans KR" pitchFamily="34" charset="-120"/>
              </a:rPr>
              <a:t>약 3일</a:t>
            </a:r>
            <a:endParaRPr lang="en-US" sz="2025" dirty="0"/>
          </a:p>
        </p:txBody>
      </p:sp>
      <p:sp>
        <p:nvSpPr>
          <p:cNvPr id="15" name="Shape 13"/>
          <p:cNvSpPr/>
          <p:nvPr/>
        </p:nvSpPr>
        <p:spPr>
          <a:xfrm>
            <a:off x="1323975" y="5315694"/>
            <a:ext cx="8558213" cy="9525"/>
          </a:xfrm>
          <a:prstGeom prst="rect">
            <a:avLst/>
          </a:prstGeom>
          <a:solidFill>
            <a:srgbClr val="DCD7CC"/>
          </a:solidFill>
          <a:ln/>
        </p:spPr>
      </p:sp>
      <p:sp>
        <p:nvSpPr>
          <p:cNvPr id="16" name="Text 14"/>
          <p:cNvSpPr/>
          <p:nvPr/>
        </p:nvSpPr>
        <p:spPr>
          <a:xfrm>
            <a:off x="1323975" y="4839444"/>
            <a:ext cx="4477167" cy="40957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오답 원인 분류 (반복 작업, 매 실험마다)</a:t>
            </a:r>
            <a:endParaRPr lang="en-US" sz="1950" dirty="0"/>
          </a:p>
        </p:txBody>
      </p:sp>
      <p:sp>
        <p:nvSpPr>
          <p:cNvPr id="17" name="Text 15"/>
          <p:cNvSpPr/>
          <p:nvPr/>
        </p:nvSpPr>
        <p:spPr>
          <a:xfrm>
            <a:off x="8627120" y="4839444"/>
            <a:ext cx="1380574" cy="409575"/>
          </a:xfrm>
          <a:prstGeom prst="rect">
            <a:avLst/>
          </a:prstGeom>
          <a:noFill/>
          <a:ln/>
        </p:spPr>
        <p:txBody>
          <a:bodyPr wrap="none" lIns="25400" tIns="25400" rIns="25400" bIns="25400" rtlCol="0" anchor="t">
            <a:normAutofit/>
          </a:bodyPr>
          <a:lstStyle/>
          <a:p>
            <a:pPr algn="l" indent="0" marL="0">
              <a:buNone/>
            </a:pPr>
            <a:r>
              <a:rPr lang="en-US" sz="2025" b="1" dirty="0">
                <a:solidFill>
                  <a:srgbClr val="16202E"/>
                </a:solidFill>
                <a:latin typeface="Noto Sans KR" pitchFamily="34" charset="0"/>
                <a:ea typeface="Noto Sans KR" pitchFamily="34" charset="-122"/>
                <a:cs typeface="Noto Sans KR" pitchFamily="34" charset="-120"/>
              </a:rPr>
              <a:t>매번 반나절</a:t>
            </a:r>
            <a:endParaRPr lang="en-US" sz="2025" dirty="0"/>
          </a:p>
        </p:txBody>
      </p:sp>
      <p:sp>
        <p:nvSpPr>
          <p:cNvPr id="18" name="Text 16"/>
          <p:cNvSpPr/>
          <p:nvPr/>
        </p:nvSpPr>
        <p:spPr>
          <a:xfrm>
            <a:off x="1323975" y="5439519"/>
            <a:ext cx="4556239" cy="40957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무라벨 20,000건 라벨링 (건당 5분 가정)</a:t>
            </a:r>
            <a:endParaRPr lang="en-US" sz="1950" dirty="0"/>
          </a:p>
        </p:txBody>
      </p:sp>
      <p:sp>
        <p:nvSpPr>
          <p:cNvPr id="19" name="Text 17"/>
          <p:cNvSpPr/>
          <p:nvPr/>
        </p:nvSpPr>
        <p:spPr>
          <a:xfrm>
            <a:off x="8718203" y="5439519"/>
            <a:ext cx="1240185" cy="409575"/>
          </a:xfrm>
          <a:prstGeom prst="rect">
            <a:avLst/>
          </a:prstGeom>
          <a:noFill/>
          <a:ln/>
        </p:spPr>
        <p:txBody>
          <a:bodyPr wrap="none" lIns="25400" tIns="25400" rIns="25400" bIns="25400" rtlCol="0" anchor="t">
            <a:normAutofit/>
          </a:bodyPr>
          <a:lstStyle/>
          <a:p>
            <a:pPr algn="l" indent="0" marL="0">
              <a:buNone/>
            </a:pPr>
            <a:r>
              <a:rPr lang="en-US" sz="2025" b="1" dirty="0">
                <a:solidFill>
                  <a:srgbClr val="A4402E"/>
                </a:solidFill>
                <a:latin typeface="Noto Sans KR" pitchFamily="34" charset="0"/>
                <a:ea typeface="Noto Sans KR" pitchFamily="34" charset="-122"/>
                <a:cs typeface="Noto Sans KR" pitchFamily="34" charset="-120"/>
              </a:rPr>
              <a:t>1,667시간</a:t>
            </a:r>
            <a:endParaRPr lang="en-US" sz="2025" dirty="0"/>
          </a:p>
        </p:txBody>
      </p:sp>
      <p:sp>
        <p:nvSpPr>
          <p:cNvPr id="20" name="Shape 18"/>
          <p:cNvSpPr/>
          <p:nvPr/>
        </p:nvSpPr>
        <p:spPr>
          <a:xfrm>
            <a:off x="1323975" y="5925294"/>
            <a:ext cx="8558213" cy="9525"/>
          </a:xfrm>
          <a:prstGeom prst="rect">
            <a:avLst/>
          </a:prstGeom>
          <a:solidFill>
            <a:srgbClr val="DCD7CC"/>
          </a:solidFill>
          <a:ln/>
        </p:spPr>
      </p:sp>
      <p:sp>
        <p:nvSpPr>
          <p:cNvPr id="21" name="Text 19"/>
          <p:cNvSpPr/>
          <p:nvPr/>
        </p:nvSpPr>
        <p:spPr>
          <a:xfrm>
            <a:off x="1323975" y="6039594"/>
            <a:ext cx="8814959"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7C8492"/>
                </a:solidFill>
                <a:latin typeface="Noto Sans KR" pitchFamily="34" charset="0"/>
                <a:ea typeface="Noto Sans KR" pitchFamily="34" charset="-122"/>
                <a:cs typeface="Noto Sans KR" pitchFamily="34" charset="-120"/>
              </a:rPr>
              <a:t>추정 근거는 가정값 — 법령 문서 경험이 없으면 더 걸린다</a:t>
            </a:r>
            <a:endParaRPr lang="en-US" sz="1800" dirty="0"/>
          </a:p>
        </p:txBody>
      </p:sp>
      <p:sp>
        <p:nvSpPr>
          <p:cNvPr id="22" name="Shape 20"/>
          <p:cNvSpPr/>
          <p:nvPr/>
        </p:nvSpPr>
        <p:spPr>
          <a:xfrm>
            <a:off x="10482263" y="2334369"/>
            <a:ext cx="6777038" cy="2319933"/>
          </a:xfrm>
          <a:prstGeom prst="roundRect">
            <a:avLst>
              <a:gd name="adj" fmla="val 2463"/>
            </a:avLst>
          </a:prstGeom>
          <a:solidFill>
            <a:srgbClr val="16202E"/>
          </a:solidFill>
          <a:ln/>
        </p:spPr>
      </p:sp>
      <p:sp>
        <p:nvSpPr>
          <p:cNvPr id="23" name="Text 21"/>
          <p:cNvSpPr/>
          <p:nvPr/>
        </p:nvSpPr>
        <p:spPr>
          <a:xfrm>
            <a:off x="10768013" y="2582019"/>
            <a:ext cx="6826091"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남은 기간</a:t>
            </a:r>
            <a:endParaRPr lang="en-US" sz="1800" dirty="0"/>
          </a:p>
        </p:txBody>
      </p:sp>
      <p:sp>
        <p:nvSpPr>
          <p:cNvPr id="24" name="Text 22"/>
          <p:cNvSpPr/>
          <p:nvPr/>
        </p:nvSpPr>
        <p:spPr>
          <a:xfrm>
            <a:off x="10768013" y="3029694"/>
            <a:ext cx="6826091" cy="582811"/>
          </a:xfrm>
          <a:prstGeom prst="rect">
            <a:avLst/>
          </a:prstGeom>
          <a:noFill/>
          <a:ln/>
        </p:spPr>
        <p:txBody>
          <a:bodyPr wrap="square" lIns="25400" tIns="25400" rIns="25400" bIns="25400" rtlCol="0" anchor="t">
            <a:normAutofit/>
          </a:bodyPr>
          <a:lstStyle/>
          <a:p>
            <a:pPr algn="l" indent="0" marL="0">
              <a:lnSpc>
                <a:spcPct val="76267"/>
              </a:lnSpc>
              <a:buNone/>
            </a:pPr>
            <a:r>
              <a:rPr lang="en-US" sz="3900" b="1" dirty="0">
                <a:solidFill>
                  <a:srgbClr val="F6F4EF"/>
                </a:solidFill>
                <a:latin typeface="Noto Sans KR" pitchFamily="34" charset="0"/>
                <a:ea typeface="Noto Sans KR" pitchFamily="34" charset="-122"/>
                <a:cs typeface="Noto Sans KR" pitchFamily="34" charset="-120"/>
              </a:rPr>
              <a:t>약 2주</a:t>
            </a:r>
            <a:endParaRPr lang="en-US" sz="3900" dirty="0"/>
          </a:p>
        </p:txBody>
      </p:sp>
      <p:sp>
        <p:nvSpPr>
          <p:cNvPr id="25" name="Text 23"/>
          <p:cNvSpPr/>
          <p:nvPr/>
        </p:nvSpPr>
        <p:spPr>
          <a:xfrm>
            <a:off x="10768013" y="3688705"/>
            <a:ext cx="6391704" cy="756047"/>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C6CEDA"/>
                </a:solidFill>
                <a:latin typeface="Noto Sans KR" pitchFamily="34" charset="0"/>
                <a:ea typeface="Noto Sans KR" pitchFamily="34" charset="-122"/>
                <a:cs typeface="Noto Sans KR" pitchFamily="34" charset="-120"/>
              </a:rPr>
              <a:t>명세만으로 12일이 나간다. 두 명이 나눠도 6일이고, 그동안 다른 산출물은 아무도 만들지 못한다.</a:t>
            </a:r>
            <a:endParaRPr lang="en-US" sz="1950" dirty="0"/>
          </a:p>
        </p:txBody>
      </p:sp>
      <p:sp>
        <p:nvSpPr>
          <p:cNvPr id="26" name="Shape 24"/>
          <p:cNvSpPr/>
          <p:nvPr/>
        </p:nvSpPr>
        <p:spPr>
          <a:xfrm>
            <a:off x="10482263" y="4806702"/>
            <a:ext cx="6777038" cy="2124670"/>
          </a:xfrm>
          <a:prstGeom prst="roundRect">
            <a:avLst>
              <a:gd name="adj" fmla="val 2690"/>
            </a:avLst>
          </a:prstGeom>
          <a:solidFill>
            <a:srgbClr val="FFFFFF"/>
          </a:solidFill>
          <a:ln w="9525">
            <a:solidFill>
              <a:srgbClr val="E1B9B1"/>
            </a:solidFill>
            <a:prstDash val="solid"/>
          </a:ln>
        </p:spPr>
      </p:sp>
      <p:sp>
        <p:nvSpPr>
          <p:cNvPr id="27" name="Text 25"/>
          <p:cNvSpPr/>
          <p:nvPr/>
        </p:nvSpPr>
        <p:spPr>
          <a:xfrm>
            <a:off x="10777538" y="5044827"/>
            <a:ext cx="6805136"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A4402E"/>
                </a:solidFill>
                <a:latin typeface="Noto Sans KR" pitchFamily="34" charset="0"/>
                <a:ea typeface="Noto Sans KR" pitchFamily="34" charset="-122"/>
                <a:cs typeface="Noto Sans KR" pitchFamily="34" charset="-120"/>
              </a:rPr>
              <a:t>결정적인 한 줄</a:t>
            </a:r>
            <a:endParaRPr lang="en-US" sz="1800" dirty="0"/>
          </a:p>
        </p:txBody>
      </p:sp>
      <p:sp>
        <p:nvSpPr>
          <p:cNvPr id="28" name="Text 26"/>
          <p:cNvSpPr/>
          <p:nvPr/>
        </p:nvSpPr>
        <p:spPr>
          <a:xfrm>
            <a:off x="10777538" y="5482977"/>
            <a:ext cx="6372082" cy="784622"/>
          </a:xfrm>
          <a:prstGeom prst="rect">
            <a:avLst/>
          </a:prstGeom>
          <a:noFill/>
          <a:ln/>
        </p:spPr>
        <p:txBody>
          <a:bodyPr wrap="square" lIns="25400" tIns="25400" rIns="25400" bIns="25400" rtlCol="0" anchor="t">
            <a:normAutofit/>
          </a:bodyPr>
          <a:lstStyle/>
          <a:p>
            <a:pPr algn="l" indent="0" marL="0">
              <a:lnSpc>
                <a:spcPct val="98000"/>
              </a:lnSpc>
              <a:buNone/>
            </a:pPr>
            <a:r>
              <a:rPr lang="en-US" sz="2100" b="1" dirty="0">
                <a:solidFill>
                  <a:srgbClr val="A4402E"/>
                </a:solidFill>
                <a:latin typeface="Noto Sans KR" pitchFamily="34" charset="0"/>
                <a:ea typeface="Noto Sans KR" pitchFamily="34" charset="-122"/>
                <a:cs typeface="Noto Sans KR" pitchFamily="34" charset="-120"/>
              </a:rPr>
              <a:t>무라벨 20,000건 라벨링은 사람이 물리적으로 할 수 없다</a:t>
            </a:r>
            <a:endParaRPr lang="en-US" sz="2100" dirty="0"/>
          </a:p>
        </p:txBody>
      </p:sp>
      <p:sp>
        <p:nvSpPr>
          <p:cNvPr id="29" name="Text 27"/>
          <p:cNvSpPr/>
          <p:nvPr/>
        </p:nvSpPr>
        <p:spPr>
          <a:xfrm>
            <a:off x="10777538" y="6334274"/>
            <a:ext cx="6805136"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하려면 자동화밖에 방법이 없다 — 선택의 문제가 아니다</a:t>
            </a:r>
            <a:endParaRPr lang="en-US" sz="1950" dirty="0"/>
          </a:p>
        </p:txBody>
      </p:sp>
      <p:sp>
        <p:nvSpPr>
          <p:cNvPr id="30" name="Shape 28"/>
          <p:cNvSpPr/>
          <p:nvPr/>
        </p:nvSpPr>
        <p:spPr>
          <a:xfrm>
            <a:off x="10482263" y="7083772"/>
            <a:ext cx="6777038" cy="1192411"/>
          </a:xfrm>
          <a:prstGeom prst="roundRect">
            <a:avLst>
              <a:gd name="adj" fmla="val 4793"/>
            </a:avLst>
          </a:prstGeom>
          <a:solidFill>
            <a:srgbClr val="EDE9E0"/>
          </a:solidFill>
          <a:ln/>
        </p:spPr>
      </p:sp>
      <p:sp>
        <p:nvSpPr>
          <p:cNvPr id="31" name="Text 29"/>
          <p:cNvSpPr/>
          <p:nvPr/>
        </p:nvSpPr>
        <p:spPr>
          <a:xfrm>
            <a:off x="10748962" y="7293322"/>
            <a:ext cx="6446949" cy="811411"/>
          </a:xfrm>
          <a:prstGeom prst="rect">
            <a:avLst/>
          </a:prstGeom>
          <a:noFill/>
          <a:ln/>
        </p:spPr>
        <p:txBody>
          <a:bodyPr wrap="square" lIns="25400" tIns="25400" rIns="25400" bIns="25400" rtlCol="0" anchor="t">
            <a:normAutofit/>
          </a:bodyPr>
          <a:lstStyle/>
          <a:p>
            <a:pPr algn="l" indent="0" marL="0">
              <a:lnSpc>
                <a:spcPct val="101500"/>
              </a:lnSpc>
              <a:buNone/>
            </a:pPr>
            <a:r>
              <a:rPr lang="en-US" sz="2100" dirty="0">
                <a:solidFill>
                  <a:srgbClr val="3C4654"/>
                </a:solidFill>
                <a:highlight>
                  <a:srgbClr val="EDE9E0"/>
                </a:highlight>
                <a:latin typeface="Noto Sans KR" pitchFamily="34" charset="0"/>
                <a:ea typeface="Noto Sans KR" pitchFamily="34" charset="-122"/>
                <a:cs typeface="Noto Sans KR" pitchFamily="34" charset="-120"/>
              </a:rPr>
              <a:t>그래서 질문은 </a:t>
            </a:r>
            <a:pPr algn="l" indent="0" marL="0">
              <a:lnSpc>
                <a:spcPct val="101500"/>
              </a:lnSpc>
              <a:buNone/>
            </a:pPr>
            <a:r>
              <a:rPr lang="en-US" sz="2100" b="1" dirty="0">
                <a:solidFill>
                  <a:srgbClr val="16202E"/>
                </a:solidFill>
                <a:latin typeface="Noto Sans KR" pitchFamily="34" charset="0"/>
                <a:ea typeface="Noto Sans KR" pitchFamily="34" charset="-122"/>
                <a:cs typeface="Noto Sans KR" pitchFamily="34" charset="-120"/>
              </a:rPr>
              <a:t>"API를 쓸까 말까"가 아니라 "어디까지 자동화할까" </a:t>
            </a:r>
            <a:pPr algn="l" indent="0" marL="0">
              <a:lnSpc>
                <a:spcPct val="101500"/>
              </a:lnSpc>
              <a:buNone/>
            </a:pPr>
            <a:r>
              <a:rPr lang="en-US" sz="2100" dirty="0">
                <a:solidFill>
                  <a:srgbClr val="3C4654"/>
                </a:solidFill>
                <a:highlight>
                  <a:srgbClr val="EDE9E0"/>
                </a:highlight>
                <a:latin typeface="Noto Sans KR" pitchFamily="34" charset="0"/>
                <a:ea typeface="Noto Sans KR" pitchFamily="34" charset="-122"/>
                <a:cs typeface="Noto Sans KR" pitchFamily="34" charset="-120"/>
              </a:rPr>
              <a:t>다</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1028700" y="8001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FC3B2"/>
                </a:solidFill>
                <a:latin typeface="Noto Sans KR" pitchFamily="34" charset="0"/>
                <a:ea typeface="Noto Sans KR" pitchFamily="34" charset="-122"/>
                <a:cs typeface="Noto Sans KR" pitchFamily="34" charset="-120"/>
              </a:rPr>
              <a:t>제안하는 작업 방식</a:t>
            </a:r>
            <a:endParaRPr lang="en-US" sz="1950" dirty="0"/>
          </a:p>
        </p:txBody>
      </p:sp>
      <p:sp>
        <p:nvSpPr>
          <p:cNvPr id="3" name="Text 1"/>
          <p:cNvSpPr/>
          <p:nvPr/>
        </p:nvSpPr>
        <p:spPr>
          <a:xfrm>
            <a:off x="1028700" y="1285875"/>
            <a:ext cx="17183100" cy="710059"/>
          </a:xfrm>
          <a:prstGeom prst="rect">
            <a:avLst/>
          </a:prstGeom>
          <a:noFill/>
          <a:ln/>
        </p:spPr>
        <p:txBody>
          <a:bodyPr wrap="square" lIns="25400" tIns="25400" rIns="25400" bIns="25400" rtlCol="0" anchor="t">
            <a:normAutofit/>
          </a:bodyPr>
          <a:lstStyle/>
          <a:p>
            <a:pPr algn="l" indent="0" marL="0">
              <a:lnSpc>
                <a:spcPct val="87111"/>
              </a:lnSpc>
              <a:buNone/>
            </a:pPr>
            <a:r>
              <a:rPr lang="en-US" sz="4200" b="1" spc="-42" kern="0" dirty="0">
                <a:solidFill>
                  <a:srgbClr val="F6F4EF"/>
                </a:solidFill>
                <a:latin typeface="Noto Sans KR" pitchFamily="34" charset="0"/>
                <a:ea typeface="Noto Sans KR" pitchFamily="34" charset="-122"/>
                <a:cs typeface="Noto Sans KR" pitchFamily="34" charset="-120"/>
              </a:rPr>
              <a:t>API가 초안을 만들고, 사람은 검토한다 — 근거 다섯 가지</a:t>
            </a:r>
            <a:endParaRPr lang="en-US" sz="4200" dirty="0"/>
          </a:p>
        </p:txBody>
      </p:sp>
      <p:sp>
        <p:nvSpPr>
          <p:cNvPr id="4" name="Shape 2"/>
          <p:cNvSpPr/>
          <p:nvPr/>
        </p:nvSpPr>
        <p:spPr>
          <a:xfrm>
            <a:off x="1028700" y="2262634"/>
            <a:ext cx="5283101" cy="2464594"/>
          </a:xfrm>
          <a:prstGeom prst="roundRect">
            <a:avLst>
              <a:gd name="adj" fmla="val 2319"/>
            </a:avLst>
          </a:prstGeom>
          <a:solidFill>
            <a:srgbClr val="1E2B3B"/>
          </a:solidFill>
          <a:ln w="9525">
            <a:solidFill>
              <a:srgbClr val="33404F"/>
            </a:solidFill>
            <a:prstDash val="solid"/>
          </a:ln>
        </p:spPr>
      </p:sp>
      <p:sp>
        <p:nvSpPr>
          <p:cNvPr id="5" name="Text 3"/>
          <p:cNvSpPr/>
          <p:nvPr/>
        </p:nvSpPr>
        <p:spPr>
          <a:xfrm>
            <a:off x="1285875" y="2519809"/>
            <a:ext cx="5245626"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1 · 속도</a:t>
            </a:r>
            <a:endParaRPr lang="en-US" sz="1800" dirty="0"/>
          </a:p>
        </p:txBody>
      </p:sp>
      <p:sp>
        <p:nvSpPr>
          <p:cNvPr id="6" name="Text 4"/>
          <p:cNvSpPr/>
          <p:nvPr/>
        </p:nvSpPr>
        <p:spPr>
          <a:xfrm>
            <a:off x="1285875" y="2957959"/>
            <a:ext cx="5245626" cy="409575"/>
          </a:xfrm>
          <a:prstGeom prst="rect">
            <a:avLst/>
          </a:prstGeom>
          <a:noFill/>
          <a:ln/>
        </p:spPr>
        <p:txBody>
          <a:bodyPr wrap="square" lIns="25400" tIns="25400" rIns="25400" bIns="25400" rtlCol="0" anchor="t">
            <a:normAutofit/>
          </a:bodyPr>
          <a:lstStyle/>
          <a:p>
            <a:pPr algn="l" indent="0" marL="0">
              <a:lnSpc>
                <a:spcPct val="88636"/>
              </a:lnSpc>
              <a:buNone/>
            </a:pPr>
            <a:r>
              <a:rPr lang="en-US" sz="2250" b="1" dirty="0">
                <a:solidFill>
                  <a:srgbClr val="F6F4EF"/>
                </a:solidFill>
                <a:latin typeface="Noto Sans KR" pitchFamily="34" charset="0"/>
                <a:ea typeface="Noto Sans KR" pitchFamily="34" charset="-122"/>
                <a:cs typeface="Noto Sans KR" pitchFamily="34" charset="-120"/>
              </a:rPr>
              <a:t>검토가 작성보다 빠르다</a:t>
            </a:r>
            <a:endParaRPr lang="en-US" sz="2250" dirty="0"/>
          </a:p>
        </p:txBody>
      </p:sp>
      <p:sp>
        <p:nvSpPr>
          <p:cNvPr id="7" name="Text 5"/>
          <p:cNvSpPr/>
          <p:nvPr/>
        </p:nvSpPr>
        <p:spPr>
          <a:xfrm>
            <a:off x="1285875" y="3434209"/>
            <a:ext cx="4911813" cy="1073944"/>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백지에서 법령을 판단 절차로 바꾸는 것과, 있는 초안이 조문과 맞는지 확인하는 것은 난이도가 다르다. </a:t>
            </a:r>
            <a:pPr algn="l" indent="0" marL="0">
              <a:lnSpc>
                <a:spcPct val="100694"/>
              </a:lnSpc>
              <a:buNone/>
            </a:pPr>
            <a:r>
              <a:rPr lang="en-US" sz="1875" b="1" dirty="0">
                <a:solidFill>
                  <a:srgbClr val="6FC3B2"/>
                </a:solidFill>
                <a:latin typeface="Noto Sans KR" pitchFamily="34" charset="0"/>
                <a:ea typeface="Noto Sans KR" pitchFamily="34" charset="-122"/>
                <a:cs typeface="Noto Sans KR" pitchFamily="34" charset="-120"/>
              </a:rPr>
              <a:t>틀린 것을 찾는 일이 더 쉽다.</a:t>
            </a:r>
            <a:endParaRPr lang="en-US" sz="1875" dirty="0"/>
          </a:p>
        </p:txBody>
      </p:sp>
      <p:sp>
        <p:nvSpPr>
          <p:cNvPr id="8" name="Shape 6"/>
          <p:cNvSpPr/>
          <p:nvPr/>
        </p:nvSpPr>
        <p:spPr>
          <a:xfrm>
            <a:off x="6502301" y="2262634"/>
            <a:ext cx="5283250" cy="2464594"/>
          </a:xfrm>
          <a:prstGeom prst="roundRect">
            <a:avLst>
              <a:gd name="adj" fmla="val 2319"/>
            </a:avLst>
          </a:prstGeom>
          <a:solidFill>
            <a:srgbClr val="1E2B3B"/>
          </a:solidFill>
          <a:ln w="9525">
            <a:solidFill>
              <a:srgbClr val="2E6B5E"/>
            </a:solidFill>
            <a:prstDash val="solid"/>
          </a:ln>
        </p:spPr>
      </p:sp>
      <p:sp>
        <p:nvSpPr>
          <p:cNvPr id="9" name="Text 7"/>
          <p:cNvSpPr/>
          <p:nvPr/>
        </p:nvSpPr>
        <p:spPr>
          <a:xfrm>
            <a:off x="6759476" y="2519809"/>
            <a:ext cx="524579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2 · 진입장벽 — 우리 팀에 가장 중요</a:t>
            </a:r>
            <a:endParaRPr lang="en-US" sz="1800" dirty="0"/>
          </a:p>
        </p:txBody>
      </p:sp>
      <p:sp>
        <p:nvSpPr>
          <p:cNvPr id="10" name="Text 8"/>
          <p:cNvSpPr/>
          <p:nvPr/>
        </p:nvSpPr>
        <p:spPr>
          <a:xfrm>
            <a:off x="6759476" y="2957959"/>
            <a:ext cx="5245790" cy="409575"/>
          </a:xfrm>
          <a:prstGeom prst="rect">
            <a:avLst/>
          </a:prstGeom>
          <a:noFill/>
          <a:ln/>
        </p:spPr>
        <p:txBody>
          <a:bodyPr wrap="square" lIns="25400" tIns="25400" rIns="25400" bIns="25400" rtlCol="0" anchor="t">
            <a:normAutofit/>
          </a:bodyPr>
          <a:lstStyle/>
          <a:p>
            <a:pPr algn="l" indent="0" marL="0">
              <a:lnSpc>
                <a:spcPct val="88636"/>
              </a:lnSpc>
              <a:buNone/>
            </a:pPr>
            <a:r>
              <a:rPr lang="en-US" sz="2250" b="1" dirty="0">
                <a:solidFill>
                  <a:srgbClr val="F6F4EF"/>
                </a:solidFill>
                <a:latin typeface="Noto Sans KR" pitchFamily="34" charset="0"/>
                <a:ea typeface="Noto Sans KR" pitchFamily="34" charset="-122"/>
                <a:cs typeface="Noto Sans KR" pitchFamily="34" charset="-120"/>
              </a:rPr>
              <a:t>검토는 초보도 할 수 있다</a:t>
            </a:r>
            <a:endParaRPr lang="en-US" sz="2250" dirty="0"/>
          </a:p>
        </p:txBody>
      </p:sp>
      <p:sp>
        <p:nvSpPr>
          <p:cNvPr id="11" name="Text 9"/>
          <p:cNvSpPr/>
          <p:nvPr/>
        </p:nvSpPr>
        <p:spPr>
          <a:xfrm>
            <a:off x="6759476" y="3434209"/>
            <a:ext cx="4911967" cy="1073944"/>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법령 문서가 처음인 사람이 명세를 쓰는 건 어렵다. 그러나 </a:t>
            </a:r>
            <a:pPr algn="l" indent="0" marL="0">
              <a:lnSpc>
                <a:spcPct val="100694"/>
              </a:lnSpc>
              <a:buNone/>
            </a:pPr>
            <a:r>
              <a:rPr lang="en-US" sz="1875" b="1" dirty="0">
                <a:solidFill>
                  <a:srgbClr val="6FC3B2"/>
                </a:solidFill>
                <a:latin typeface="Noto Sans KR" pitchFamily="34" charset="0"/>
                <a:ea typeface="Noto Sans KR" pitchFamily="34" charset="-122"/>
                <a:cs typeface="Noto Sans KR" pitchFamily="34" charset="-120"/>
              </a:rPr>
              <a:t>초안과 조문을 나란히 놓고 맞는지 보는 일 </a:t>
            </a:r>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은 첫날부터 할 수 있다.</a:t>
            </a:r>
            <a:endParaRPr lang="en-US" sz="1875" dirty="0"/>
          </a:p>
        </p:txBody>
      </p:sp>
      <p:sp>
        <p:nvSpPr>
          <p:cNvPr id="12" name="Shape 10"/>
          <p:cNvSpPr/>
          <p:nvPr/>
        </p:nvSpPr>
        <p:spPr>
          <a:xfrm>
            <a:off x="11976050" y="2262634"/>
            <a:ext cx="5283250" cy="2464594"/>
          </a:xfrm>
          <a:prstGeom prst="roundRect">
            <a:avLst>
              <a:gd name="adj" fmla="val 2319"/>
            </a:avLst>
          </a:prstGeom>
          <a:solidFill>
            <a:srgbClr val="1E2B3B"/>
          </a:solidFill>
          <a:ln w="9525">
            <a:solidFill>
              <a:srgbClr val="33404F"/>
            </a:solidFill>
            <a:prstDash val="solid"/>
          </a:ln>
        </p:spPr>
      </p:sp>
      <p:sp>
        <p:nvSpPr>
          <p:cNvPr id="13" name="Text 11"/>
          <p:cNvSpPr/>
          <p:nvPr/>
        </p:nvSpPr>
        <p:spPr>
          <a:xfrm>
            <a:off x="12233225" y="2519809"/>
            <a:ext cx="524579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3 · 일관성</a:t>
            </a:r>
            <a:endParaRPr lang="en-US" sz="1800" dirty="0"/>
          </a:p>
        </p:txBody>
      </p:sp>
      <p:sp>
        <p:nvSpPr>
          <p:cNvPr id="14" name="Text 12"/>
          <p:cNvSpPr/>
          <p:nvPr/>
        </p:nvSpPr>
        <p:spPr>
          <a:xfrm>
            <a:off x="12233225" y="2957959"/>
            <a:ext cx="5245790" cy="409575"/>
          </a:xfrm>
          <a:prstGeom prst="rect">
            <a:avLst/>
          </a:prstGeom>
          <a:noFill/>
          <a:ln/>
        </p:spPr>
        <p:txBody>
          <a:bodyPr wrap="square" lIns="25400" tIns="25400" rIns="25400" bIns="25400" rtlCol="0" anchor="t">
            <a:normAutofit/>
          </a:bodyPr>
          <a:lstStyle/>
          <a:p>
            <a:pPr algn="l" indent="0" marL="0">
              <a:lnSpc>
                <a:spcPct val="88636"/>
              </a:lnSpc>
              <a:buNone/>
            </a:pPr>
            <a:r>
              <a:rPr lang="en-US" sz="2250" b="1" dirty="0">
                <a:solidFill>
                  <a:srgbClr val="F6F4EF"/>
                </a:solidFill>
                <a:latin typeface="Noto Sans KR" pitchFamily="34" charset="0"/>
                <a:ea typeface="Noto Sans KR" pitchFamily="34" charset="-122"/>
                <a:cs typeface="Noto Sans KR" pitchFamily="34" charset="-120"/>
              </a:rPr>
              <a:t>24항목의 기준이 갈리지 않는다</a:t>
            </a:r>
            <a:endParaRPr lang="en-US" sz="2250" dirty="0"/>
          </a:p>
        </p:txBody>
      </p:sp>
      <p:sp>
        <p:nvSpPr>
          <p:cNvPr id="15" name="Text 13"/>
          <p:cNvSpPr/>
          <p:nvPr/>
        </p:nvSpPr>
        <p:spPr>
          <a:xfrm>
            <a:off x="12233225" y="3434209"/>
            <a:ext cx="4911967" cy="1073944"/>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사람이 나눠 쓰면 어느 항목은 엄격하고 어느 항목은 느슨해진다. </a:t>
            </a:r>
            <a:pPr algn="l" indent="0" marL="0">
              <a:lnSpc>
                <a:spcPct val="100694"/>
              </a:lnSpc>
              <a:buNone/>
            </a:pPr>
            <a:r>
              <a:rPr lang="en-US" sz="1875" b="1" dirty="0">
                <a:solidFill>
                  <a:srgbClr val="6FC3B2"/>
                </a:solidFill>
                <a:latin typeface="Noto Sans KR" pitchFamily="34" charset="0"/>
                <a:ea typeface="Noto Sans KR" pitchFamily="34" charset="-122"/>
                <a:cs typeface="Noto Sans KR" pitchFamily="34" charset="-120"/>
              </a:rPr>
              <a:t>24항목 평균으로 채점되므로 그 편차가 곧 점수 손실이다.</a:t>
            </a:r>
            <a:endParaRPr lang="en-US" sz="1875" dirty="0"/>
          </a:p>
        </p:txBody>
      </p:sp>
      <p:sp>
        <p:nvSpPr>
          <p:cNvPr id="16" name="Shape 14"/>
          <p:cNvSpPr/>
          <p:nvPr/>
        </p:nvSpPr>
        <p:spPr>
          <a:xfrm>
            <a:off x="1028700" y="4917728"/>
            <a:ext cx="5283101" cy="2464594"/>
          </a:xfrm>
          <a:prstGeom prst="roundRect">
            <a:avLst>
              <a:gd name="adj" fmla="val 2319"/>
            </a:avLst>
          </a:prstGeom>
          <a:solidFill>
            <a:srgbClr val="1E2B3B"/>
          </a:solidFill>
          <a:ln w="9525">
            <a:solidFill>
              <a:srgbClr val="33404F"/>
            </a:solidFill>
            <a:prstDash val="solid"/>
          </a:ln>
        </p:spPr>
      </p:sp>
      <p:sp>
        <p:nvSpPr>
          <p:cNvPr id="17" name="Text 15"/>
          <p:cNvSpPr/>
          <p:nvPr/>
        </p:nvSpPr>
        <p:spPr>
          <a:xfrm>
            <a:off x="1285875" y="5174903"/>
            <a:ext cx="5245626"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4 · 반복 비용</a:t>
            </a:r>
            <a:endParaRPr lang="en-US" sz="1800" dirty="0"/>
          </a:p>
        </p:txBody>
      </p:sp>
      <p:sp>
        <p:nvSpPr>
          <p:cNvPr id="18" name="Text 16"/>
          <p:cNvSpPr/>
          <p:nvPr/>
        </p:nvSpPr>
        <p:spPr>
          <a:xfrm>
            <a:off x="1285875" y="5613053"/>
            <a:ext cx="5245626" cy="409575"/>
          </a:xfrm>
          <a:prstGeom prst="rect">
            <a:avLst/>
          </a:prstGeom>
          <a:noFill/>
          <a:ln/>
        </p:spPr>
        <p:txBody>
          <a:bodyPr wrap="square" lIns="25400" tIns="25400" rIns="25400" bIns="25400" rtlCol="0" anchor="t">
            <a:normAutofit/>
          </a:bodyPr>
          <a:lstStyle/>
          <a:p>
            <a:pPr algn="l" indent="0" marL="0">
              <a:lnSpc>
                <a:spcPct val="88636"/>
              </a:lnSpc>
              <a:buNone/>
            </a:pPr>
            <a:r>
              <a:rPr lang="en-US" sz="2250" b="1" dirty="0">
                <a:solidFill>
                  <a:srgbClr val="F6F4EF"/>
                </a:solidFill>
                <a:latin typeface="Noto Sans KR" pitchFamily="34" charset="0"/>
                <a:ea typeface="Noto Sans KR" pitchFamily="34" charset="-122"/>
                <a:cs typeface="Noto Sans KR" pitchFamily="34" charset="-120"/>
              </a:rPr>
              <a:t>한 바퀴 다시 도는 비용이 거의 0</a:t>
            </a:r>
            <a:endParaRPr lang="en-US" sz="2250" dirty="0"/>
          </a:p>
        </p:txBody>
      </p:sp>
      <p:sp>
        <p:nvSpPr>
          <p:cNvPr id="19" name="Text 17"/>
          <p:cNvSpPr/>
          <p:nvPr/>
        </p:nvSpPr>
        <p:spPr>
          <a:xfrm>
            <a:off x="1285875" y="6089303"/>
            <a:ext cx="4911813" cy="1073944"/>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명세를 고치면 프롬프트를 다시 써야 한다. 사람이면 또 하루, 자동이면 분 단위. </a:t>
            </a:r>
            <a:pPr algn="l" indent="0" marL="0">
              <a:lnSpc>
                <a:spcPct val="100694"/>
              </a:lnSpc>
              <a:buNone/>
            </a:pPr>
            <a:r>
              <a:rPr lang="en-US" sz="1875" b="1" dirty="0">
                <a:solidFill>
                  <a:srgbClr val="6FC3B2"/>
                </a:solidFill>
                <a:latin typeface="Noto Sans KR" pitchFamily="34" charset="0"/>
                <a:ea typeface="Noto Sans KR" pitchFamily="34" charset="-122"/>
                <a:cs typeface="Noto Sans KR" pitchFamily="34" charset="-120"/>
              </a:rPr>
              <a:t>2주에 몇 바퀴 도는가가 여기서 갈린다.</a:t>
            </a:r>
            <a:endParaRPr lang="en-US" sz="1875" dirty="0"/>
          </a:p>
        </p:txBody>
      </p:sp>
      <p:sp>
        <p:nvSpPr>
          <p:cNvPr id="20" name="Shape 18"/>
          <p:cNvSpPr/>
          <p:nvPr/>
        </p:nvSpPr>
        <p:spPr>
          <a:xfrm>
            <a:off x="6502301" y="4917728"/>
            <a:ext cx="5283250" cy="2464594"/>
          </a:xfrm>
          <a:prstGeom prst="roundRect">
            <a:avLst>
              <a:gd name="adj" fmla="val 2319"/>
            </a:avLst>
          </a:prstGeom>
          <a:solidFill>
            <a:srgbClr val="1E2B3B"/>
          </a:solidFill>
          <a:ln w="9525">
            <a:solidFill>
              <a:srgbClr val="33404F"/>
            </a:solidFill>
            <a:prstDash val="solid"/>
          </a:ln>
        </p:spPr>
      </p:sp>
      <p:sp>
        <p:nvSpPr>
          <p:cNvPr id="21" name="Text 19"/>
          <p:cNvSpPr/>
          <p:nvPr/>
        </p:nvSpPr>
        <p:spPr>
          <a:xfrm>
            <a:off x="6759476" y="5174903"/>
            <a:ext cx="524579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5 · 2차 평가</a:t>
            </a:r>
            <a:endParaRPr lang="en-US" sz="1800" dirty="0"/>
          </a:p>
        </p:txBody>
      </p:sp>
      <p:sp>
        <p:nvSpPr>
          <p:cNvPr id="22" name="Text 20"/>
          <p:cNvSpPr/>
          <p:nvPr/>
        </p:nvSpPr>
        <p:spPr>
          <a:xfrm>
            <a:off x="6759476" y="5613053"/>
            <a:ext cx="5245790" cy="409575"/>
          </a:xfrm>
          <a:prstGeom prst="rect">
            <a:avLst/>
          </a:prstGeom>
          <a:noFill/>
          <a:ln/>
        </p:spPr>
        <p:txBody>
          <a:bodyPr wrap="square" lIns="25400" tIns="25400" rIns="25400" bIns="25400" rtlCol="0" anchor="t">
            <a:normAutofit/>
          </a:bodyPr>
          <a:lstStyle/>
          <a:p>
            <a:pPr algn="l" indent="0" marL="0">
              <a:lnSpc>
                <a:spcPct val="88636"/>
              </a:lnSpc>
              <a:buNone/>
            </a:pPr>
            <a:r>
              <a:rPr lang="en-US" sz="2250" b="1" dirty="0">
                <a:solidFill>
                  <a:srgbClr val="F6F4EF"/>
                </a:solidFill>
                <a:latin typeface="Noto Sans KR" pitchFamily="34" charset="0"/>
                <a:ea typeface="Noto Sans KR" pitchFamily="34" charset="-122"/>
                <a:cs typeface="Noto Sans KR" pitchFamily="34" charset="-120"/>
              </a:rPr>
              <a:t>기록이 자동으로 남는다</a:t>
            </a:r>
            <a:endParaRPr lang="en-US" sz="2250" dirty="0"/>
          </a:p>
        </p:txBody>
      </p:sp>
      <p:sp>
        <p:nvSpPr>
          <p:cNvPr id="23" name="Text 21"/>
          <p:cNvSpPr/>
          <p:nvPr/>
        </p:nvSpPr>
        <p:spPr>
          <a:xfrm>
            <a:off x="6759476" y="6089303"/>
            <a:ext cx="4911967" cy="1073944"/>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재현 가능한 코드·프롬프트를 제출해야 한다. 사람 수작업은 판단 근거가 머릿속에 있지만, </a:t>
            </a:r>
            <a:pPr algn="l" indent="0" marL="0">
              <a:lnSpc>
                <a:spcPct val="100694"/>
              </a:lnSpc>
              <a:buNone/>
            </a:pPr>
            <a:r>
              <a:rPr lang="en-US" sz="1875" b="1" dirty="0">
                <a:solidFill>
                  <a:srgbClr val="6FC3B2"/>
                </a:solidFill>
                <a:latin typeface="Noto Sans KR" pitchFamily="34" charset="0"/>
                <a:ea typeface="Noto Sans KR" pitchFamily="34" charset="-122"/>
                <a:cs typeface="Noto Sans KR" pitchFamily="34" charset="-120"/>
              </a:rPr>
              <a:t>파이프라인은 그 자체가 기록이다.</a:t>
            </a:r>
            <a:endParaRPr lang="en-US" sz="1875" dirty="0"/>
          </a:p>
        </p:txBody>
      </p:sp>
      <p:sp>
        <p:nvSpPr>
          <p:cNvPr id="24" name="Shape 22"/>
          <p:cNvSpPr/>
          <p:nvPr/>
        </p:nvSpPr>
        <p:spPr>
          <a:xfrm>
            <a:off x="11976050" y="4917728"/>
            <a:ext cx="5283250" cy="2464594"/>
          </a:xfrm>
          <a:prstGeom prst="roundRect">
            <a:avLst>
              <a:gd name="adj" fmla="val 2319"/>
            </a:avLst>
          </a:prstGeom>
          <a:solidFill>
            <a:srgbClr val="2A1F1C"/>
          </a:solidFill>
          <a:ln w="9525">
            <a:solidFill>
              <a:srgbClr val="6E3A2E"/>
            </a:solidFill>
            <a:prstDash val="solid"/>
          </a:ln>
        </p:spPr>
      </p:sp>
      <p:sp>
        <p:nvSpPr>
          <p:cNvPr id="25" name="Text 23"/>
          <p:cNvSpPr/>
          <p:nvPr/>
        </p:nvSpPr>
        <p:spPr>
          <a:xfrm>
            <a:off x="12233225" y="5174903"/>
            <a:ext cx="524579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E8A08D"/>
                </a:solidFill>
                <a:latin typeface="Noto Sans KR" pitchFamily="34" charset="0"/>
                <a:ea typeface="Noto Sans KR" pitchFamily="34" charset="-122"/>
                <a:cs typeface="Noto Sans KR" pitchFamily="34" charset="-120"/>
              </a:rPr>
              <a:t>정직하게 말하는 리스크</a:t>
            </a:r>
            <a:endParaRPr lang="en-US" sz="1800" dirty="0"/>
          </a:p>
        </p:txBody>
      </p:sp>
      <p:sp>
        <p:nvSpPr>
          <p:cNvPr id="26" name="Text 24"/>
          <p:cNvSpPr/>
          <p:nvPr/>
        </p:nvSpPr>
        <p:spPr>
          <a:xfrm>
            <a:off x="12233225" y="5613053"/>
            <a:ext cx="5245790" cy="409575"/>
          </a:xfrm>
          <a:prstGeom prst="rect">
            <a:avLst/>
          </a:prstGeom>
          <a:noFill/>
          <a:ln/>
        </p:spPr>
        <p:txBody>
          <a:bodyPr wrap="square" lIns="25400" tIns="25400" rIns="25400" bIns="25400" rtlCol="0" anchor="t">
            <a:normAutofit/>
          </a:bodyPr>
          <a:lstStyle/>
          <a:p>
            <a:pPr algn="l" indent="0" marL="0">
              <a:lnSpc>
                <a:spcPct val="88636"/>
              </a:lnSpc>
              <a:buNone/>
            </a:pPr>
            <a:r>
              <a:rPr lang="en-US" sz="2250" b="1" dirty="0">
                <a:solidFill>
                  <a:srgbClr val="F6F4EF"/>
                </a:solidFill>
                <a:latin typeface="Noto Sans KR" pitchFamily="34" charset="0"/>
                <a:ea typeface="Noto Sans KR" pitchFamily="34" charset="-122"/>
                <a:cs typeface="Noto Sans KR" pitchFamily="34" charset="-120"/>
              </a:rPr>
              <a:t>검토를 형식적으로 하면 오류 증폭이다</a:t>
            </a:r>
            <a:endParaRPr lang="en-US" sz="2250" dirty="0"/>
          </a:p>
        </p:txBody>
      </p:sp>
      <p:sp>
        <p:nvSpPr>
          <p:cNvPr id="27" name="Text 25"/>
          <p:cNvSpPr/>
          <p:nvPr/>
        </p:nvSpPr>
        <p:spPr>
          <a:xfrm>
            <a:off x="12233225" y="6089303"/>
            <a:ext cx="4911967" cy="1073944"/>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D8C4BD"/>
                </a:solidFill>
                <a:latin typeface="Noto Sans KR" pitchFamily="34" charset="0"/>
                <a:ea typeface="Noto Sans KR" pitchFamily="34" charset="-122"/>
                <a:cs typeface="Noto Sans KR" pitchFamily="34" charset="-120"/>
              </a:rPr>
              <a:t>틀린 초안을 믿고 진행하면 그 오류가 라벨·프롬프트·사례로 번진다. </a:t>
            </a:r>
            <a:pPr algn="l" indent="0" marL="0">
              <a:lnSpc>
                <a:spcPct val="100694"/>
              </a:lnSpc>
              <a:buNone/>
            </a:pPr>
            <a:r>
              <a:rPr lang="en-US" sz="1875" b="1" dirty="0">
                <a:solidFill>
                  <a:srgbClr val="E8A08D"/>
                </a:solidFill>
                <a:latin typeface="Noto Sans KR" pitchFamily="34" charset="0"/>
                <a:ea typeface="Noto Sans KR" pitchFamily="34" charset="-122"/>
                <a:cs typeface="Noto Sans KR" pitchFamily="34" charset="-120"/>
              </a:rPr>
              <a:t>그래서 품질 게이트를 먼저 세운다(11장).</a:t>
            </a:r>
            <a:endParaRPr lang="en-US" sz="1875" dirty="0"/>
          </a:p>
        </p:txBody>
      </p:sp>
      <p:sp>
        <p:nvSpPr>
          <p:cNvPr id="28" name="Shape 26"/>
          <p:cNvSpPr/>
          <p:nvPr/>
        </p:nvSpPr>
        <p:spPr>
          <a:xfrm>
            <a:off x="1028700" y="7687121"/>
            <a:ext cx="16230600" cy="833438"/>
          </a:xfrm>
          <a:prstGeom prst="roundRect">
            <a:avLst>
              <a:gd name="adj" fmla="val 4571"/>
            </a:avLst>
          </a:prstGeom>
          <a:solidFill>
            <a:srgbClr val="1E2B3B"/>
          </a:solidFill>
          <a:ln/>
        </p:spPr>
      </p:sp>
      <p:sp>
        <p:nvSpPr>
          <p:cNvPr id="29" name="Shape 27"/>
          <p:cNvSpPr/>
          <p:nvPr/>
        </p:nvSpPr>
        <p:spPr>
          <a:xfrm>
            <a:off x="1028700" y="7687121"/>
            <a:ext cx="38100" cy="833438"/>
          </a:xfrm>
          <a:prstGeom prst="rect">
            <a:avLst/>
          </a:prstGeom>
          <a:solidFill>
            <a:srgbClr val="6FC3B2"/>
          </a:solidFill>
          <a:ln/>
        </p:spPr>
      </p:sp>
      <p:sp>
        <p:nvSpPr>
          <p:cNvPr id="30" name="Text 28"/>
          <p:cNvSpPr/>
          <p:nvPr/>
        </p:nvSpPr>
        <p:spPr>
          <a:xfrm>
            <a:off x="1333500" y="7896671"/>
            <a:ext cx="16146018" cy="452438"/>
          </a:xfrm>
          <a:prstGeom prst="rect">
            <a:avLst/>
          </a:prstGeom>
          <a:noFill/>
          <a:ln/>
        </p:spPr>
        <p:txBody>
          <a:bodyPr wrap="square" lIns="25400" tIns="25400" rIns="25400" bIns="25400" rtlCol="0" anchor="t">
            <a:normAutofit/>
          </a:bodyPr>
          <a:lstStyle/>
          <a:p>
            <a:pPr algn="l" indent="0" marL="0">
              <a:lnSpc>
                <a:spcPct val="98864"/>
              </a:lnSpc>
              <a:buNone/>
            </a:pPr>
            <a:r>
              <a:rPr lang="en-US" sz="2250" b="1" dirty="0">
                <a:solidFill>
                  <a:srgbClr val="F6F4EF"/>
                </a:solidFill>
                <a:highlight>
                  <a:srgbClr val="1E2B3B"/>
                </a:highlight>
                <a:latin typeface="Noto Sans KR" pitchFamily="34" charset="0"/>
                <a:ea typeface="Noto Sans KR" pitchFamily="34" charset="-122"/>
                <a:cs typeface="Noto Sans KR" pitchFamily="34" charset="-120"/>
              </a:rPr>
              <a:t>사람을 줄이자는 얘기가 아니다 — 사람의 시간을 </a:t>
            </a:r>
            <a:pPr algn="l" indent="0" marL="0">
              <a:lnSpc>
                <a:spcPct val="98864"/>
              </a:lnSpc>
              <a:buNone/>
            </a:pPr>
            <a:r>
              <a:rPr lang="en-US" sz="2250" b="1" dirty="0">
                <a:solidFill>
                  <a:srgbClr val="6FC3B2"/>
                </a:solidFill>
                <a:latin typeface="Noto Sans KR" pitchFamily="34" charset="0"/>
                <a:ea typeface="Noto Sans KR" pitchFamily="34" charset="-122"/>
                <a:cs typeface="Noto Sans KR" pitchFamily="34" charset="-120"/>
              </a:rPr>
              <a:t>타이핑</a:t>
            </a:r>
            <a:pPr algn="l" indent="0" marL="0">
              <a:lnSpc>
                <a:spcPct val="98864"/>
              </a:lnSpc>
              <a:buNone/>
            </a:pPr>
            <a:r>
              <a:rPr lang="en-US" sz="2250" b="1" dirty="0">
                <a:solidFill>
                  <a:srgbClr val="F6F4EF"/>
                </a:solidFill>
                <a:highlight>
                  <a:srgbClr val="1E2B3B"/>
                </a:highlight>
                <a:latin typeface="Noto Sans KR" pitchFamily="34" charset="0"/>
                <a:ea typeface="Noto Sans KR" pitchFamily="34" charset="-122"/>
                <a:cs typeface="Noto Sans KR" pitchFamily="34" charset="-120"/>
              </a:rPr>
              <a:t>에서 </a:t>
            </a:r>
            <a:pPr algn="l" indent="0" marL="0">
              <a:lnSpc>
                <a:spcPct val="98864"/>
              </a:lnSpc>
              <a:buNone/>
            </a:pPr>
            <a:r>
              <a:rPr lang="en-US" sz="2250" b="1" dirty="0">
                <a:solidFill>
                  <a:srgbClr val="6FC3B2"/>
                </a:solidFill>
                <a:latin typeface="Noto Sans KR" pitchFamily="34" charset="0"/>
                <a:ea typeface="Noto Sans KR" pitchFamily="34" charset="-122"/>
                <a:cs typeface="Noto Sans KR" pitchFamily="34" charset="-120"/>
              </a:rPr>
              <a:t>판단</a:t>
            </a:r>
            <a:pPr algn="l" indent="0" marL="0">
              <a:lnSpc>
                <a:spcPct val="98864"/>
              </a:lnSpc>
              <a:buNone/>
            </a:pPr>
            <a:r>
              <a:rPr lang="en-US" sz="2250" b="1" dirty="0">
                <a:solidFill>
                  <a:srgbClr val="F6F4EF"/>
                </a:solidFill>
                <a:highlight>
                  <a:srgbClr val="1E2B3B"/>
                </a:highlight>
                <a:latin typeface="Noto Sans KR" pitchFamily="34" charset="0"/>
                <a:ea typeface="Noto Sans KR" pitchFamily="34" charset="-122"/>
                <a:cs typeface="Noto Sans KR" pitchFamily="34" charset="-120"/>
              </a:rPr>
              <a:t>으로 옮기자는 얘기다</a:t>
            </a:r>
            <a:endParaRPr lang="en-US" sz="2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001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규칙 경계선 — 전원 필독</a:t>
            </a:r>
            <a:endParaRPr lang="en-US" sz="1950" dirty="0"/>
          </a:p>
        </p:txBody>
      </p:sp>
      <p:sp>
        <p:nvSpPr>
          <p:cNvPr id="3" name="Text 1"/>
          <p:cNvSpPr/>
          <p:nvPr/>
        </p:nvSpPr>
        <p:spPr>
          <a:xfrm>
            <a:off x="1028700" y="1285875"/>
            <a:ext cx="16973550" cy="710059"/>
          </a:xfrm>
          <a:prstGeom prst="rect">
            <a:avLst/>
          </a:prstGeom>
          <a:noFill/>
          <a:ln/>
        </p:spPr>
        <p:txBody>
          <a:bodyPr wrap="square" lIns="25400" tIns="25400" rIns="25400" bIns="25400" rtlCol="0" anchor="t">
            <a:normAutofit/>
          </a:bodyPr>
          <a:lstStyle/>
          <a:p>
            <a:pPr algn="l" indent="0" marL="0">
              <a:lnSpc>
                <a:spcPct val="87111"/>
              </a:lnSpc>
              <a:buNone/>
            </a:pPr>
            <a:r>
              <a:rPr lang="en-US" sz="4200" b="1" spc="-42" kern="0" dirty="0">
                <a:solidFill>
                  <a:srgbClr val="16202E"/>
                </a:solidFill>
                <a:latin typeface="Noto Sans KR" pitchFamily="34" charset="0"/>
                <a:ea typeface="Noto Sans KR" pitchFamily="34" charset="-122"/>
                <a:cs typeface="Noto Sans KR" pitchFamily="34" charset="-120"/>
              </a:rPr>
              <a:t>경계는 하나다 — 제출물 밖은 자유, 제출물 안은 금지</a:t>
            </a:r>
            <a:endParaRPr lang="en-US" sz="4200" dirty="0"/>
          </a:p>
        </p:txBody>
      </p:sp>
      <p:sp>
        <p:nvSpPr>
          <p:cNvPr id="4" name="Shape 2"/>
          <p:cNvSpPr/>
          <p:nvPr/>
        </p:nvSpPr>
        <p:spPr>
          <a:xfrm>
            <a:off x="1028700" y="2243584"/>
            <a:ext cx="8279011" cy="5427911"/>
          </a:xfrm>
          <a:prstGeom prst="roundRect">
            <a:avLst>
              <a:gd name="adj" fmla="val 1053"/>
            </a:avLst>
          </a:prstGeom>
          <a:solidFill>
            <a:srgbClr val="FFFFFF"/>
          </a:solidFill>
          <a:ln w="9525">
            <a:solidFill>
              <a:srgbClr val="CADDD2"/>
            </a:solidFill>
            <a:prstDash val="solid"/>
          </a:ln>
        </p:spPr>
      </p:sp>
      <p:sp>
        <p:nvSpPr>
          <p:cNvPr id="5" name="Text 3"/>
          <p:cNvSpPr/>
          <p:nvPr/>
        </p:nvSpPr>
        <p:spPr>
          <a:xfrm>
            <a:off x="1323975" y="2500759"/>
            <a:ext cx="8457307"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허용 — 제출물 밖, 우리 환경에서</a:t>
            </a:r>
            <a:endParaRPr lang="en-US" sz="1800" dirty="0"/>
          </a:p>
        </p:txBody>
      </p:sp>
      <p:sp>
        <p:nvSpPr>
          <p:cNvPr id="6" name="Shape 4"/>
          <p:cNvSpPr/>
          <p:nvPr/>
        </p:nvSpPr>
        <p:spPr>
          <a:xfrm>
            <a:off x="1323975" y="3402657"/>
            <a:ext cx="7688461" cy="9525"/>
          </a:xfrm>
          <a:prstGeom prst="rect">
            <a:avLst/>
          </a:prstGeom>
          <a:solidFill>
            <a:srgbClr val="DCD7CC"/>
          </a:solidFill>
          <a:ln/>
        </p:spPr>
      </p:sp>
      <p:sp>
        <p:nvSpPr>
          <p:cNvPr id="7" name="Text 5"/>
          <p:cNvSpPr/>
          <p:nvPr/>
        </p:nvSpPr>
        <p:spPr>
          <a:xfrm>
            <a:off x="1323975" y="2948434"/>
            <a:ext cx="7919115"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판정 명세 초안 생성 · 항목↔조문 매핑 교차검증</a:t>
            </a:r>
            <a:endParaRPr lang="en-US" sz="1950" dirty="0"/>
          </a:p>
        </p:txBody>
      </p:sp>
      <p:sp>
        <p:nvSpPr>
          <p:cNvPr id="8" name="Shape 6"/>
          <p:cNvSpPr/>
          <p:nvPr/>
        </p:nvSpPr>
        <p:spPr>
          <a:xfrm>
            <a:off x="1323975" y="3980706"/>
            <a:ext cx="7688461" cy="9525"/>
          </a:xfrm>
          <a:prstGeom prst="rect">
            <a:avLst/>
          </a:prstGeom>
          <a:solidFill>
            <a:srgbClr val="DCD7CC"/>
          </a:solidFill>
          <a:ln/>
        </p:spPr>
      </p:sp>
      <p:sp>
        <p:nvSpPr>
          <p:cNvPr id="9" name="Text 7"/>
          <p:cNvSpPr/>
          <p:nvPr/>
        </p:nvSpPr>
        <p:spPr>
          <a:xfrm>
            <a:off x="1323975" y="3526482"/>
            <a:ext cx="7919115"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무라벨 20,000건 자가 라벨링 </a:t>
            </a:r>
            <a:pPr algn="l" indent="0" marL="0">
              <a:lnSpc>
                <a:spcPct val="101892"/>
              </a:lnSpc>
              <a:buNone/>
            </a:pPr>
            <a:r>
              <a:rPr lang="en-US" sz="1950" b="1" dirty="0">
                <a:solidFill>
                  <a:srgbClr val="0F6B5E"/>
                </a:solidFill>
                <a:latin typeface="Noto Sans KR" pitchFamily="34" charset="0"/>
                <a:ea typeface="Noto Sans KR" pitchFamily="34" charset="-122"/>
                <a:cs typeface="Noto Sans KR" pitchFamily="34" charset="-120"/>
              </a:rPr>
              <a:t>(규칙에 명시적 허용)</a:t>
            </a:r>
            <a:endParaRPr lang="en-US" sz="1950" dirty="0"/>
          </a:p>
        </p:txBody>
      </p:sp>
      <p:sp>
        <p:nvSpPr>
          <p:cNvPr id="10" name="Shape 8"/>
          <p:cNvSpPr/>
          <p:nvPr/>
        </p:nvSpPr>
        <p:spPr>
          <a:xfrm>
            <a:off x="1323975" y="4558754"/>
            <a:ext cx="7688461" cy="9525"/>
          </a:xfrm>
          <a:prstGeom prst="rect">
            <a:avLst/>
          </a:prstGeom>
          <a:solidFill>
            <a:srgbClr val="DCD7CC"/>
          </a:solidFill>
          <a:ln/>
        </p:spPr>
      </p:sp>
      <p:sp>
        <p:nvSpPr>
          <p:cNvPr id="11" name="Text 9"/>
          <p:cNvSpPr/>
          <p:nvPr/>
        </p:nvSpPr>
        <p:spPr>
          <a:xfrm>
            <a:off x="1323975" y="4104531"/>
            <a:ext cx="7919115"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프롬프트 문구 생성·재작성 · 검색 질의 생성</a:t>
            </a:r>
            <a:endParaRPr lang="en-US" sz="1950" dirty="0"/>
          </a:p>
        </p:txBody>
      </p:sp>
      <p:sp>
        <p:nvSpPr>
          <p:cNvPr id="12" name="Shape 10"/>
          <p:cNvSpPr/>
          <p:nvPr/>
        </p:nvSpPr>
        <p:spPr>
          <a:xfrm>
            <a:off x="1323975" y="5136803"/>
            <a:ext cx="7688461" cy="9525"/>
          </a:xfrm>
          <a:prstGeom prst="rect">
            <a:avLst/>
          </a:prstGeom>
          <a:solidFill>
            <a:srgbClr val="DCD7CC"/>
          </a:solidFill>
          <a:ln/>
        </p:spPr>
      </p:sp>
      <p:sp>
        <p:nvSpPr>
          <p:cNvPr id="13" name="Text 11"/>
          <p:cNvSpPr/>
          <p:nvPr/>
        </p:nvSpPr>
        <p:spPr>
          <a:xfrm>
            <a:off x="1323975" y="4682579"/>
            <a:ext cx="7919115"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사례 발굴 · 오답 원인 분류 · 기록 정리</a:t>
            </a:r>
            <a:endParaRPr lang="en-US" sz="1950" dirty="0"/>
          </a:p>
        </p:txBody>
      </p:sp>
      <p:sp>
        <p:nvSpPr>
          <p:cNvPr id="14" name="Text 12"/>
          <p:cNvSpPr/>
          <p:nvPr/>
        </p:nvSpPr>
        <p:spPr>
          <a:xfrm>
            <a:off x="1323975" y="5260628"/>
            <a:ext cx="8457307"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모듈 코드 작성 (AI 코딩 도구)</a:t>
            </a:r>
            <a:endParaRPr lang="en-US" sz="1950" dirty="0"/>
          </a:p>
        </p:txBody>
      </p:sp>
      <p:sp>
        <p:nvSpPr>
          <p:cNvPr id="15" name="Shape 13"/>
          <p:cNvSpPr/>
          <p:nvPr/>
        </p:nvSpPr>
        <p:spPr>
          <a:xfrm>
            <a:off x="1323975" y="5733901"/>
            <a:ext cx="7688461" cy="600075"/>
          </a:xfrm>
          <a:prstGeom prst="roundRect">
            <a:avLst>
              <a:gd name="adj" fmla="val 7937"/>
            </a:avLst>
          </a:prstGeom>
          <a:solidFill>
            <a:srgbClr val="F6F9F5"/>
          </a:solidFill>
          <a:ln/>
        </p:spPr>
      </p:sp>
      <p:sp>
        <p:nvSpPr>
          <p:cNvPr id="16" name="Text 14"/>
          <p:cNvSpPr/>
          <p:nvPr/>
        </p:nvSpPr>
        <p:spPr>
          <a:xfrm>
            <a:off x="1495425" y="5867251"/>
            <a:ext cx="7576215"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0F6B5E"/>
                </a:solidFill>
                <a:latin typeface="Noto Sans KR" pitchFamily="34" charset="0"/>
                <a:ea typeface="Noto Sans KR" pitchFamily="34" charset="-122"/>
                <a:cs typeface="Noto Sans KR" pitchFamily="34" charset="-120"/>
              </a:rPr>
              <a:t>결과물은 파일로 제출물에 굽는다 — 파일로 들어가는 것은 호출이 아니다</a:t>
            </a:r>
            <a:endParaRPr lang="en-US" sz="1875" dirty="0"/>
          </a:p>
        </p:txBody>
      </p:sp>
      <p:sp>
        <p:nvSpPr>
          <p:cNvPr id="17" name="Shape 15"/>
          <p:cNvSpPr/>
          <p:nvPr/>
        </p:nvSpPr>
        <p:spPr>
          <a:xfrm>
            <a:off x="9593461" y="2243584"/>
            <a:ext cx="7665839" cy="2069753"/>
          </a:xfrm>
          <a:prstGeom prst="roundRect">
            <a:avLst>
              <a:gd name="adj" fmla="val 2761"/>
            </a:avLst>
          </a:prstGeom>
          <a:solidFill>
            <a:srgbClr val="FFFFFF"/>
          </a:solidFill>
          <a:ln w="9525">
            <a:solidFill>
              <a:srgbClr val="E1B9B1"/>
            </a:solidFill>
            <a:prstDash val="solid"/>
          </a:ln>
        </p:spPr>
      </p:sp>
      <p:sp>
        <p:nvSpPr>
          <p:cNvPr id="18" name="Text 16"/>
          <p:cNvSpPr/>
          <p:nvPr/>
        </p:nvSpPr>
        <p:spPr>
          <a:xfrm>
            <a:off x="9888736" y="2481709"/>
            <a:ext cx="778281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A4402E"/>
                </a:solidFill>
                <a:latin typeface="Noto Sans KR" pitchFamily="34" charset="0"/>
                <a:ea typeface="Noto Sans KR" pitchFamily="34" charset="-122"/>
                <a:cs typeface="Noto Sans KR" pitchFamily="34" charset="-120"/>
              </a:rPr>
              <a:t>금지 — 이러면 무효</a:t>
            </a:r>
            <a:endParaRPr lang="en-US" sz="1800" dirty="0"/>
          </a:p>
        </p:txBody>
      </p:sp>
      <p:sp>
        <p:nvSpPr>
          <p:cNvPr id="19" name="Text 17"/>
          <p:cNvSpPr/>
          <p:nvPr/>
        </p:nvSpPr>
        <p:spPr>
          <a:xfrm>
            <a:off x="9888736" y="2919859"/>
            <a:ext cx="7782818" cy="398115"/>
          </a:xfrm>
          <a:prstGeom prst="rect">
            <a:avLst/>
          </a:prstGeom>
          <a:noFill/>
          <a:ln/>
        </p:spPr>
        <p:txBody>
          <a:bodyPr wrap="square" lIns="25400" tIns="25400" rIns="25400" bIns="25400" rtlCol="0" anchor="t">
            <a:normAutofit/>
          </a:bodyPr>
          <a:lstStyle/>
          <a:p>
            <a:pPr algn="l" indent="0" marL="0">
              <a:lnSpc>
                <a:spcPct val="94500"/>
              </a:lnSpc>
              <a:buNone/>
            </a:pPr>
            <a:r>
              <a:rPr lang="en-US" sz="2100" b="1" dirty="0">
                <a:solidFill>
                  <a:srgbClr val="A4402E"/>
                </a:solidFill>
                <a:latin typeface="Noto Sans KR" pitchFamily="34" charset="0"/>
                <a:ea typeface="Noto Sans KR" pitchFamily="34" charset="-122"/>
                <a:cs typeface="Noto Sans KR" pitchFamily="34" charset="-120"/>
              </a:rPr>
              <a:t>script.py가 실행 중 외부 API를 호출하는 것</a:t>
            </a:r>
            <a:endParaRPr lang="en-US" sz="2100" dirty="0"/>
          </a:p>
        </p:txBody>
      </p:sp>
      <p:sp>
        <p:nvSpPr>
          <p:cNvPr id="20" name="Text 18"/>
          <p:cNvSpPr/>
          <p:nvPr/>
        </p:nvSpPr>
        <p:spPr>
          <a:xfrm>
            <a:off x="9888736" y="3384649"/>
            <a:ext cx="7287548" cy="728663"/>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3C4654"/>
                </a:solidFill>
                <a:latin typeface="Noto Sans KR" pitchFamily="34" charset="0"/>
                <a:ea typeface="Noto Sans KR" pitchFamily="34" charset="-122"/>
                <a:cs typeface="Noto Sans KR" pitchFamily="34" charset="-120"/>
              </a:rPr>
              <a:t>평가 서버는 인터넷이 차단되어 실패한다 · 판정은 서버에 준비된 고정 모델로만</a:t>
            </a:r>
            <a:endParaRPr lang="en-US" sz="1875" dirty="0"/>
          </a:p>
        </p:txBody>
      </p:sp>
      <p:sp>
        <p:nvSpPr>
          <p:cNvPr id="21" name="Shape 19"/>
          <p:cNvSpPr/>
          <p:nvPr/>
        </p:nvSpPr>
        <p:spPr>
          <a:xfrm>
            <a:off x="9593461" y="4427637"/>
            <a:ext cx="7665839" cy="2057995"/>
          </a:xfrm>
          <a:prstGeom prst="roundRect">
            <a:avLst>
              <a:gd name="adj" fmla="val 2777"/>
            </a:avLst>
          </a:prstGeom>
          <a:solidFill>
            <a:srgbClr val="16202E"/>
          </a:solidFill>
          <a:ln/>
        </p:spPr>
      </p:sp>
      <p:sp>
        <p:nvSpPr>
          <p:cNvPr id="22" name="Text 20"/>
          <p:cNvSpPr/>
          <p:nvPr/>
        </p:nvSpPr>
        <p:spPr>
          <a:xfrm>
            <a:off x="9879211" y="4656237"/>
            <a:ext cx="7803773"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API를 쓸 때 붙는 두 조건</a:t>
            </a:r>
            <a:endParaRPr lang="en-US" sz="1800" dirty="0"/>
          </a:p>
        </p:txBody>
      </p:sp>
      <p:sp>
        <p:nvSpPr>
          <p:cNvPr id="23" name="Text 21"/>
          <p:cNvSpPr/>
          <p:nvPr/>
        </p:nvSpPr>
        <p:spPr>
          <a:xfrm>
            <a:off x="9879211" y="5084862"/>
            <a:ext cx="7307169" cy="756047"/>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F6F4EF"/>
                </a:solidFill>
                <a:latin typeface="Noto Sans KR" pitchFamily="34" charset="0"/>
                <a:ea typeface="Noto Sans KR" pitchFamily="34" charset="-122"/>
                <a:cs typeface="Noto Sans KR" pitchFamily="34" charset="-120"/>
              </a:rPr>
              <a:t>① 입력은 </a:t>
            </a:r>
            <a:pPr algn="l" indent="0" marL="0">
              <a:lnSpc>
                <a:spcPct val="101892"/>
              </a:lnSpc>
              <a:buNone/>
            </a:pPr>
            <a:r>
              <a:rPr lang="en-US" sz="1950" b="1" dirty="0">
                <a:solidFill>
                  <a:srgbClr val="6FC3B2"/>
                </a:solidFill>
                <a:latin typeface="Noto Sans KR" pitchFamily="34" charset="0"/>
                <a:ea typeface="Noto Sans KR" pitchFamily="34" charset="-122"/>
                <a:cs typeface="Noto Sans KR" pitchFamily="34" charset="-120"/>
              </a:rPr>
              <a:t>대회 제공 자료로만 한정 </a:t>
            </a:r>
            <a:pPr algn="l" indent="0" marL="0">
              <a:lnSpc>
                <a:spcPct val="101892"/>
              </a:lnSpc>
              <a:buNone/>
            </a:pPr>
            <a:r>
              <a:rPr lang="en-US" sz="1950" dirty="0">
                <a:solidFill>
                  <a:srgbClr val="F6F4EF"/>
                </a:solidFill>
                <a:latin typeface="Noto Sans KR" pitchFamily="34" charset="0"/>
                <a:ea typeface="Noto Sans KR" pitchFamily="34" charset="-122"/>
                <a:cs typeface="Noto Sans KR" pitchFamily="34" charset="-120"/>
              </a:rPr>
              <a:t>— 인터넷에서 찾은 법령 해설을 넣지 않는다</a:t>
            </a:r>
            <a:endParaRPr lang="en-US" sz="1950" dirty="0"/>
          </a:p>
        </p:txBody>
      </p:sp>
      <p:sp>
        <p:nvSpPr>
          <p:cNvPr id="24" name="Text 22"/>
          <p:cNvSpPr/>
          <p:nvPr/>
        </p:nvSpPr>
        <p:spPr>
          <a:xfrm>
            <a:off x="9879211" y="5898059"/>
            <a:ext cx="7803773"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F6F4EF"/>
                </a:solidFill>
                <a:latin typeface="Noto Sans KR" pitchFamily="34" charset="0"/>
                <a:ea typeface="Noto Sans KR" pitchFamily="34" charset="-122"/>
                <a:cs typeface="Noto Sans KR" pitchFamily="34" charset="-120"/>
              </a:rPr>
              <a:t>② 웹 검색·외부 문서 결합 기능은 </a:t>
            </a:r>
            <a:pPr algn="l" indent="0" marL="0">
              <a:lnSpc>
                <a:spcPct val="101892"/>
              </a:lnSpc>
              <a:buNone/>
            </a:pPr>
            <a:r>
              <a:rPr lang="en-US" sz="1950" b="1" dirty="0">
                <a:solidFill>
                  <a:srgbClr val="6FC3B2"/>
                </a:solidFill>
                <a:latin typeface="Noto Sans KR" pitchFamily="34" charset="0"/>
                <a:ea typeface="Noto Sans KR" pitchFamily="34" charset="-122"/>
                <a:cs typeface="Noto Sans KR" pitchFamily="34" charset="-120"/>
              </a:rPr>
              <a:t>라벨 단계에서도 금지</a:t>
            </a:r>
            <a:endParaRPr lang="en-US" sz="1950" dirty="0"/>
          </a:p>
        </p:txBody>
      </p:sp>
      <p:sp>
        <p:nvSpPr>
          <p:cNvPr id="25" name="Shape 23"/>
          <p:cNvSpPr/>
          <p:nvPr/>
        </p:nvSpPr>
        <p:spPr>
          <a:xfrm>
            <a:off x="9593461" y="6599932"/>
            <a:ext cx="7665839" cy="1071563"/>
          </a:xfrm>
          <a:prstGeom prst="roundRect">
            <a:avLst>
              <a:gd name="adj" fmla="val 5333"/>
            </a:avLst>
          </a:prstGeom>
          <a:solidFill>
            <a:srgbClr val="EDE9E0"/>
          </a:solidFill>
          <a:ln/>
        </p:spPr>
      </p:sp>
      <p:sp>
        <p:nvSpPr>
          <p:cNvPr id="26" name="Text 24"/>
          <p:cNvSpPr/>
          <p:nvPr/>
        </p:nvSpPr>
        <p:spPr>
          <a:xfrm>
            <a:off x="9860161" y="6790432"/>
            <a:ext cx="7362414" cy="728662"/>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3C4654"/>
                </a:solidFill>
                <a:highlight>
                  <a:srgbClr val="EDE9E0"/>
                </a:highlight>
                <a:latin typeface="Noto Sans KR" pitchFamily="34" charset="0"/>
                <a:ea typeface="Noto Sans KR" pitchFamily="34" charset="-122"/>
                <a:cs typeface="Noto Sans KR" pitchFamily="34" charset="-120"/>
              </a:rPr>
              <a:t>2차 평가에 </a:t>
            </a:r>
            <a:pPr algn="l" indent="0" marL="0">
              <a:lnSpc>
                <a:spcPct val="100694"/>
              </a:lnSpc>
              <a:buNone/>
            </a:pPr>
            <a:r>
              <a:rPr lang="en-US" sz="1875" b="1" dirty="0">
                <a:solidFill>
                  <a:srgbClr val="16202E"/>
                </a:solidFill>
                <a:latin typeface="Noto Sans KR" pitchFamily="34" charset="0"/>
                <a:ea typeface="Noto Sans KR" pitchFamily="34" charset="-122"/>
                <a:cs typeface="Noto Sans KR" pitchFamily="34" charset="-120"/>
              </a:rPr>
              <a:t>라벨 생성에 쓴 프롬프트까지 제출 </a:t>
            </a:r>
            <a:pPr algn="l" indent="0" marL="0">
              <a:lnSpc>
                <a:spcPct val="100694"/>
              </a:lnSpc>
              <a:buNone/>
            </a:pPr>
            <a:r>
              <a:rPr lang="en-US" sz="1875" dirty="0">
                <a:solidFill>
                  <a:srgbClr val="3C4654"/>
                </a:solidFill>
                <a:highlight>
                  <a:srgbClr val="EDE9E0"/>
                </a:highlight>
                <a:latin typeface="Noto Sans KR" pitchFamily="34" charset="0"/>
                <a:ea typeface="Noto Sans KR" pitchFamily="34" charset="-122"/>
                <a:cs typeface="Noto Sans KR" pitchFamily="34" charset="-120"/>
              </a:rPr>
              <a:t>해야 한다 → 파이프라인으로 만들면 그 기록이 자동으로 남는다</a:t>
            </a:r>
            <a:endParaRPr lang="en-US" sz="1875" dirty="0"/>
          </a:p>
        </p:txBody>
      </p:sp>
      <p:sp>
        <p:nvSpPr>
          <p:cNvPr id="27" name="Text 25"/>
          <p:cNvSpPr/>
          <p:nvPr/>
        </p:nvSpPr>
        <p:spPr>
          <a:xfrm>
            <a:off x="1028700" y="7957245"/>
            <a:ext cx="17853660"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7C8492"/>
                </a:solidFill>
                <a:latin typeface="Noto Sans KR" pitchFamily="34" charset="0"/>
                <a:ea typeface="Noto Sans KR" pitchFamily="34" charset="-122"/>
                <a:cs typeface="Noto Sans KR" pitchFamily="34" charset="-120"/>
              </a:rPr>
              <a:t>해석이 갈리는 활용 방식은 추측하지 않고 토크 게시판으로 질의 · 다른 참가자의 추측을 규칙처럼 쓰지 않는다 (출처: 규칙 탭·평가 탭, 확인일 2026.09.15)</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001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산출물 공장 — 전체 그림</a:t>
            </a:r>
            <a:endParaRPr lang="en-US" sz="1950" dirty="0"/>
          </a:p>
        </p:txBody>
      </p:sp>
      <p:sp>
        <p:nvSpPr>
          <p:cNvPr id="3" name="Text 1"/>
          <p:cNvSpPr/>
          <p:nvPr/>
        </p:nvSpPr>
        <p:spPr>
          <a:xfrm>
            <a:off x="1028700" y="1285875"/>
            <a:ext cx="16973550" cy="710059"/>
          </a:xfrm>
          <a:prstGeom prst="rect">
            <a:avLst/>
          </a:prstGeom>
          <a:noFill/>
          <a:ln/>
        </p:spPr>
        <p:txBody>
          <a:bodyPr wrap="square" lIns="25400" tIns="25400" rIns="25400" bIns="25400" rtlCol="0" anchor="t">
            <a:normAutofit/>
          </a:bodyPr>
          <a:lstStyle/>
          <a:p>
            <a:pPr algn="l" indent="0" marL="0">
              <a:lnSpc>
                <a:spcPct val="87111"/>
              </a:lnSpc>
              <a:buNone/>
            </a:pPr>
            <a:r>
              <a:rPr lang="en-US" sz="4200" b="1" spc="-42" kern="0" dirty="0">
                <a:solidFill>
                  <a:srgbClr val="16202E"/>
                </a:solidFill>
                <a:latin typeface="Noto Sans KR" pitchFamily="34" charset="0"/>
                <a:ea typeface="Noto Sans KR" pitchFamily="34" charset="-122"/>
                <a:cs typeface="Noto Sans KR" pitchFamily="34" charset="-120"/>
              </a:rPr>
              <a:t>공장은 제출물 밖에 있고, 제출물에는 결과물만 굽는다</a:t>
            </a:r>
            <a:endParaRPr lang="en-US" sz="4200" dirty="0"/>
          </a:p>
        </p:txBody>
      </p:sp>
      <p:sp>
        <p:nvSpPr>
          <p:cNvPr id="4" name="Shape 2"/>
          <p:cNvSpPr/>
          <p:nvPr/>
        </p:nvSpPr>
        <p:spPr>
          <a:xfrm>
            <a:off x="1028700" y="2262634"/>
            <a:ext cx="3636466" cy="4091880"/>
          </a:xfrm>
          <a:prstGeom prst="roundRect">
            <a:avLst>
              <a:gd name="adj" fmla="val 1572"/>
            </a:avLst>
          </a:prstGeom>
          <a:solidFill>
            <a:srgbClr val="FFFFFF"/>
          </a:solidFill>
          <a:ln w="9525">
            <a:solidFill>
              <a:srgbClr val="E3DED3"/>
            </a:solidFill>
            <a:prstDash val="solid"/>
          </a:ln>
        </p:spPr>
      </p:sp>
      <p:sp>
        <p:nvSpPr>
          <p:cNvPr id="5" name="Text 3"/>
          <p:cNvSpPr/>
          <p:nvPr/>
        </p:nvSpPr>
        <p:spPr>
          <a:xfrm>
            <a:off x="1285875" y="2500759"/>
            <a:ext cx="343432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투입 — 대회 제공 자료</a:t>
            </a:r>
            <a:endParaRPr lang="en-US" sz="1800" dirty="0"/>
          </a:p>
        </p:txBody>
      </p:sp>
      <p:sp>
        <p:nvSpPr>
          <p:cNvPr id="6" name="Text 4"/>
          <p:cNvSpPr/>
          <p:nvPr/>
        </p:nvSpPr>
        <p:spPr>
          <a:xfrm>
            <a:off x="1285875" y="2938909"/>
            <a:ext cx="3434328" cy="409575"/>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항목표 24개 정의·조문</a:t>
            </a:r>
            <a:endParaRPr lang="en-US" sz="1950" dirty="0"/>
          </a:p>
        </p:txBody>
      </p:sp>
      <p:sp>
        <p:nvSpPr>
          <p:cNvPr id="7" name="Text 5"/>
          <p:cNvSpPr/>
          <p:nvPr/>
        </p:nvSpPr>
        <p:spPr>
          <a:xfrm>
            <a:off x="1285875" y="3415159"/>
            <a:ext cx="3434328" cy="409575"/>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법령 패키지 전문 23건 + 고시</a:t>
            </a:r>
            <a:endParaRPr lang="en-US" sz="1950" dirty="0"/>
          </a:p>
        </p:txBody>
      </p:sp>
      <p:sp>
        <p:nvSpPr>
          <p:cNvPr id="8" name="Text 6"/>
          <p:cNvSpPr/>
          <p:nvPr/>
        </p:nvSpPr>
        <p:spPr>
          <a:xfrm>
            <a:off x="1285875" y="3891409"/>
            <a:ext cx="3434328" cy="409575"/>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dev 200건 (정답 포함)</a:t>
            </a:r>
            <a:endParaRPr lang="en-US" sz="1950" dirty="0"/>
          </a:p>
        </p:txBody>
      </p:sp>
      <p:sp>
        <p:nvSpPr>
          <p:cNvPr id="9" name="Text 7"/>
          <p:cNvSpPr/>
          <p:nvPr/>
        </p:nvSpPr>
        <p:spPr>
          <a:xfrm>
            <a:off x="1285875" y="4367659"/>
            <a:ext cx="3434328" cy="409575"/>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무라벨 20,000건</a:t>
            </a:r>
            <a:endParaRPr lang="en-US" sz="1950" dirty="0"/>
          </a:p>
        </p:txBody>
      </p:sp>
      <p:sp>
        <p:nvSpPr>
          <p:cNvPr id="10" name="Shape 8"/>
          <p:cNvSpPr/>
          <p:nvPr/>
        </p:nvSpPr>
        <p:spPr>
          <a:xfrm>
            <a:off x="1285875" y="4843909"/>
            <a:ext cx="3122116" cy="9525"/>
          </a:xfrm>
          <a:prstGeom prst="rect">
            <a:avLst/>
          </a:prstGeom>
          <a:solidFill>
            <a:srgbClr val="DCD7CC"/>
          </a:solidFill>
          <a:ln/>
        </p:spPr>
      </p:sp>
      <p:sp>
        <p:nvSpPr>
          <p:cNvPr id="11" name="Text 9"/>
          <p:cNvSpPr/>
          <p:nvPr/>
        </p:nvSpPr>
        <p:spPr>
          <a:xfrm>
            <a:off x="1285875" y="4948684"/>
            <a:ext cx="3215780"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A4402E"/>
                </a:solidFill>
                <a:latin typeface="Noto Sans KR" pitchFamily="34" charset="0"/>
                <a:ea typeface="Noto Sans KR" pitchFamily="34" charset="-122"/>
                <a:cs typeface="Noto Sans KR" pitchFamily="34" charset="-120"/>
              </a:rPr>
              <a:t>이 밖의 자료는 넣지 않는다</a:t>
            </a:r>
            <a:endParaRPr lang="en-US" sz="1800" dirty="0"/>
          </a:p>
        </p:txBody>
      </p:sp>
      <p:sp>
        <p:nvSpPr>
          <p:cNvPr id="12" name="Text 10"/>
          <p:cNvSpPr/>
          <p:nvPr/>
        </p:nvSpPr>
        <p:spPr>
          <a:xfrm>
            <a:off x="4627066" y="2262634"/>
            <a:ext cx="514350" cy="4129980"/>
          </a:xfrm>
          <a:prstGeom prst="rect">
            <a:avLst/>
          </a:prstGeom>
          <a:noFill/>
          <a:ln/>
        </p:spPr>
        <p:txBody>
          <a:bodyPr wrap="square" lIns="25400" tIns="25400" rIns="25400" bIns="25400" rtlCol="0" anchor="ctr">
            <a:normAutofit/>
          </a:bodyPr>
          <a:lstStyle/>
          <a:p>
            <a:pPr algn="ctr" indent="0" marL="0">
              <a:buNone/>
            </a:pPr>
            <a:r>
              <a:rPr lang="en-US" sz="2700" dirty="0">
                <a:solidFill>
                  <a:srgbClr val="B4AC9C"/>
                </a:solidFill>
                <a:latin typeface="Noto Sans KR" pitchFamily="34" charset="0"/>
                <a:ea typeface="Noto Sans KR" pitchFamily="34" charset="-122"/>
                <a:cs typeface="Noto Sans KR" pitchFamily="34" charset="-120"/>
              </a:rPr>
              <a:t>→</a:t>
            </a:r>
            <a:endParaRPr lang="en-US" sz="2700" dirty="0"/>
          </a:p>
        </p:txBody>
      </p:sp>
      <p:sp>
        <p:nvSpPr>
          <p:cNvPr id="13" name="Shape 11"/>
          <p:cNvSpPr/>
          <p:nvPr/>
        </p:nvSpPr>
        <p:spPr>
          <a:xfrm>
            <a:off x="5103316" y="2262634"/>
            <a:ext cx="7576096" cy="4091880"/>
          </a:xfrm>
          <a:prstGeom prst="roundRect">
            <a:avLst>
              <a:gd name="adj" fmla="val 1397"/>
            </a:avLst>
          </a:prstGeom>
          <a:solidFill>
            <a:srgbClr val="16202E"/>
          </a:solidFill>
          <a:ln/>
        </p:spPr>
      </p:sp>
      <p:sp>
        <p:nvSpPr>
          <p:cNvPr id="14" name="Text 12"/>
          <p:cNvSpPr/>
          <p:nvPr/>
        </p:nvSpPr>
        <p:spPr>
          <a:xfrm>
            <a:off x="5350966" y="2491234"/>
            <a:ext cx="301375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공장 — 제출물 밖 · 8개 라인</a:t>
            </a:r>
            <a:endParaRPr lang="en-US" sz="1800" dirty="0"/>
          </a:p>
        </p:txBody>
      </p:sp>
      <p:sp>
        <p:nvSpPr>
          <p:cNvPr id="15" name="Text 13"/>
          <p:cNvSpPr/>
          <p:nvPr/>
        </p:nvSpPr>
        <p:spPr>
          <a:xfrm>
            <a:off x="10334476" y="2491234"/>
            <a:ext cx="2307015" cy="371475"/>
          </a:xfrm>
          <a:prstGeom prst="rect">
            <a:avLst/>
          </a:prstGeom>
          <a:noFill/>
          <a:ln/>
        </p:spPr>
        <p:txBody>
          <a:bodyPr wrap="square" lIns="25400" tIns="25400" rIns="25400" bIns="25400" rtlCol="0" anchor="t">
            <a:normAutofit/>
          </a:bodyPr>
          <a:lstStyle/>
          <a:p>
            <a:pPr algn="l" indent="0" marL="0">
              <a:buNone/>
            </a:pPr>
            <a:r>
              <a:rPr lang="en-US" sz="1800" dirty="0">
                <a:solidFill>
                  <a:srgbClr val="8A97A6"/>
                </a:solidFill>
                <a:latin typeface="Noto Sans KR" pitchFamily="34" charset="0"/>
                <a:ea typeface="Noto Sans KR" pitchFamily="34" charset="-122"/>
                <a:cs typeface="Noto Sans KR" pitchFamily="34" charset="-120"/>
              </a:rPr>
              <a:t>API 초안 → 사람 검토</a:t>
            </a:r>
            <a:endParaRPr lang="en-US" sz="1800" dirty="0"/>
          </a:p>
        </p:txBody>
      </p:sp>
      <p:sp>
        <p:nvSpPr>
          <p:cNvPr id="16" name="Shape 14"/>
          <p:cNvSpPr/>
          <p:nvPr/>
        </p:nvSpPr>
        <p:spPr>
          <a:xfrm>
            <a:off x="5350966" y="2938909"/>
            <a:ext cx="3492698" cy="590550"/>
          </a:xfrm>
          <a:prstGeom prst="roundRect">
            <a:avLst>
              <a:gd name="adj" fmla="val 8065"/>
            </a:avLst>
          </a:prstGeom>
          <a:solidFill>
            <a:srgbClr val="1E2B3B"/>
          </a:solidFill>
          <a:ln/>
        </p:spPr>
      </p:sp>
      <p:sp>
        <p:nvSpPr>
          <p:cNvPr id="17" name="Text 15"/>
          <p:cNvSpPr/>
          <p:nvPr/>
        </p:nvSpPr>
        <p:spPr>
          <a:xfrm>
            <a:off x="5503366" y="3062734"/>
            <a:ext cx="3292679"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F6F4EF"/>
                </a:solidFill>
                <a:latin typeface="Noto Sans KR" pitchFamily="34" charset="0"/>
                <a:ea typeface="Noto Sans KR" pitchFamily="34" charset="-122"/>
                <a:cs typeface="Noto Sans KR" pitchFamily="34" charset="-120"/>
              </a:rPr>
              <a:t>① 판정 명세 생성</a:t>
            </a:r>
            <a:endParaRPr lang="en-US" sz="1875" dirty="0"/>
          </a:p>
        </p:txBody>
      </p:sp>
      <p:sp>
        <p:nvSpPr>
          <p:cNvPr id="18" name="Shape 16"/>
          <p:cNvSpPr/>
          <p:nvPr/>
        </p:nvSpPr>
        <p:spPr>
          <a:xfrm>
            <a:off x="8938915" y="2938909"/>
            <a:ext cx="3492847" cy="590550"/>
          </a:xfrm>
          <a:prstGeom prst="roundRect">
            <a:avLst>
              <a:gd name="adj" fmla="val 8065"/>
            </a:avLst>
          </a:prstGeom>
          <a:solidFill>
            <a:srgbClr val="1E2B3B"/>
          </a:solidFill>
          <a:ln/>
        </p:spPr>
      </p:sp>
      <p:sp>
        <p:nvSpPr>
          <p:cNvPr id="19" name="Text 17"/>
          <p:cNvSpPr/>
          <p:nvPr/>
        </p:nvSpPr>
        <p:spPr>
          <a:xfrm>
            <a:off x="9091315" y="3062734"/>
            <a:ext cx="3292833"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F6F4EF"/>
                </a:solidFill>
                <a:latin typeface="Noto Sans KR" pitchFamily="34" charset="0"/>
                <a:ea typeface="Noto Sans KR" pitchFamily="34" charset="-122"/>
                <a:cs typeface="Noto Sans KR" pitchFamily="34" charset="-120"/>
              </a:rPr>
              <a:t>② 항목↔조문 교차검증</a:t>
            </a:r>
            <a:endParaRPr lang="en-US" sz="1875" dirty="0"/>
          </a:p>
        </p:txBody>
      </p:sp>
      <p:sp>
        <p:nvSpPr>
          <p:cNvPr id="20" name="Shape 18"/>
          <p:cNvSpPr/>
          <p:nvPr/>
        </p:nvSpPr>
        <p:spPr>
          <a:xfrm>
            <a:off x="5350966" y="3624709"/>
            <a:ext cx="3492698" cy="590550"/>
          </a:xfrm>
          <a:prstGeom prst="roundRect">
            <a:avLst>
              <a:gd name="adj" fmla="val 8065"/>
            </a:avLst>
          </a:prstGeom>
          <a:solidFill>
            <a:srgbClr val="1E2B3B"/>
          </a:solidFill>
          <a:ln/>
        </p:spPr>
      </p:sp>
      <p:sp>
        <p:nvSpPr>
          <p:cNvPr id="21" name="Text 19"/>
          <p:cNvSpPr/>
          <p:nvPr/>
        </p:nvSpPr>
        <p:spPr>
          <a:xfrm>
            <a:off x="5503366" y="3748534"/>
            <a:ext cx="3292679"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F6F4EF"/>
                </a:solidFill>
                <a:latin typeface="Noto Sans KR" pitchFamily="34" charset="0"/>
                <a:ea typeface="Noto Sans KR" pitchFamily="34" charset="-122"/>
                <a:cs typeface="Noto Sans KR" pitchFamily="34" charset="-120"/>
              </a:rPr>
              <a:t>③ 자가 라벨링 20,000건</a:t>
            </a:r>
            <a:endParaRPr lang="en-US" sz="1875" dirty="0"/>
          </a:p>
        </p:txBody>
      </p:sp>
      <p:sp>
        <p:nvSpPr>
          <p:cNvPr id="22" name="Shape 20"/>
          <p:cNvSpPr/>
          <p:nvPr/>
        </p:nvSpPr>
        <p:spPr>
          <a:xfrm>
            <a:off x="8938915" y="3624709"/>
            <a:ext cx="3492847" cy="590550"/>
          </a:xfrm>
          <a:prstGeom prst="roundRect">
            <a:avLst>
              <a:gd name="adj" fmla="val 8065"/>
            </a:avLst>
          </a:prstGeom>
          <a:solidFill>
            <a:srgbClr val="1E2B3B"/>
          </a:solidFill>
          <a:ln/>
        </p:spPr>
      </p:sp>
      <p:sp>
        <p:nvSpPr>
          <p:cNvPr id="23" name="Text 21"/>
          <p:cNvSpPr/>
          <p:nvPr/>
        </p:nvSpPr>
        <p:spPr>
          <a:xfrm>
            <a:off x="9091315" y="3748534"/>
            <a:ext cx="3292833"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F6F4EF"/>
                </a:solidFill>
                <a:latin typeface="Noto Sans KR" pitchFamily="34" charset="0"/>
                <a:ea typeface="Noto Sans KR" pitchFamily="34" charset="-122"/>
                <a:cs typeface="Noto Sans KR" pitchFamily="34" charset="-120"/>
              </a:rPr>
              <a:t>④ 경계·함정 사례 발굴</a:t>
            </a:r>
            <a:endParaRPr lang="en-US" sz="1875" dirty="0"/>
          </a:p>
        </p:txBody>
      </p:sp>
      <p:sp>
        <p:nvSpPr>
          <p:cNvPr id="24" name="Shape 22"/>
          <p:cNvSpPr/>
          <p:nvPr/>
        </p:nvSpPr>
        <p:spPr>
          <a:xfrm>
            <a:off x="5350966" y="4310509"/>
            <a:ext cx="3492698" cy="590550"/>
          </a:xfrm>
          <a:prstGeom prst="roundRect">
            <a:avLst>
              <a:gd name="adj" fmla="val 8065"/>
            </a:avLst>
          </a:prstGeom>
          <a:solidFill>
            <a:srgbClr val="1E2B3B"/>
          </a:solidFill>
          <a:ln/>
        </p:spPr>
      </p:sp>
      <p:sp>
        <p:nvSpPr>
          <p:cNvPr id="25" name="Text 23"/>
          <p:cNvSpPr/>
          <p:nvPr/>
        </p:nvSpPr>
        <p:spPr>
          <a:xfrm>
            <a:off x="5503366" y="4434334"/>
            <a:ext cx="3292679"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F6F4EF"/>
                </a:solidFill>
                <a:latin typeface="Noto Sans KR" pitchFamily="34" charset="0"/>
                <a:ea typeface="Noto Sans KR" pitchFamily="34" charset="-122"/>
                <a:cs typeface="Noto Sans KR" pitchFamily="34" charset="-120"/>
              </a:rPr>
              <a:t>⑤ 프롬프트 생성·재작성</a:t>
            </a:r>
            <a:endParaRPr lang="en-US" sz="1875" dirty="0"/>
          </a:p>
        </p:txBody>
      </p:sp>
      <p:sp>
        <p:nvSpPr>
          <p:cNvPr id="26" name="Shape 24"/>
          <p:cNvSpPr/>
          <p:nvPr/>
        </p:nvSpPr>
        <p:spPr>
          <a:xfrm>
            <a:off x="8938915" y="4310509"/>
            <a:ext cx="3492847" cy="590550"/>
          </a:xfrm>
          <a:prstGeom prst="roundRect">
            <a:avLst>
              <a:gd name="adj" fmla="val 8065"/>
            </a:avLst>
          </a:prstGeom>
          <a:solidFill>
            <a:srgbClr val="1E2B3B"/>
          </a:solidFill>
          <a:ln/>
        </p:spPr>
      </p:sp>
      <p:sp>
        <p:nvSpPr>
          <p:cNvPr id="27" name="Text 25"/>
          <p:cNvSpPr/>
          <p:nvPr/>
        </p:nvSpPr>
        <p:spPr>
          <a:xfrm>
            <a:off x="9091315" y="4434334"/>
            <a:ext cx="3292833"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F6F4EF"/>
                </a:solidFill>
                <a:latin typeface="Noto Sans KR" pitchFamily="34" charset="0"/>
                <a:ea typeface="Noto Sans KR" pitchFamily="34" charset="-122"/>
                <a:cs typeface="Noto Sans KR" pitchFamily="34" charset="-120"/>
              </a:rPr>
              <a:t>⑥ 검색 질의·키워드 생성</a:t>
            </a:r>
            <a:endParaRPr lang="en-US" sz="1875" dirty="0"/>
          </a:p>
        </p:txBody>
      </p:sp>
      <p:sp>
        <p:nvSpPr>
          <p:cNvPr id="28" name="Shape 26"/>
          <p:cNvSpPr/>
          <p:nvPr/>
        </p:nvSpPr>
        <p:spPr>
          <a:xfrm>
            <a:off x="5350966" y="4996309"/>
            <a:ext cx="3492698" cy="590550"/>
          </a:xfrm>
          <a:prstGeom prst="roundRect">
            <a:avLst>
              <a:gd name="adj" fmla="val 8065"/>
            </a:avLst>
          </a:prstGeom>
          <a:solidFill>
            <a:srgbClr val="1E2B3B"/>
          </a:solidFill>
          <a:ln/>
        </p:spPr>
      </p:sp>
      <p:sp>
        <p:nvSpPr>
          <p:cNvPr id="29" name="Text 27"/>
          <p:cNvSpPr/>
          <p:nvPr/>
        </p:nvSpPr>
        <p:spPr>
          <a:xfrm>
            <a:off x="5503366" y="5120134"/>
            <a:ext cx="3292679"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F6F4EF"/>
                </a:solidFill>
                <a:latin typeface="Noto Sans KR" pitchFamily="34" charset="0"/>
                <a:ea typeface="Noto Sans KR" pitchFamily="34" charset="-122"/>
                <a:cs typeface="Noto Sans KR" pitchFamily="34" charset="-120"/>
              </a:rPr>
              <a:t>⑦ 오답 원인 자동 분류</a:t>
            </a:r>
            <a:endParaRPr lang="en-US" sz="1875" dirty="0"/>
          </a:p>
        </p:txBody>
      </p:sp>
      <p:sp>
        <p:nvSpPr>
          <p:cNvPr id="30" name="Shape 28"/>
          <p:cNvSpPr/>
          <p:nvPr/>
        </p:nvSpPr>
        <p:spPr>
          <a:xfrm>
            <a:off x="8938915" y="4996309"/>
            <a:ext cx="3492847" cy="590550"/>
          </a:xfrm>
          <a:prstGeom prst="roundRect">
            <a:avLst>
              <a:gd name="adj" fmla="val 8065"/>
            </a:avLst>
          </a:prstGeom>
          <a:solidFill>
            <a:srgbClr val="1E2B3B"/>
          </a:solidFill>
          <a:ln/>
        </p:spPr>
      </p:sp>
      <p:sp>
        <p:nvSpPr>
          <p:cNvPr id="31" name="Text 29"/>
          <p:cNvSpPr/>
          <p:nvPr/>
        </p:nvSpPr>
        <p:spPr>
          <a:xfrm>
            <a:off x="9091315" y="5120134"/>
            <a:ext cx="3292833"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F6F4EF"/>
                </a:solidFill>
                <a:latin typeface="Noto Sans KR" pitchFamily="34" charset="0"/>
                <a:ea typeface="Noto Sans KR" pitchFamily="34" charset="-122"/>
                <a:cs typeface="Noto Sans KR" pitchFamily="34" charset="-120"/>
              </a:rPr>
              <a:t>⑧ 2차 평가 기록 정리</a:t>
            </a:r>
            <a:endParaRPr lang="en-US" sz="1875" dirty="0"/>
          </a:p>
        </p:txBody>
      </p:sp>
      <p:sp>
        <p:nvSpPr>
          <p:cNvPr id="32" name="Shape 30"/>
          <p:cNvSpPr/>
          <p:nvPr/>
        </p:nvSpPr>
        <p:spPr>
          <a:xfrm>
            <a:off x="5350966" y="5701159"/>
            <a:ext cx="7080796" cy="9525"/>
          </a:xfrm>
          <a:prstGeom prst="rect">
            <a:avLst/>
          </a:prstGeom>
          <a:solidFill>
            <a:srgbClr val="33404F"/>
          </a:solidFill>
          <a:ln/>
        </p:spPr>
      </p:sp>
      <p:sp>
        <p:nvSpPr>
          <p:cNvPr id="33" name="Text 31"/>
          <p:cNvSpPr/>
          <p:nvPr/>
        </p:nvSpPr>
        <p:spPr>
          <a:xfrm>
            <a:off x="5350966" y="5805934"/>
            <a:ext cx="7293220"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6FC3B2"/>
                </a:solidFill>
                <a:latin typeface="Noto Sans KR" pitchFamily="34" charset="0"/>
                <a:ea typeface="Noto Sans KR" pitchFamily="34" charset="-122"/>
                <a:cs typeface="Noto Sans KR" pitchFamily="34" charset="-120"/>
              </a:rPr>
              <a:t>라인들이 서로를 먹인다 — 명세→프롬프트, 라벨→사례, 사례→명세 수정</a:t>
            </a:r>
            <a:endParaRPr lang="en-US" sz="1800" dirty="0"/>
          </a:p>
        </p:txBody>
      </p:sp>
      <p:sp>
        <p:nvSpPr>
          <p:cNvPr id="34" name="Text 32"/>
          <p:cNvSpPr/>
          <p:nvPr/>
        </p:nvSpPr>
        <p:spPr>
          <a:xfrm>
            <a:off x="12641312" y="2262634"/>
            <a:ext cx="514350" cy="4129980"/>
          </a:xfrm>
          <a:prstGeom prst="rect">
            <a:avLst/>
          </a:prstGeom>
          <a:noFill/>
          <a:ln/>
        </p:spPr>
        <p:txBody>
          <a:bodyPr wrap="square" lIns="25400" tIns="25400" rIns="25400" bIns="25400" rtlCol="0" anchor="ctr">
            <a:normAutofit/>
          </a:bodyPr>
          <a:lstStyle/>
          <a:p>
            <a:pPr algn="ctr" indent="0" marL="0">
              <a:buNone/>
            </a:pPr>
            <a:r>
              <a:rPr lang="en-US" sz="2700" dirty="0">
                <a:solidFill>
                  <a:srgbClr val="B4AC9C"/>
                </a:solidFill>
                <a:latin typeface="Noto Sans KR" pitchFamily="34" charset="0"/>
                <a:ea typeface="Noto Sans KR" pitchFamily="34" charset="-122"/>
                <a:cs typeface="Noto Sans KR" pitchFamily="34" charset="-120"/>
              </a:rPr>
              <a:t>→</a:t>
            </a:r>
            <a:endParaRPr lang="en-US" sz="2700" dirty="0"/>
          </a:p>
        </p:txBody>
      </p:sp>
      <p:sp>
        <p:nvSpPr>
          <p:cNvPr id="35" name="Shape 33"/>
          <p:cNvSpPr/>
          <p:nvPr/>
        </p:nvSpPr>
        <p:spPr>
          <a:xfrm>
            <a:off x="13117562" y="2262634"/>
            <a:ext cx="4141738" cy="4091880"/>
          </a:xfrm>
          <a:prstGeom prst="roundRect">
            <a:avLst>
              <a:gd name="adj" fmla="val 1397"/>
            </a:avLst>
          </a:prstGeom>
          <a:solidFill>
            <a:srgbClr val="FFFFFF"/>
          </a:solidFill>
          <a:ln w="9525">
            <a:solidFill>
              <a:srgbClr val="CADDD2"/>
            </a:solidFill>
            <a:prstDash val="solid"/>
          </a:ln>
        </p:spPr>
      </p:sp>
      <p:sp>
        <p:nvSpPr>
          <p:cNvPr id="36" name="Text 34"/>
          <p:cNvSpPr/>
          <p:nvPr/>
        </p:nvSpPr>
        <p:spPr>
          <a:xfrm>
            <a:off x="13374737" y="2500759"/>
            <a:ext cx="3990127"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제출물 안 — 정적 파일만</a:t>
            </a:r>
            <a:endParaRPr lang="en-US" sz="1800" dirty="0"/>
          </a:p>
        </p:txBody>
      </p:sp>
      <p:sp>
        <p:nvSpPr>
          <p:cNvPr id="37" name="Text 35"/>
          <p:cNvSpPr/>
          <p:nvPr/>
        </p:nvSpPr>
        <p:spPr>
          <a:xfrm>
            <a:off x="13374737" y="2938909"/>
            <a:ext cx="3990127" cy="409575"/>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prompts/ 항목별 지시문</a:t>
            </a:r>
            <a:endParaRPr lang="en-US" sz="1950" dirty="0"/>
          </a:p>
        </p:txBody>
      </p:sp>
      <p:sp>
        <p:nvSpPr>
          <p:cNvPr id="38" name="Text 36"/>
          <p:cNvSpPr/>
          <p:nvPr/>
        </p:nvSpPr>
        <p:spPr>
          <a:xfrm>
            <a:off x="13374737" y="3415159"/>
            <a:ext cx="3990127" cy="409575"/>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specs/ 판정 명세 (승인본)</a:t>
            </a:r>
            <a:endParaRPr lang="en-US" sz="1950" dirty="0"/>
          </a:p>
        </p:txBody>
      </p:sp>
      <p:sp>
        <p:nvSpPr>
          <p:cNvPr id="39" name="Text 37"/>
          <p:cNvSpPr/>
          <p:nvPr/>
        </p:nvSpPr>
        <p:spPr>
          <a:xfrm>
            <a:off x="13374737" y="3891409"/>
            <a:ext cx="3990127" cy="409575"/>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rules/ 항목→조문 매핑</a:t>
            </a:r>
            <a:endParaRPr lang="en-US" sz="1950" dirty="0"/>
          </a:p>
        </p:txBody>
      </p:sp>
      <p:sp>
        <p:nvSpPr>
          <p:cNvPr id="40" name="Text 38"/>
          <p:cNvSpPr/>
          <p:nvPr/>
        </p:nvSpPr>
        <p:spPr>
          <a:xfrm>
            <a:off x="13374737" y="4367659"/>
            <a:ext cx="3990127" cy="409575"/>
          </a:xfrm>
          <a:prstGeom prst="rect">
            <a:avLst/>
          </a:prstGeom>
          <a:noFill/>
          <a:ln/>
        </p:spPr>
        <p:txBody>
          <a:bodyPr wrap="square" lIns="25400" tIns="25400" rIns="25400" bIns="25400" rtlCol="0" anchor="t">
            <a:normAutofit/>
          </a:bodyPr>
          <a:lstStyle/>
          <a:p>
            <a:pPr algn="l" indent="0" marL="0">
              <a:lnSpc>
                <a:spcPct val="105405"/>
              </a:lnSpc>
              <a:buNone/>
            </a:pPr>
            <a:r>
              <a:rPr lang="en-US" sz="1950" dirty="0">
                <a:solidFill>
                  <a:srgbClr val="3C4654"/>
                </a:solidFill>
                <a:latin typeface="Noto Sans KR" pitchFamily="34" charset="0"/>
                <a:ea typeface="Noto Sans KR" pitchFamily="34" charset="-122"/>
                <a:cs typeface="Noto Sans KR" pitchFamily="34" charset="-120"/>
              </a:rPr>
              <a:t>model/ 검색 인덱스 등 자산</a:t>
            </a:r>
            <a:endParaRPr lang="en-US" sz="1950" dirty="0"/>
          </a:p>
        </p:txBody>
      </p:sp>
      <p:sp>
        <p:nvSpPr>
          <p:cNvPr id="41" name="Shape 39"/>
          <p:cNvSpPr/>
          <p:nvPr/>
        </p:nvSpPr>
        <p:spPr>
          <a:xfrm>
            <a:off x="13374737" y="4843909"/>
            <a:ext cx="3627388" cy="9525"/>
          </a:xfrm>
          <a:prstGeom prst="rect">
            <a:avLst/>
          </a:prstGeom>
          <a:solidFill>
            <a:srgbClr val="DCD7CC"/>
          </a:solidFill>
          <a:ln/>
        </p:spPr>
      </p:sp>
      <p:sp>
        <p:nvSpPr>
          <p:cNvPr id="42" name="Text 40"/>
          <p:cNvSpPr/>
          <p:nvPr/>
        </p:nvSpPr>
        <p:spPr>
          <a:xfrm>
            <a:off x="13374737" y="4948684"/>
            <a:ext cx="3736210"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0F6B5E"/>
                </a:solidFill>
                <a:latin typeface="Noto Sans KR" pitchFamily="34" charset="0"/>
                <a:ea typeface="Noto Sans KR" pitchFamily="34" charset="-122"/>
                <a:cs typeface="Noto Sans KR" pitchFamily="34" charset="-120"/>
              </a:rPr>
              <a:t>실행 중 외부 호출은 0회</a:t>
            </a:r>
            <a:endParaRPr lang="en-US" sz="1800" dirty="0"/>
          </a:p>
        </p:txBody>
      </p:sp>
      <p:sp>
        <p:nvSpPr>
          <p:cNvPr id="43" name="Shape 41"/>
          <p:cNvSpPr/>
          <p:nvPr/>
        </p:nvSpPr>
        <p:spPr>
          <a:xfrm>
            <a:off x="1028700" y="6659314"/>
            <a:ext cx="8830717" cy="1192411"/>
          </a:xfrm>
          <a:prstGeom prst="roundRect">
            <a:avLst>
              <a:gd name="adj" fmla="val 4793"/>
            </a:avLst>
          </a:prstGeom>
          <a:solidFill>
            <a:srgbClr val="16202E"/>
          </a:solidFill>
          <a:ln/>
        </p:spPr>
      </p:sp>
      <p:sp>
        <p:nvSpPr>
          <p:cNvPr id="44" name="Text 42"/>
          <p:cNvSpPr/>
          <p:nvPr/>
        </p:nvSpPr>
        <p:spPr>
          <a:xfrm>
            <a:off x="1295400" y="6868864"/>
            <a:ext cx="8562238" cy="811411"/>
          </a:xfrm>
          <a:prstGeom prst="rect">
            <a:avLst/>
          </a:prstGeom>
          <a:noFill/>
          <a:ln/>
        </p:spPr>
        <p:txBody>
          <a:bodyPr wrap="square" lIns="25400" tIns="25400" rIns="25400" bIns="25400" rtlCol="0" anchor="t">
            <a:normAutofit/>
          </a:bodyPr>
          <a:lstStyle/>
          <a:p>
            <a:pPr algn="l" indent="0" marL="0">
              <a:lnSpc>
                <a:spcPct val="101500"/>
              </a:lnSpc>
              <a:buNone/>
            </a:pPr>
            <a:r>
              <a:rPr lang="en-US" sz="2100" b="1" dirty="0">
                <a:solidFill>
                  <a:srgbClr val="6FC3B2"/>
                </a:solidFill>
                <a:latin typeface="Noto Sans KR" pitchFamily="34" charset="0"/>
                <a:ea typeface="Noto Sans KR" pitchFamily="34" charset="-122"/>
                <a:cs typeface="Noto Sans KR" pitchFamily="34" charset="-120"/>
              </a:rPr>
              <a:t>목표 — 이 한 바퀴를 하루 안에 돌린다. </a:t>
            </a:r>
            <a:pPr algn="l" indent="0" marL="0">
              <a:lnSpc>
                <a:spcPct val="101500"/>
              </a:lnSpc>
              <a:buNone/>
            </a:pPr>
            <a:r>
              <a:rPr lang="en-US" sz="2100" dirty="0">
                <a:solidFill>
                  <a:srgbClr val="F6F4EF"/>
                </a:solidFill>
                <a:highlight>
                  <a:srgbClr val="16202E"/>
                </a:highlight>
                <a:latin typeface="Noto Sans KR" pitchFamily="34" charset="0"/>
                <a:ea typeface="Noto Sans KR" pitchFamily="34" charset="-122"/>
                <a:cs typeface="Noto Sans KR" pitchFamily="34" charset="-120"/>
              </a:rPr>
              <a:t>제출이 하루 한 번이므로 사이클을 제출 주기에 맞춘다 → 남은 2주에 열 바퀴 이상</a:t>
            </a:r>
            <a:endParaRPr lang="en-US" sz="2100" dirty="0"/>
          </a:p>
        </p:txBody>
      </p:sp>
      <p:sp>
        <p:nvSpPr>
          <p:cNvPr id="45" name="Shape 43"/>
          <p:cNvSpPr/>
          <p:nvPr/>
        </p:nvSpPr>
        <p:spPr>
          <a:xfrm>
            <a:off x="10088017" y="6659314"/>
            <a:ext cx="7171283" cy="1192411"/>
          </a:xfrm>
          <a:prstGeom prst="roundRect">
            <a:avLst>
              <a:gd name="adj" fmla="val 4793"/>
            </a:avLst>
          </a:prstGeom>
          <a:solidFill>
            <a:srgbClr val="EDE9E0"/>
          </a:solidFill>
          <a:ln/>
        </p:spPr>
      </p:sp>
      <p:sp>
        <p:nvSpPr>
          <p:cNvPr id="46" name="Text 44"/>
          <p:cNvSpPr/>
          <p:nvPr/>
        </p:nvSpPr>
        <p:spPr>
          <a:xfrm>
            <a:off x="10354717" y="6868864"/>
            <a:ext cx="6853022" cy="811411"/>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highlight>
                  <a:srgbClr val="EDE9E0"/>
                </a:highlight>
                <a:latin typeface="Noto Sans KR" pitchFamily="34" charset="0"/>
                <a:ea typeface="Noto Sans KR" pitchFamily="34" charset="-122"/>
                <a:cs typeface="Noto Sans KR" pitchFamily="34" charset="-120"/>
              </a:rPr>
              <a:t>사람이 손으로 돌리면 한 바퀴에 며칠, 자동이면 반나절 — </a:t>
            </a:r>
            <a:pPr algn="l" indent="0" marL="0">
              <a:lnSpc>
                <a:spcPct val="101892"/>
              </a:lnSpc>
              <a:buNone/>
            </a:pPr>
            <a:r>
              <a:rPr lang="en-US" sz="1950" b="1" dirty="0">
                <a:solidFill>
                  <a:srgbClr val="16202E"/>
                </a:solidFill>
                <a:latin typeface="Noto Sans KR" pitchFamily="34" charset="0"/>
                <a:ea typeface="Noto Sans KR" pitchFamily="34" charset="-122"/>
                <a:cs typeface="Noto Sans KR" pitchFamily="34" charset="-120"/>
              </a:rPr>
              <a:t>바퀴 수가 곧 점수다</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7620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공장 라인 ①~④ · 명세와 데이터</a:t>
            </a:r>
            <a:endParaRPr lang="en-US" sz="1950" dirty="0"/>
          </a:p>
        </p:txBody>
      </p:sp>
      <p:sp>
        <p:nvSpPr>
          <p:cNvPr id="3" name="Text 1"/>
          <p:cNvSpPr/>
          <p:nvPr/>
        </p:nvSpPr>
        <p:spPr>
          <a:xfrm>
            <a:off x="1028700" y="1238250"/>
            <a:ext cx="16973550" cy="686098"/>
          </a:xfrm>
          <a:prstGeom prst="rect">
            <a:avLst/>
          </a:prstGeom>
          <a:noFill/>
          <a:ln/>
        </p:spPr>
        <p:txBody>
          <a:bodyPr wrap="square" lIns="25400" tIns="25400" rIns="25400" bIns="25400" rtlCol="0" anchor="t">
            <a:normAutofit/>
          </a:bodyPr>
          <a:lstStyle/>
          <a:p>
            <a:pPr algn="l" indent="0" marL="0">
              <a:lnSpc>
                <a:spcPct val="86127"/>
              </a:lnSpc>
              <a:buNone/>
            </a:pPr>
            <a:r>
              <a:rPr lang="en-US" sz="4050" b="1" spc="-40" kern="0" dirty="0">
                <a:solidFill>
                  <a:srgbClr val="16202E"/>
                </a:solidFill>
                <a:latin typeface="Noto Sans KR" pitchFamily="34" charset="0"/>
                <a:ea typeface="Noto Sans KR" pitchFamily="34" charset="-122"/>
                <a:cs typeface="Noto Sans KR" pitchFamily="34" charset="-120"/>
              </a:rPr>
              <a:t>각 라인은 같은 모양이다 — API가 만들고, 사람이 한 가지만 본다</a:t>
            </a:r>
            <a:endParaRPr lang="en-US" sz="4050" dirty="0"/>
          </a:p>
        </p:txBody>
      </p:sp>
      <p:sp>
        <p:nvSpPr>
          <p:cNvPr id="4" name="Shape 2"/>
          <p:cNvSpPr/>
          <p:nvPr/>
        </p:nvSpPr>
        <p:spPr>
          <a:xfrm>
            <a:off x="1028700" y="2152948"/>
            <a:ext cx="8020050" cy="2628900"/>
          </a:xfrm>
          <a:prstGeom prst="roundRect">
            <a:avLst>
              <a:gd name="adj" fmla="val 2174"/>
            </a:avLst>
          </a:prstGeom>
          <a:solidFill>
            <a:srgbClr val="FFFFFF"/>
          </a:solidFill>
          <a:ln w="9525">
            <a:solidFill>
              <a:srgbClr val="E3DED3"/>
            </a:solidFill>
            <a:prstDash val="solid"/>
          </a:ln>
        </p:spPr>
      </p:sp>
      <p:sp>
        <p:nvSpPr>
          <p:cNvPr id="5" name="Text 3"/>
          <p:cNvSpPr/>
          <p:nvPr/>
        </p:nvSpPr>
        <p:spPr>
          <a:xfrm>
            <a:off x="1304925" y="2391073"/>
            <a:ext cx="821436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① 판정 명세 생성 — 24개</a:t>
            </a:r>
            <a:endParaRPr lang="en-US" sz="1800" dirty="0"/>
          </a:p>
        </p:txBody>
      </p:sp>
      <p:sp>
        <p:nvSpPr>
          <p:cNvPr id="6" name="Text 4"/>
          <p:cNvSpPr/>
          <p:nvPr/>
        </p:nvSpPr>
        <p:spPr>
          <a:xfrm>
            <a:off x="1304925" y="2829223"/>
            <a:ext cx="7691628" cy="728663"/>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16202E"/>
                </a:solidFill>
                <a:latin typeface="Noto Sans KR" pitchFamily="34" charset="0"/>
                <a:ea typeface="Noto Sans KR" pitchFamily="34" charset="-122"/>
                <a:cs typeface="Noto Sans KR" pitchFamily="34" charset="-120"/>
              </a:rPr>
              <a:t>API가 </a:t>
            </a:r>
            <a:pPr algn="l" indent="0" marL="0">
              <a:lnSpc>
                <a:spcPct val="100694"/>
              </a:lnSpc>
              <a:buNone/>
            </a:pPr>
            <a:r>
              <a:rPr lang="en-US" sz="1875" dirty="0">
                <a:solidFill>
                  <a:srgbClr val="3C4654"/>
                </a:solidFill>
                <a:latin typeface="Noto Sans KR" pitchFamily="34" charset="0"/>
                <a:ea typeface="Noto Sans KR" pitchFamily="34" charset="-122"/>
                <a:cs typeface="Noto Sans KR" pitchFamily="34" charset="-120"/>
              </a:rPr>
              <a:t>항목 정의 + 해당 조문을 받아 7칸 명세(적용 대상·필요 사실·위반 조건·예외·정보 부족 시·근거 위치·사례)를 뽑는다</a:t>
            </a:r>
            <a:endParaRPr lang="en-US" sz="1875" dirty="0"/>
          </a:p>
        </p:txBody>
      </p:sp>
      <p:sp>
        <p:nvSpPr>
          <p:cNvPr id="7" name="Shape 5"/>
          <p:cNvSpPr/>
          <p:nvPr/>
        </p:nvSpPr>
        <p:spPr>
          <a:xfrm>
            <a:off x="1304925" y="3624560"/>
            <a:ext cx="7467600" cy="919162"/>
          </a:xfrm>
          <a:prstGeom prst="roundRect">
            <a:avLst>
              <a:gd name="adj" fmla="val 4145"/>
            </a:avLst>
          </a:prstGeom>
          <a:solidFill>
            <a:srgbClr val="F6F9F5"/>
          </a:solidFill>
          <a:ln/>
        </p:spPr>
      </p:sp>
      <p:sp>
        <p:nvSpPr>
          <p:cNvPr id="8" name="Shape 6"/>
          <p:cNvSpPr/>
          <p:nvPr/>
        </p:nvSpPr>
        <p:spPr>
          <a:xfrm>
            <a:off x="1304925" y="3624560"/>
            <a:ext cx="28575" cy="919162"/>
          </a:xfrm>
          <a:prstGeom prst="rect">
            <a:avLst/>
          </a:prstGeom>
          <a:solidFill>
            <a:srgbClr val="0F6B5E"/>
          </a:solidFill>
          <a:ln/>
        </p:spPr>
      </p:sp>
      <p:sp>
        <p:nvSpPr>
          <p:cNvPr id="9" name="Text 7"/>
          <p:cNvSpPr/>
          <p:nvPr/>
        </p:nvSpPr>
        <p:spPr>
          <a:xfrm>
            <a:off x="1485900" y="3738860"/>
            <a:ext cx="7358253" cy="728662"/>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0F6B5E"/>
                </a:solidFill>
                <a:latin typeface="Noto Sans KR" pitchFamily="34" charset="0"/>
                <a:ea typeface="Noto Sans KR" pitchFamily="34" charset="-122"/>
                <a:cs typeface="Noto Sans KR" pitchFamily="34" charset="-120"/>
              </a:rPr>
              <a:t>사람이 볼 것 </a:t>
            </a:r>
            <a:pPr algn="l" indent="0" marL="0">
              <a:lnSpc>
                <a:spcPct val="100694"/>
              </a:lnSpc>
              <a:buNone/>
            </a:pPr>
            <a:r>
              <a:rPr lang="en-US" sz="1875" dirty="0">
                <a:solidFill>
                  <a:srgbClr val="3C4654"/>
                </a:solidFill>
                <a:highlight>
                  <a:srgbClr val="F6F9F5"/>
                </a:highlight>
                <a:latin typeface="Noto Sans KR" pitchFamily="34" charset="0"/>
                <a:ea typeface="Noto Sans KR" pitchFamily="34" charset="-122"/>
                <a:cs typeface="Noto Sans KR" pitchFamily="34" charset="-120"/>
              </a:rPr>
              <a:t>— 조건과 예외가 조문에 실제로 있는 문장인가. 없는 말을 만들었으면 여기서 걸린다.</a:t>
            </a:r>
            <a:endParaRPr lang="en-US" sz="1875" dirty="0"/>
          </a:p>
        </p:txBody>
      </p:sp>
      <p:sp>
        <p:nvSpPr>
          <p:cNvPr id="10" name="Shape 8"/>
          <p:cNvSpPr/>
          <p:nvPr/>
        </p:nvSpPr>
        <p:spPr>
          <a:xfrm>
            <a:off x="9239250" y="2152948"/>
            <a:ext cx="8020050" cy="2628900"/>
          </a:xfrm>
          <a:prstGeom prst="roundRect">
            <a:avLst>
              <a:gd name="adj" fmla="val 2174"/>
            </a:avLst>
          </a:prstGeom>
          <a:solidFill>
            <a:srgbClr val="FFFFFF"/>
          </a:solidFill>
          <a:ln w="9525">
            <a:solidFill>
              <a:srgbClr val="E3DED3"/>
            </a:solidFill>
            <a:prstDash val="solid"/>
          </a:ln>
        </p:spPr>
      </p:sp>
      <p:sp>
        <p:nvSpPr>
          <p:cNvPr id="11" name="Text 9"/>
          <p:cNvSpPr/>
          <p:nvPr/>
        </p:nvSpPr>
        <p:spPr>
          <a:xfrm>
            <a:off x="9515475" y="2391073"/>
            <a:ext cx="821436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② 항목↔조문 매핑 교차검증</a:t>
            </a:r>
            <a:endParaRPr lang="en-US" sz="1800" dirty="0"/>
          </a:p>
        </p:txBody>
      </p:sp>
      <p:sp>
        <p:nvSpPr>
          <p:cNvPr id="12" name="Text 10"/>
          <p:cNvSpPr/>
          <p:nvPr/>
        </p:nvSpPr>
        <p:spPr>
          <a:xfrm>
            <a:off x="9515475" y="2829223"/>
            <a:ext cx="7691628" cy="728663"/>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16202E"/>
                </a:solidFill>
                <a:latin typeface="Noto Sans KR" pitchFamily="34" charset="0"/>
                <a:ea typeface="Noto Sans KR" pitchFamily="34" charset="-122"/>
                <a:cs typeface="Noto Sans KR" pitchFamily="34" charset="-120"/>
              </a:rPr>
              <a:t>API가 </a:t>
            </a:r>
            <a:pPr algn="l" indent="0" marL="0">
              <a:lnSpc>
                <a:spcPct val="100694"/>
              </a:lnSpc>
              <a:buNone/>
            </a:pPr>
            <a:r>
              <a:rPr lang="en-US" sz="1875" dirty="0">
                <a:solidFill>
                  <a:srgbClr val="3C4654"/>
                </a:solidFill>
                <a:latin typeface="Noto Sans KR" pitchFamily="34" charset="0"/>
                <a:ea typeface="Noto Sans KR" pitchFamily="34" charset="-122"/>
                <a:cs typeface="Noto Sans KR" pitchFamily="34" charset="-120"/>
              </a:rPr>
              <a:t>항목→조문 방향과 조문→항목 방향을 각각 돌려 불일치와 누락 조문을 뽑는다</a:t>
            </a:r>
            <a:endParaRPr lang="en-US" sz="1875" dirty="0"/>
          </a:p>
        </p:txBody>
      </p:sp>
      <p:sp>
        <p:nvSpPr>
          <p:cNvPr id="13" name="Shape 11"/>
          <p:cNvSpPr/>
          <p:nvPr/>
        </p:nvSpPr>
        <p:spPr>
          <a:xfrm>
            <a:off x="9515475" y="3624560"/>
            <a:ext cx="7467600" cy="573881"/>
          </a:xfrm>
          <a:prstGeom prst="roundRect">
            <a:avLst>
              <a:gd name="adj" fmla="val 6639"/>
            </a:avLst>
          </a:prstGeom>
          <a:solidFill>
            <a:srgbClr val="F6F9F5"/>
          </a:solidFill>
          <a:ln/>
        </p:spPr>
      </p:sp>
      <p:sp>
        <p:nvSpPr>
          <p:cNvPr id="14" name="Shape 12"/>
          <p:cNvSpPr/>
          <p:nvPr/>
        </p:nvSpPr>
        <p:spPr>
          <a:xfrm>
            <a:off x="9515475" y="3624560"/>
            <a:ext cx="28575" cy="573881"/>
          </a:xfrm>
          <a:prstGeom prst="rect">
            <a:avLst/>
          </a:prstGeom>
          <a:solidFill>
            <a:srgbClr val="0F6B5E"/>
          </a:solidFill>
          <a:ln/>
        </p:spPr>
      </p:sp>
      <p:sp>
        <p:nvSpPr>
          <p:cNvPr id="15" name="Text 13"/>
          <p:cNvSpPr/>
          <p:nvPr/>
        </p:nvSpPr>
        <p:spPr>
          <a:xfrm>
            <a:off x="9696450" y="3738860"/>
            <a:ext cx="7358253" cy="383381"/>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0F6B5E"/>
                </a:solidFill>
                <a:latin typeface="Noto Sans KR" pitchFamily="34" charset="0"/>
                <a:ea typeface="Noto Sans KR" pitchFamily="34" charset="-122"/>
                <a:cs typeface="Noto Sans KR" pitchFamily="34" charset="-120"/>
              </a:rPr>
              <a:t>사람이 볼 것 </a:t>
            </a:r>
            <a:pPr algn="l" indent="0" marL="0">
              <a:lnSpc>
                <a:spcPct val="100694"/>
              </a:lnSpc>
              <a:buNone/>
            </a:pPr>
            <a:r>
              <a:rPr lang="en-US" sz="1875" dirty="0">
                <a:solidFill>
                  <a:srgbClr val="3C4654"/>
                </a:solidFill>
                <a:highlight>
                  <a:srgbClr val="F6F9F5"/>
                </a:highlight>
                <a:latin typeface="Noto Sans KR" pitchFamily="34" charset="0"/>
                <a:ea typeface="Noto Sans KR" pitchFamily="34" charset="-122"/>
                <a:cs typeface="Noto Sans KR" pitchFamily="34" charset="-120"/>
              </a:rPr>
              <a:t>— 양방향이 갈린 항목만. 일치하는 항목은 넘긴다.</a:t>
            </a:r>
            <a:endParaRPr lang="en-US" sz="1875" dirty="0"/>
          </a:p>
        </p:txBody>
      </p:sp>
      <p:sp>
        <p:nvSpPr>
          <p:cNvPr id="16" name="Shape 14"/>
          <p:cNvSpPr/>
          <p:nvPr/>
        </p:nvSpPr>
        <p:spPr>
          <a:xfrm>
            <a:off x="1028700" y="4972348"/>
            <a:ext cx="8020050" cy="2628900"/>
          </a:xfrm>
          <a:prstGeom prst="roundRect">
            <a:avLst>
              <a:gd name="adj" fmla="val 2174"/>
            </a:avLst>
          </a:prstGeom>
          <a:solidFill>
            <a:srgbClr val="16202E"/>
          </a:solidFill>
          <a:ln/>
        </p:spPr>
      </p:sp>
      <p:sp>
        <p:nvSpPr>
          <p:cNvPr id="17" name="Text 15"/>
          <p:cNvSpPr/>
          <p:nvPr/>
        </p:nvSpPr>
        <p:spPr>
          <a:xfrm>
            <a:off x="1295400" y="5200948"/>
            <a:ext cx="823531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③ 자가 라벨링 — 무라벨 20,000건</a:t>
            </a:r>
            <a:endParaRPr lang="en-US" sz="1800" dirty="0"/>
          </a:p>
        </p:txBody>
      </p:sp>
      <p:sp>
        <p:nvSpPr>
          <p:cNvPr id="18" name="Text 16"/>
          <p:cNvSpPr/>
          <p:nvPr/>
        </p:nvSpPr>
        <p:spPr>
          <a:xfrm>
            <a:off x="1295400" y="5639098"/>
            <a:ext cx="7711250" cy="728663"/>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F6F4EF"/>
                </a:solidFill>
                <a:latin typeface="Noto Sans KR" pitchFamily="34" charset="0"/>
                <a:ea typeface="Noto Sans KR" pitchFamily="34" charset="-122"/>
                <a:cs typeface="Noto Sans KR" pitchFamily="34" charset="-120"/>
              </a:rPr>
              <a:t>API가 </a:t>
            </a:r>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24항목 판정과 근거 후보를 붙인다. 초반에 한 번에 돌린다. 사례 발굴과 프롬프트 예시의 재료가 된다.</a:t>
            </a:r>
            <a:endParaRPr lang="en-US" sz="1875" dirty="0"/>
          </a:p>
        </p:txBody>
      </p:sp>
      <p:sp>
        <p:nvSpPr>
          <p:cNvPr id="19" name="Shape 17"/>
          <p:cNvSpPr/>
          <p:nvPr/>
        </p:nvSpPr>
        <p:spPr>
          <a:xfrm>
            <a:off x="1295400" y="6434435"/>
            <a:ext cx="7486650" cy="919162"/>
          </a:xfrm>
          <a:prstGeom prst="roundRect">
            <a:avLst>
              <a:gd name="adj" fmla="val 4145"/>
            </a:avLst>
          </a:prstGeom>
          <a:solidFill>
            <a:srgbClr val="1E2B3B"/>
          </a:solidFill>
          <a:ln/>
        </p:spPr>
      </p:sp>
      <p:sp>
        <p:nvSpPr>
          <p:cNvPr id="20" name="Shape 18"/>
          <p:cNvSpPr/>
          <p:nvPr/>
        </p:nvSpPr>
        <p:spPr>
          <a:xfrm>
            <a:off x="1295400" y="6434435"/>
            <a:ext cx="28575" cy="919162"/>
          </a:xfrm>
          <a:prstGeom prst="rect">
            <a:avLst/>
          </a:prstGeom>
          <a:solidFill>
            <a:srgbClr val="6FC3B2"/>
          </a:solidFill>
          <a:ln/>
        </p:spPr>
      </p:sp>
      <p:sp>
        <p:nvSpPr>
          <p:cNvPr id="21" name="Text 19"/>
          <p:cNvSpPr/>
          <p:nvPr/>
        </p:nvSpPr>
        <p:spPr>
          <a:xfrm>
            <a:off x="1476375" y="6548735"/>
            <a:ext cx="7377875" cy="728662"/>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6FC3B2"/>
                </a:solidFill>
                <a:latin typeface="Noto Sans KR" pitchFamily="34" charset="0"/>
                <a:ea typeface="Noto Sans KR" pitchFamily="34" charset="-122"/>
                <a:cs typeface="Noto Sans KR" pitchFamily="34" charset="-120"/>
              </a:rPr>
              <a:t>사람이 볼 것 </a:t>
            </a:r>
            <a:pPr algn="l" indent="0" marL="0">
              <a:lnSpc>
                <a:spcPct val="100694"/>
              </a:lnSpc>
              <a:buNone/>
            </a:pPr>
            <a:r>
              <a:rPr lang="en-US" sz="1875" dirty="0">
                <a:solidFill>
                  <a:srgbClr val="C6CEDA"/>
                </a:solidFill>
                <a:highlight>
                  <a:srgbClr val="1E2B3B"/>
                </a:highlight>
                <a:latin typeface="Noto Sans KR" pitchFamily="34" charset="0"/>
                <a:ea typeface="Noto Sans KR" pitchFamily="34" charset="-122"/>
                <a:cs typeface="Noto Sans KR" pitchFamily="34" charset="-120"/>
              </a:rPr>
              <a:t>— 전수는 불가능하다. dev 정답과 겹치는 부분으로 정확도를 재고, 확신도 낮은 건만 본다.</a:t>
            </a:r>
            <a:endParaRPr lang="en-US" sz="1875" dirty="0"/>
          </a:p>
        </p:txBody>
      </p:sp>
      <p:sp>
        <p:nvSpPr>
          <p:cNvPr id="22" name="Shape 20"/>
          <p:cNvSpPr/>
          <p:nvPr/>
        </p:nvSpPr>
        <p:spPr>
          <a:xfrm>
            <a:off x="9239250" y="4972348"/>
            <a:ext cx="8020050" cy="2628900"/>
          </a:xfrm>
          <a:prstGeom prst="roundRect">
            <a:avLst>
              <a:gd name="adj" fmla="val 2174"/>
            </a:avLst>
          </a:prstGeom>
          <a:solidFill>
            <a:srgbClr val="FFFFFF"/>
          </a:solidFill>
          <a:ln w="9525">
            <a:solidFill>
              <a:srgbClr val="E3DED3"/>
            </a:solidFill>
            <a:prstDash val="solid"/>
          </a:ln>
        </p:spPr>
      </p:sp>
      <p:sp>
        <p:nvSpPr>
          <p:cNvPr id="23" name="Text 21"/>
          <p:cNvSpPr/>
          <p:nvPr/>
        </p:nvSpPr>
        <p:spPr>
          <a:xfrm>
            <a:off x="9515475" y="5210473"/>
            <a:ext cx="821436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④ 경계·함정 사례 발굴</a:t>
            </a:r>
            <a:endParaRPr lang="en-US" sz="1800" dirty="0"/>
          </a:p>
        </p:txBody>
      </p:sp>
      <p:sp>
        <p:nvSpPr>
          <p:cNvPr id="24" name="Text 22"/>
          <p:cNvSpPr/>
          <p:nvPr/>
        </p:nvSpPr>
        <p:spPr>
          <a:xfrm>
            <a:off x="9515475" y="5648623"/>
            <a:ext cx="7691628" cy="728663"/>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16202E"/>
                </a:solidFill>
                <a:latin typeface="Noto Sans KR" pitchFamily="34" charset="0"/>
                <a:ea typeface="Noto Sans KR" pitchFamily="34" charset="-122"/>
                <a:cs typeface="Noto Sans KR" pitchFamily="34" charset="-120"/>
              </a:rPr>
              <a:t>API가 </a:t>
            </a:r>
            <a:pPr algn="l" indent="0" marL="0">
              <a:lnSpc>
                <a:spcPct val="100694"/>
              </a:lnSpc>
              <a:buNone/>
            </a:pPr>
            <a:r>
              <a:rPr lang="en-US" sz="1875" dirty="0">
                <a:solidFill>
                  <a:srgbClr val="3C4654"/>
                </a:solidFill>
                <a:latin typeface="Noto Sans KR" pitchFamily="34" charset="0"/>
                <a:ea typeface="Noto Sans KR" pitchFamily="34" charset="-122"/>
                <a:cs typeface="Noto Sans KR" pitchFamily="34" charset="-120"/>
              </a:rPr>
              <a:t>라벨링 결과에서 애매한 건, 판정이 갈린 건, 조건 경계에 걸친 건을 자동으로 골라 유형별로 묶는다</a:t>
            </a:r>
            <a:endParaRPr lang="en-US" sz="1875" dirty="0"/>
          </a:p>
        </p:txBody>
      </p:sp>
      <p:sp>
        <p:nvSpPr>
          <p:cNvPr id="25" name="Shape 23"/>
          <p:cNvSpPr/>
          <p:nvPr/>
        </p:nvSpPr>
        <p:spPr>
          <a:xfrm>
            <a:off x="9515475" y="6443960"/>
            <a:ext cx="7467600" cy="919162"/>
          </a:xfrm>
          <a:prstGeom prst="roundRect">
            <a:avLst>
              <a:gd name="adj" fmla="val 4145"/>
            </a:avLst>
          </a:prstGeom>
          <a:solidFill>
            <a:srgbClr val="F6F9F5"/>
          </a:solidFill>
          <a:ln/>
        </p:spPr>
      </p:sp>
      <p:sp>
        <p:nvSpPr>
          <p:cNvPr id="26" name="Shape 24"/>
          <p:cNvSpPr/>
          <p:nvPr/>
        </p:nvSpPr>
        <p:spPr>
          <a:xfrm>
            <a:off x="9515475" y="6443960"/>
            <a:ext cx="28575" cy="919162"/>
          </a:xfrm>
          <a:prstGeom prst="rect">
            <a:avLst/>
          </a:prstGeom>
          <a:solidFill>
            <a:srgbClr val="0F6B5E"/>
          </a:solidFill>
          <a:ln/>
        </p:spPr>
      </p:sp>
      <p:sp>
        <p:nvSpPr>
          <p:cNvPr id="27" name="Text 25"/>
          <p:cNvSpPr/>
          <p:nvPr/>
        </p:nvSpPr>
        <p:spPr>
          <a:xfrm>
            <a:off x="9696450" y="6558260"/>
            <a:ext cx="7358253" cy="728662"/>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0F6B5E"/>
                </a:solidFill>
                <a:latin typeface="Noto Sans KR" pitchFamily="34" charset="0"/>
                <a:ea typeface="Noto Sans KR" pitchFamily="34" charset="-122"/>
                <a:cs typeface="Noto Sans KR" pitchFamily="34" charset="-120"/>
              </a:rPr>
              <a:t>사람이 볼 것 </a:t>
            </a:r>
            <a:pPr algn="l" indent="0" marL="0">
              <a:lnSpc>
                <a:spcPct val="100694"/>
              </a:lnSpc>
              <a:buNone/>
            </a:pPr>
            <a:r>
              <a:rPr lang="en-US" sz="1875" dirty="0">
                <a:solidFill>
                  <a:srgbClr val="3C4654"/>
                </a:solidFill>
                <a:highlight>
                  <a:srgbClr val="F6F9F5"/>
                </a:highlight>
                <a:latin typeface="Noto Sans KR" pitchFamily="34" charset="0"/>
                <a:ea typeface="Noto Sans KR" pitchFamily="34" charset="-122"/>
                <a:cs typeface="Noto Sans KR" pitchFamily="34" charset="-120"/>
              </a:rPr>
              <a:t>— 골라진 사례가 정말 경계 사례인가. 이것이 명세를 고칠 단서가 된다.</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7620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공장 라인 ⑤~⑧ · 파이프라인과 반복</a:t>
            </a:r>
            <a:endParaRPr lang="en-US" sz="1950" dirty="0"/>
          </a:p>
        </p:txBody>
      </p:sp>
      <p:sp>
        <p:nvSpPr>
          <p:cNvPr id="3" name="Text 1"/>
          <p:cNvSpPr/>
          <p:nvPr/>
        </p:nvSpPr>
        <p:spPr>
          <a:xfrm>
            <a:off x="1028700" y="1238250"/>
            <a:ext cx="16973550" cy="686098"/>
          </a:xfrm>
          <a:prstGeom prst="rect">
            <a:avLst/>
          </a:prstGeom>
          <a:noFill/>
          <a:ln/>
        </p:spPr>
        <p:txBody>
          <a:bodyPr wrap="square" lIns="25400" tIns="25400" rIns="25400" bIns="25400" rtlCol="0" anchor="t">
            <a:normAutofit/>
          </a:bodyPr>
          <a:lstStyle/>
          <a:p>
            <a:pPr algn="l" indent="0" marL="0">
              <a:lnSpc>
                <a:spcPct val="86127"/>
              </a:lnSpc>
              <a:buNone/>
            </a:pPr>
            <a:r>
              <a:rPr lang="en-US" sz="4050" b="1" spc="-40" kern="0" dirty="0">
                <a:solidFill>
                  <a:srgbClr val="16202E"/>
                </a:solidFill>
                <a:latin typeface="Noto Sans KR" pitchFamily="34" charset="0"/>
                <a:ea typeface="Noto Sans KR" pitchFamily="34" charset="-122"/>
                <a:cs typeface="Noto Sans KR" pitchFamily="34" charset="-120"/>
              </a:rPr>
              <a:t>반복 작업일수록 자동화 효과가 크다</a:t>
            </a:r>
            <a:endParaRPr lang="en-US" sz="4050" dirty="0"/>
          </a:p>
        </p:txBody>
      </p:sp>
      <p:sp>
        <p:nvSpPr>
          <p:cNvPr id="4" name="Shape 2"/>
          <p:cNvSpPr/>
          <p:nvPr/>
        </p:nvSpPr>
        <p:spPr>
          <a:xfrm>
            <a:off x="1028700" y="2152948"/>
            <a:ext cx="8020050" cy="2628900"/>
          </a:xfrm>
          <a:prstGeom prst="roundRect">
            <a:avLst>
              <a:gd name="adj" fmla="val 2174"/>
            </a:avLst>
          </a:prstGeom>
          <a:solidFill>
            <a:srgbClr val="16202E"/>
          </a:solidFill>
          <a:ln/>
        </p:spPr>
      </p:sp>
      <p:sp>
        <p:nvSpPr>
          <p:cNvPr id="5" name="Text 3"/>
          <p:cNvSpPr/>
          <p:nvPr/>
        </p:nvSpPr>
        <p:spPr>
          <a:xfrm>
            <a:off x="1295400" y="2381548"/>
            <a:ext cx="823531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⑤ 프롬프트 생성·재작성</a:t>
            </a:r>
            <a:endParaRPr lang="en-US" sz="1800" dirty="0"/>
          </a:p>
        </p:txBody>
      </p:sp>
      <p:sp>
        <p:nvSpPr>
          <p:cNvPr id="6" name="Text 4"/>
          <p:cNvSpPr/>
          <p:nvPr/>
        </p:nvSpPr>
        <p:spPr>
          <a:xfrm>
            <a:off x="1295400" y="2819698"/>
            <a:ext cx="7711250" cy="728663"/>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F6F4EF"/>
                </a:solidFill>
                <a:latin typeface="Noto Sans KR" pitchFamily="34" charset="0"/>
                <a:ea typeface="Noto Sans KR" pitchFamily="34" charset="-122"/>
                <a:cs typeface="Noto Sans KR" pitchFamily="34" charset="-120"/>
              </a:rPr>
              <a:t>API가 </a:t>
            </a:r>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승인된 명세를 항목별 지시문으로 변환한다. 명세가 고쳐지면 다시 뽑는다 — </a:t>
            </a:r>
            <a:pPr algn="l" indent="0" marL="0">
              <a:lnSpc>
                <a:spcPct val="100694"/>
              </a:lnSpc>
              <a:buNone/>
            </a:pPr>
            <a:r>
              <a:rPr lang="en-US" sz="1875" b="1" dirty="0">
                <a:solidFill>
                  <a:srgbClr val="6FC3B2"/>
                </a:solidFill>
                <a:latin typeface="Noto Sans KR" pitchFamily="34" charset="0"/>
                <a:ea typeface="Noto Sans KR" pitchFamily="34" charset="-122"/>
                <a:cs typeface="Noto Sans KR" pitchFamily="34" charset="-120"/>
              </a:rPr>
              <a:t>사람이 문구를 손으로 쓰지 않는다</a:t>
            </a:r>
            <a:endParaRPr lang="en-US" sz="1875" dirty="0"/>
          </a:p>
        </p:txBody>
      </p:sp>
      <p:sp>
        <p:nvSpPr>
          <p:cNvPr id="7" name="Shape 5"/>
          <p:cNvSpPr/>
          <p:nvPr/>
        </p:nvSpPr>
        <p:spPr>
          <a:xfrm>
            <a:off x="1295400" y="3615035"/>
            <a:ext cx="7486650" cy="919162"/>
          </a:xfrm>
          <a:prstGeom prst="roundRect">
            <a:avLst>
              <a:gd name="adj" fmla="val 4145"/>
            </a:avLst>
          </a:prstGeom>
          <a:solidFill>
            <a:srgbClr val="1E2B3B"/>
          </a:solidFill>
          <a:ln/>
        </p:spPr>
      </p:sp>
      <p:sp>
        <p:nvSpPr>
          <p:cNvPr id="8" name="Shape 6"/>
          <p:cNvSpPr/>
          <p:nvPr/>
        </p:nvSpPr>
        <p:spPr>
          <a:xfrm>
            <a:off x="1295400" y="3615035"/>
            <a:ext cx="28575" cy="919162"/>
          </a:xfrm>
          <a:prstGeom prst="rect">
            <a:avLst/>
          </a:prstGeom>
          <a:solidFill>
            <a:srgbClr val="6FC3B2"/>
          </a:solidFill>
          <a:ln/>
        </p:spPr>
      </p:sp>
      <p:sp>
        <p:nvSpPr>
          <p:cNvPr id="9" name="Text 7"/>
          <p:cNvSpPr/>
          <p:nvPr/>
        </p:nvSpPr>
        <p:spPr>
          <a:xfrm>
            <a:off x="1476375" y="3729335"/>
            <a:ext cx="7377875" cy="728662"/>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6FC3B2"/>
                </a:solidFill>
                <a:latin typeface="Noto Sans KR" pitchFamily="34" charset="0"/>
                <a:ea typeface="Noto Sans KR" pitchFamily="34" charset="-122"/>
                <a:cs typeface="Noto Sans KR" pitchFamily="34" charset="-120"/>
              </a:rPr>
              <a:t>사람이 볼 것 </a:t>
            </a:r>
            <a:pPr algn="l" indent="0" marL="0">
              <a:lnSpc>
                <a:spcPct val="100694"/>
              </a:lnSpc>
              <a:buNone/>
            </a:pPr>
            <a:r>
              <a:rPr lang="en-US" sz="1875" dirty="0">
                <a:solidFill>
                  <a:srgbClr val="C6CEDA"/>
                </a:solidFill>
                <a:highlight>
                  <a:srgbClr val="1E2B3B"/>
                </a:highlight>
                <a:latin typeface="Noto Sans KR" pitchFamily="34" charset="0"/>
                <a:ea typeface="Noto Sans KR" pitchFamily="34" charset="-122"/>
                <a:cs typeface="Noto Sans KR" pitchFamily="34" charset="-120"/>
              </a:rPr>
              <a:t>— 지시문이 명세와 어긋나지 않는가 · "근거는 원문에서 그대로 오릴 것" 문구가 빠지지 않았는가</a:t>
            </a:r>
            <a:endParaRPr lang="en-US" sz="1875" dirty="0"/>
          </a:p>
        </p:txBody>
      </p:sp>
      <p:sp>
        <p:nvSpPr>
          <p:cNvPr id="10" name="Shape 8"/>
          <p:cNvSpPr/>
          <p:nvPr/>
        </p:nvSpPr>
        <p:spPr>
          <a:xfrm>
            <a:off x="9239250" y="2152948"/>
            <a:ext cx="8020050" cy="2628900"/>
          </a:xfrm>
          <a:prstGeom prst="roundRect">
            <a:avLst>
              <a:gd name="adj" fmla="val 2174"/>
            </a:avLst>
          </a:prstGeom>
          <a:solidFill>
            <a:srgbClr val="FFFFFF"/>
          </a:solidFill>
          <a:ln w="9525">
            <a:solidFill>
              <a:srgbClr val="E3DED3"/>
            </a:solidFill>
            <a:prstDash val="solid"/>
          </a:ln>
        </p:spPr>
      </p:sp>
      <p:sp>
        <p:nvSpPr>
          <p:cNvPr id="11" name="Text 9"/>
          <p:cNvSpPr/>
          <p:nvPr/>
        </p:nvSpPr>
        <p:spPr>
          <a:xfrm>
            <a:off x="9515475" y="2391073"/>
            <a:ext cx="821436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⑥ 검색 질의·키워드 생성</a:t>
            </a:r>
            <a:endParaRPr lang="en-US" sz="1800" dirty="0"/>
          </a:p>
        </p:txBody>
      </p:sp>
      <p:sp>
        <p:nvSpPr>
          <p:cNvPr id="12" name="Text 10"/>
          <p:cNvSpPr/>
          <p:nvPr/>
        </p:nvSpPr>
        <p:spPr>
          <a:xfrm>
            <a:off x="9515475" y="2829223"/>
            <a:ext cx="7691628" cy="728663"/>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16202E"/>
                </a:solidFill>
                <a:latin typeface="Noto Sans KR" pitchFamily="34" charset="0"/>
                <a:ea typeface="Noto Sans KR" pitchFamily="34" charset="-122"/>
                <a:cs typeface="Noto Sans KR" pitchFamily="34" charset="-120"/>
              </a:rPr>
              <a:t>API가 </a:t>
            </a:r>
            <a:pPr algn="l" indent="0" marL="0">
              <a:lnSpc>
                <a:spcPct val="100694"/>
              </a:lnSpc>
              <a:buNone/>
            </a:pPr>
            <a:r>
              <a:rPr lang="en-US" sz="1875" dirty="0">
                <a:solidFill>
                  <a:srgbClr val="3C4654"/>
                </a:solidFill>
                <a:latin typeface="Noto Sans KR" pitchFamily="34" charset="0"/>
                <a:ea typeface="Noto Sans KR" pitchFamily="34" charset="-122"/>
                <a:cs typeface="Noto Sans KR" pitchFamily="34" charset="-120"/>
              </a:rPr>
              <a:t>항목마다 검색 키워드를 만들고, 적용계약법(국가/지방)에 따라 볼 법을 분기한다. 현재는 공고문 앞부분을 그대로 질의로 쓴다.</a:t>
            </a:r>
            <a:endParaRPr lang="en-US" sz="1875" dirty="0"/>
          </a:p>
        </p:txBody>
      </p:sp>
      <p:sp>
        <p:nvSpPr>
          <p:cNvPr id="13" name="Shape 11"/>
          <p:cNvSpPr/>
          <p:nvPr/>
        </p:nvSpPr>
        <p:spPr>
          <a:xfrm>
            <a:off x="9515475" y="3624560"/>
            <a:ext cx="7467600" cy="919162"/>
          </a:xfrm>
          <a:prstGeom prst="roundRect">
            <a:avLst>
              <a:gd name="adj" fmla="val 4145"/>
            </a:avLst>
          </a:prstGeom>
          <a:solidFill>
            <a:srgbClr val="F6F9F5"/>
          </a:solidFill>
          <a:ln/>
        </p:spPr>
      </p:sp>
      <p:sp>
        <p:nvSpPr>
          <p:cNvPr id="14" name="Shape 12"/>
          <p:cNvSpPr/>
          <p:nvPr/>
        </p:nvSpPr>
        <p:spPr>
          <a:xfrm>
            <a:off x="9515475" y="3624560"/>
            <a:ext cx="28575" cy="919162"/>
          </a:xfrm>
          <a:prstGeom prst="rect">
            <a:avLst/>
          </a:prstGeom>
          <a:solidFill>
            <a:srgbClr val="0F6B5E"/>
          </a:solidFill>
          <a:ln/>
        </p:spPr>
      </p:sp>
      <p:sp>
        <p:nvSpPr>
          <p:cNvPr id="15" name="Text 13"/>
          <p:cNvSpPr/>
          <p:nvPr/>
        </p:nvSpPr>
        <p:spPr>
          <a:xfrm>
            <a:off x="9696450" y="3738860"/>
            <a:ext cx="7358253" cy="728662"/>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0F6B5E"/>
                </a:solidFill>
                <a:latin typeface="Noto Sans KR" pitchFamily="34" charset="0"/>
                <a:ea typeface="Noto Sans KR" pitchFamily="34" charset="-122"/>
                <a:cs typeface="Noto Sans KR" pitchFamily="34" charset="-120"/>
              </a:rPr>
              <a:t>사람이 볼 것 </a:t>
            </a:r>
            <a:pPr algn="l" indent="0" marL="0">
              <a:lnSpc>
                <a:spcPct val="100694"/>
              </a:lnSpc>
              <a:buNone/>
            </a:pPr>
            <a:r>
              <a:rPr lang="en-US" sz="1875" dirty="0">
                <a:solidFill>
                  <a:srgbClr val="3C4654"/>
                </a:solidFill>
                <a:highlight>
                  <a:srgbClr val="F6F9F5"/>
                </a:highlight>
                <a:latin typeface="Noto Sans KR" pitchFamily="34" charset="0"/>
                <a:ea typeface="Noto Sans KR" pitchFamily="34" charset="-122"/>
                <a:cs typeface="Noto Sans KR" pitchFamily="34" charset="-120"/>
              </a:rPr>
              <a:t>— 뽑힌 조문이 그 항목과 관계있는가. dev에서 조문 적중률로 확인한다.</a:t>
            </a:r>
            <a:endParaRPr lang="en-US" sz="1875" dirty="0"/>
          </a:p>
        </p:txBody>
      </p:sp>
      <p:sp>
        <p:nvSpPr>
          <p:cNvPr id="16" name="Shape 14"/>
          <p:cNvSpPr/>
          <p:nvPr/>
        </p:nvSpPr>
        <p:spPr>
          <a:xfrm>
            <a:off x="1028700" y="4972348"/>
            <a:ext cx="8020050" cy="2955131"/>
          </a:xfrm>
          <a:prstGeom prst="roundRect">
            <a:avLst>
              <a:gd name="adj" fmla="val 1934"/>
            </a:avLst>
          </a:prstGeom>
          <a:solidFill>
            <a:srgbClr val="16202E"/>
          </a:solidFill>
          <a:ln/>
        </p:spPr>
      </p:sp>
      <p:sp>
        <p:nvSpPr>
          <p:cNvPr id="17" name="Text 15"/>
          <p:cNvSpPr/>
          <p:nvPr/>
        </p:nvSpPr>
        <p:spPr>
          <a:xfrm>
            <a:off x="1295400" y="5200948"/>
            <a:ext cx="823531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⑦ 오답 원인 자동 분류 — 효과 최대</a:t>
            </a:r>
            <a:endParaRPr lang="en-US" sz="1800" dirty="0"/>
          </a:p>
        </p:txBody>
      </p:sp>
      <p:sp>
        <p:nvSpPr>
          <p:cNvPr id="18" name="Text 16"/>
          <p:cNvSpPr/>
          <p:nvPr/>
        </p:nvSpPr>
        <p:spPr>
          <a:xfrm>
            <a:off x="1295400" y="5639098"/>
            <a:ext cx="7711250" cy="1073944"/>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F6F4EF"/>
                </a:solidFill>
                <a:latin typeface="Noto Sans KR" pitchFamily="34" charset="0"/>
                <a:ea typeface="Noto Sans KR" pitchFamily="34" charset="-122"/>
                <a:cs typeface="Noto Sans KR" pitchFamily="34" charset="-120"/>
              </a:rPr>
              <a:t>API가 </a:t>
            </a:r>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오답과 그때의 프롬프트·정답을 함께 받아 9유형 중 무엇인지 분류한다 (명세 오류 / 문서 절단 / 조문 주입 실패 / 추출 / 메타 해석 / 판단 흔들림 / 근거 대조 실패 / JSON 결손 / 형식)</a:t>
            </a:r>
            <a:endParaRPr lang="en-US" sz="1875" dirty="0"/>
          </a:p>
        </p:txBody>
      </p:sp>
      <p:sp>
        <p:nvSpPr>
          <p:cNvPr id="19" name="Shape 17"/>
          <p:cNvSpPr/>
          <p:nvPr/>
        </p:nvSpPr>
        <p:spPr>
          <a:xfrm>
            <a:off x="1295400" y="6779716"/>
            <a:ext cx="7486650" cy="919162"/>
          </a:xfrm>
          <a:prstGeom prst="roundRect">
            <a:avLst>
              <a:gd name="adj" fmla="val 4145"/>
            </a:avLst>
          </a:prstGeom>
          <a:solidFill>
            <a:srgbClr val="1E2B3B"/>
          </a:solidFill>
          <a:ln/>
        </p:spPr>
      </p:sp>
      <p:sp>
        <p:nvSpPr>
          <p:cNvPr id="20" name="Shape 18"/>
          <p:cNvSpPr/>
          <p:nvPr/>
        </p:nvSpPr>
        <p:spPr>
          <a:xfrm>
            <a:off x="1295400" y="6779716"/>
            <a:ext cx="28575" cy="919162"/>
          </a:xfrm>
          <a:prstGeom prst="rect">
            <a:avLst/>
          </a:prstGeom>
          <a:solidFill>
            <a:srgbClr val="6FC3B2"/>
          </a:solidFill>
          <a:ln/>
        </p:spPr>
      </p:sp>
      <p:sp>
        <p:nvSpPr>
          <p:cNvPr id="21" name="Text 19"/>
          <p:cNvSpPr/>
          <p:nvPr/>
        </p:nvSpPr>
        <p:spPr>
          <a:xfrm>
            <a:off x="1476375" y="6894016"/>
            <a:ext cx="7377875" cy="728662"/>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6FC3B2"/>
                </a:solidFill>
                <a:latin typeface="Noto Sans KR" pitchFamily="34" charset="0"/>
                <a:ea typeface="Noto Sans KR" pitchFamily="34" charset="-122"/>
                <a:cs typeface="Noto Sans KR" pitchFamily="34" charset="-120"/>
              </a:rPr>
              <a:t>사람이 볼 것 </a:t>
            </a:r>
            <a:pPr algn="l" indent="0" marL="0">
              <a:lnSpc>
                <a:spcPct val="100694"/>
              </a:lnSpc>
              <a:buNone/>
            </a:pPr>
            <a:r>
              <a:rPr lang="en-US" sz="1875" dirty="0">
                <a:solidFill>
                  <a:srgbClr val="C6CEDA"/>
                </a:solidFill>
                <a:highlight>
                  <a:srgbClr val="1E2B3B"/>
                </a:highlight>
                <a:latin typeface="Noto Sans KR" pitchFamily="34" charset="0"/>
                <a:ea typeface="Noto Sans KR" pitchFamily="34" charset="-122"/>
                <a:cs typeface="Noto Sans KR" pitchFamily="34" charset="-120"/>
              </a:rPr>
              <a:t>— 분류만 되면 원인별 담당자에게 바로 배분된다. 매 실험마다 반복되는 가장 지겨운 일이 사라진다.</a:t>
            </a:r>
            <a:endParaRPr lang="en-US" sz="1875" dirty="0"/>
          </a:p>
        </p:txBody>
      </p:sp>
      <p:sp>
        <p:nvSpPr>
          <p:cNvPr id="22" name="Shape 20"/>
          <p:cNvSpPr/>
          <p:nvPr/>
        </p:nvSpPr>
        <p:spPr>
          <a:xfrm>
            <a:off x="9239250" y="4972348"/>
            <a:ext cx="8020050" cy="2955131"/>
          </a:xfrm>
          <a:prstGeom prst="roundRect">
            <a:avLst>
              <a:gd name="adj" fmla="val 1934"/>
            </a:avLst>
          </a:prstGeom>
          <a:solidFill>
            <a:srgbClr val="FFFFFF"/>
          </a:solidFill>
          <a:ln w="9525">
            <a:solidFill>
              <a:srgbClr val="E3DED3"/>
            </a:solidFill>
            <a:prstDash val="solid"/>
          </a:ln>
        </p:spPr>
      </p:sp>
      <p:sp>
        <p:nvSpPr>
          <p:cNvPr id="23" name="Text 21"/>
          <p:cNvSpPr/>
          <p:nvPr/>
        </p:nvSpPr>
        <p:spPr>
          <a:xfrm>
            <a:off x="9515475" y="5210473"/>
            <a:ext cx="821436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⑧ 2차 평가 기록 정리</a:t>
            </a:r>
            <a:endParaRPr lang="en-US" sz="1800" dirty="0"/>
          </a:p>
        </p:txBody>
      </p:sp>
      <p:sp>
        <p:nvSpPr>
          <p:cNvPr id="24" name="Text 22"/>
          <p:cNvSpPr/>
          <p:nvPr/>
        </p:nvSpPr>
        <p:spPr>
          <a:xfrm>
            <a:off x="9515475" y="5648623"/>
            <a:ext cx="7691628" cy="728663"/>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16202E"/>
                </a:solidFill>
                <a:latin typeface="Noto Sans KR" pitchFamily="34" charset="0"/>
                <a:ea typeface="Noto Sans KR" pitchFamily="34" charset="-122"/>
                <a:cs typeface="Noto Sans KR" pitchFamily="34" charset="-120"/>
              </a:rPr>
              <a:t>API가 </a:t>
            </a:r>
            <a:pPr algn="l" indent="0" marL="0">
              <a:lnSpc>
                <a:spcPct val="100694"/>
              </a:lnSpc>
              <a:buNone/>
            </a:pPr>
            <a:r>
              <a:rPr lang="en-US" sz="1875" dirty="0">
                <a:solidFill>
                  <a:srgbClr val="3C4654"/>
                </a:solidFill>
                <a:latin typeface="Noto Sans KR" pitchFamily="34" charset="0"/>
                <a:ea typeface="Noto Sans KR" pitchFamily="34" charset="-122"/>
                <a:cs typeface="Noto Sans KR" pitchFamily="34" charset="-120"/>
              </a:rPr>
              <a:t>매일 실험 기록·프롬프트 변경 이력·자료 출처 명세를 제출 형태로 정리한다</a:t>
            </a:r>
            <a:endParaRPr lang="en-US" sz="1875" dirty="0"/>
          </a:p>
        </p:txBody>
      </p:sp>
      <p:sp>
        <p:nvSpPr>
          <p:cNvPr id="25" name="Shape 23"/>
          <p:cNvSpPr/>
          <p:nvPr/>
        </p:nvSpPr>
        <p:spPr>
          <a:xfrm>
            <a:off x="9515475" y="6443960"/>
            <a:ext cx="7467600" cy="919162"/>
          </a:xfrm>
          <a:prstGeom prst="roundRect">
            <a:avLst>
              <a:gd name="adj" fmla="val 4145"/>
            </a:avLst>
          </a:prstGeom>
          <a:solidFill>
            <a:srgbClr val="FBF3F1"/>
          </a:solidFill>
          <a:ln/>
        </p:spPr>
      </p:sp>
      <p:sp>
        <p:nvSpPr>
          <p:cNvPr id="26" name="Shape 24"/>
          <p:cNvSpPr/>
          <p:nvPr/>
        </p:nvSpPr>
        <p:spPr>
          <a:xfrm>
            <a:off x="9515475" y="6443960"/>
            <a:ext cx="28575" cy="919162"/>
          </a:xfrm>
          <a:prstGeom prst="rect">
            <a:avLst/>
          </a:prstGeom>
          <a:solidFill>
            <a:srgbClr val="A4402E"/>
          </a:solidFill>
          <a:ln/>
        </p:spPr>
      </p:sp>
      <p:sp>
        <p:nvSpPr>
          <p:cNvPr id="27" name="Text 25"/>
          <p:cNvSpPr/>
          <p:nvPr/>
        </p:nvSpPr>
        <p:spPr>
          <a:xfrm>
            <a:off x="9696450" y="6558260"/>
            <a:ext cx="7358253" cy="728662"/>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A4402E"/>
                </a:solidFill>
                <a:latin typeface="Noto Sans KR" pitchFamily="34" charset="0"/>
                <a:ea typeface="Noto Sans KR" pitchFamily="34" charset="-122"/>
                <a:cs typeface="Noto Sans KR" pitchFamily="34" charset="-120"/>
              </a:rPr>
              <a:t>마감 전에 몰아서 만들면 재현이 안 된다 </a:t>
            </a:r>
            <a:pPr algn="l" indent="0" marL="0">
              <a:lnSpc>
                <a:spcPct val="100694"/>
              </a:lnSpc>
              <a:buNone/>
            </a:pPr>
            <a:r>
              <a:rPr lang="en-US" sz="1875" dirty="0">
                <a:solidFill>
                  <a:srgbClr val="3C4654"/>
                </a:solidFill>
                <a:highlight>
                  <a:srgbClr val="FBF3F1"/>
                </a:highlight>
                <a:latin typeface="Noto Sans KR" pitchFamily="34" charset="0"/>
                <a:ea typeface="Noto Sans KR" pitchFamily="34" charset="-122"/>
                <a:cs typeface="Noto Sans KR" pitchFamily="34" charset="-120"/>
              </a:rPr>
              <a:t>— 재현 불가는 수상 취소 사유다. 오늘부터 매일 남긴다.</a:t>
            </a:r>
            <a:endParaRPr lang="en-US" sz="1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001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품질 게이트 — 자동화의 안전장치</a:t>
            </a:r>
            <a:endParaRPr lang="en-US" sz="1950" dirty="0"/>
          </a:p>
        </p:txBody>
      </p:sp>
      <p:sp>
        <p:nvSpPr>
          <p:cNvPr id="3" name="Text 1"/>
          <p:cNvSpPr/>
          <p:nvPr/>
        </p:nvSpPr>
        <p:spPr>
          <a:xfrm>
            <a:off x="1028700" y="1285875"/>
            <a:ext cx="16973550" cy="710059"/>
          </a:xfrm>
          <a:prstGeom prst="rect">
            <a:avLst/>
          </a:prstGeom>
          <a:noFill/>
          <a:ln/>
        </p:spPr>
        <p:txBody>
          <a:bodyPr wrap="square" lIns="25400" tIns="25400" rIns="25400" bIns="25400" rtlCol="0" anchor="t">
            <a:normAutofit/>
          </a:bodyPr>
          <a:lstStyle/>
          <a:p>
            <a:pPr algn="l" indent="0" marL="0">
              <a:lnSpc>
                <a:spcPct val="87111"/>
              </a:lnSpc>
              <a:buNone/>
            </a:pPr>
            <a:r>
              <a:rPr lang="en-US" sz="4200" b="1" spc="-42" kern="0" dirty="0">
                <a:solidFill>
                  <a:srgbClr val="16202E"/>
                </a:solidFill>
                <a:latin typeface="Noto Sans KR" pitchFamily="34" charset="0"/>
                <a:ea typeface="Noto Sans KR" pitchFamily="34" charset="-122"/>
                <a:cs typeface="Noto Sans KR" pitchFamily="34" charset="-120"/>
              </a:rPr>
              <a:t>공정을 늘리기 전에, 그 공정을 믿어도 되는지 숫자로 확인한다</a:t>
            </a:r>
            <a:endParaRPr lang="en-US" sz="4200" dirty="0"/>
          </a:p>
        </p:txBody>
      </p:sp>
      <p:sp>
        <p:nvSpPr>
          <p:cNvPr id="4" name="Shape 2"/>
          <p:cNvSpPr/>
          <p:nvPr/>
        </p:nvSpPr>
        <p:spPr>
          <a:xfrm>
            <a:off x="1028700" y="2243584"/>
            <a:ext cx="8423672" cy="2050703"/>
          </a:xfrm>
          <a:prstGeom prst="roundRect">
            <a:avLst>
              <a:gd name="adj" fmla="val 2787"/>
            </a:avLst>
          </a:prstGeom>
          <a:solidFill>
            <a:srgbClr val="16202E"/>
          </a:solidFill>
          <a:ln/>
        </p:spPr>
      </p:sp>
      <p:sp>
        <p:nvSpPr>
          <p:cNvPr id="5" name="Text 3"/>
          <p:cNvSpPr/>
          <p:nvPr/>
        </p:nvSpPr>
        <p:spPr>
          <a:xfrm>
            <a:off x="1295400" y="2472184"/>
            <a:ext cx="8679299"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0단계 · 기준선 측정 — 가장 먼저 한다</a:t>
            </a:r>
            <a:endParaRPr lang="en-US" sz="1800" dirty="0"/>
          </a:p>
        </p:txBody>
      </p:sp>
      <p:sp>
        <p:nvSpPr>
          <p:cNvPr id="6" name="Text 4"/>
          <p:cNvSpPr/>
          <p:nvPr/>
        </p:nvSpPr>
        <p:spPr>
          <a:xfrm>
            <a:off x="1295400" y="2910334"/>
            <a:ext cx="8679299" cy="398115"/>
          </a:xfrm>
          <a:prstGeom prst="rect">
            <a:avLst/>
          </a:prstGeom>
          <a:noFill/>
          <a:ln/>
        </p:spPr>
        <p:txBody>
          <a:bodyPr wrap="square" lIns="25400" tIns="25400" rIns="25400" bIns="25400" rtlCol="0" anchor="t">
            <a:normAutofit/>
          </a:bodyPr>
          <a:lstStyle/>
          <a:p>
            <a:pPr algn="l" indent="0" marL="0">
              <a:lnSpc>
                <a:spcPct val="94500"/>
              </a:lnSpc>
              <a:buNone/>
            </a:pPr>
            <a:r>
              <a:rPr lang="en-US" sz="2100" b="1" dirty="0">
                <a:solidFill>
                  <a:srgbClr val="F6F4EF"/>
                </a:solidFill>
                <a:latin typeface="Noto Sans KR" pitchFamily="34" charset="0"/>
                <a:ea typeface="Noto Sans KR" pitchFamily="34" charset="-122"/>
                <a:cs typeface="Noto Sans KR" pitchFamily="34" charset="-120"/>
              </a:rPr>
              <a:t>API에게 dev 200건을 라벨링시켜 실제 정답과 비교한다</a:t>
            </a:r>
            <a:endParaRPr lang="en-US" sz="2100" dirty="0"/>
          </a:p>
        </p:txBody>
      </p:sp>
      <p:sp>
        <p:nvSpPr>
          <p:cNvPr id="7" name="Text 5"/>
          <p:cNvSpPr/>
          <p:nvPr/>
        </p:nvSpPr>
        <p:spPr>
          <a:xfrm>
            <a:off x="1295400" y="3375124"/>
            <a:ext cx="8126980" cy="728663"/>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항목별로 API가 몇 퍼센트 맞히는지 숫자가 나온다 — </a:t>
            </a:r>
            <a:pPr algn="l" indent="0" marL="0">
              <a:lnSpc>
                <a:spcPct val="100694"/>
              </a:lnSpc>
              <a:buNone/>
            </a:pPr>
            <a:r>
              <a:rPr lang="en-US" sz="1875" b="1" dirty="0">
                <a:solidFill>
                  <a:srgbClr val="6FC3B2"/>
                </a:solidFill>
                <a:latin typeface="Noto Sans KR" pitchFamily="34" charset="0"/>
                <a:ea typeface="Noto Sans KR" pitchFamily="34" charset="-122"/>
                <a:cs typeface="Noto Sans KR" pitchFamily="34" charset="-120"/>
              </a:rPr>
              <a:t>이 숫자 없이 20,000건을 돌리면 도박이다</a:t>
            </a:r>
            <a:endParaRPr lang="en-US" sz="1875" dirty="0"/>
          </a:p>
        </p:txBody>
      </p:sp>
      <p:sp>
        <p:nvSpPr>
          <p:cNvPr id="8" name="Text 6"/>
          <p:cNvSpPr/>
          <p:nvPr/>
        </p:nvSpPr>
        <p:spPr>
          <a:xfrm>
            <a:off x="1028700" y="4427637"/>
            <a:ext cx="9266039"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그 기준선으로 검토 강도를 항목마다 다르게 준다</a:t>
            </a:r>
            <a:endParaRPr lang="en-US" sz="1800" dirty="0"/>
          </a:p>
        </p:txBody>
      </p:sp>
      <p:sp>
        <p:nvSpPr>
          <p:cNvPr id="9" name="Shape 7"/>
          <p:cNvSpPr/>
          <p:nvPr/>
        </p:nvSpPr>
        <p:spPr>
          <a:xfrm>
            <a:off x="1028700" y="4894362"/>
            <a:ext cx="8423672" cy="718096"/>
          </a:xfrm>
          <a:prstGeom prst="roundRect">
            <a:avLst>
              <a:gd name="adj" fmla="val 7959"/>
            </a:avLst>
          </a:prstGeom>
          <a:solidFill>
            <a:srgbClr val="FFFFFF"/>
          </a:solidFill>
          <a:ln w="9525">
            <a:solidFill>
              <a:srgbClr val="CADDD2"/>
            </a:solidFill>
            <a:prstDash val="solid"/>
          </a:ln>
        </p:spPr>
      </p:sp>
      <p:sp>
        <p:nvSpPr>
          <p:cNvPr id="10" name="Text 8"/>
          <p:cNvSpPr/>
          <p:nvPr/>
        </p:nvSpPr>
        <p:spPr>
          <a:xfrm>
            <a:off x="1285875" y="5075337"/>
            <a:ext cx="209550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정확도 높음</a:t>
            </a:r>
            <a:endParaRPr lang="en-US" sz="1950" dirty="0"/>
          </a:p>
        </p:txBody>
      </p:sp>
      <p:sp>
        <p:nvSpPr>
          <p:cNvPr id="11" name="Text 9"/>
          <p:cNvSpPr/>
          <p:nvPr/>
        </p:nvSpPr>
        <p:spPr>
          <a:xfrm>
            <a:off x="3381375" y="5084862"/>
            <a:ext cx="3509635" cy="384721"/>
          </a:xfrm>
          <a:prstGeom prst="rect">
            <a:avLst/>
          </a:prstGeom>
          <a:noFill/>
          <a:ln/>
        </p:spPr>
        <p:txBody>
          <a:bodyPr wrap="square" lIns="25400" tIns="25400" rIns="25400" bIns="25400" rtlCol="0" anchor="t">
            <a:normAutofit/>
          </a:bodyPr>
          <a:lstStyle/>
          <a:p>
            <a:pPr algn="l" indent="0" marL="0">
              <a:lnSpc>
                <a:spcPct val="98378"/>
              </a:lnSpc>
              <a:buNone/>
            </a:pPr>
            <a:r>
              <a:rPr lang="en-US" sz="1950" dirty="0">
                <a:solidFill>
                  <a:srgbClr val="3C4654"/>
                </a:solidFill>
                <a:latin typeface="Noto Sans KR" pitchFamily="34" charset="0"/>
                <a:ea typeface="Noto Sans KR" pitchFamily="34" charset="-122"/>
                <a:cs typeface="Noto Sans KR" pitchFamily="34" charset="-120"/>
              </a:rPr>
              <a:t>사람은 항목당 샘플 N건만 본다</a:t>
            </a:r>
            <a:endParaRPr lang="en-US" sz="1950" dirty="0"/>
          </a:p>
        </p:txBody>
      </p:sp>
      <p:sp>
        <p:nvSpPr>
          <p:cNvPr id="12" name="Shape 10"/>
          <p:cNvSpPr/>
          <p:nvPr/>
        </p:nvSpPr>
        <p:spPr>
          <a:xfrm>
            <a:off x="1028700" y="5745807"/>
            <a:ext cx="8423672" cy="718096"/>
          </a:xfrm>
          <a:prstGeom prst="roundRect">
            <a:avLst>
              <a:gd name="adj" fmla="val 7959"/>
            </a:avLst>
          </a:prstGeom>
          <a:solidFill>
            <a:srgbClr val="FFFFFF"/>
          </a:solidFill>
          <a:ln w="9525">
            <a:solidFill>
              <a:srgbClr val="E3DED3"/>
            </a:solidFill>
            <a:prstDash val="solid"/>
          </a:ln>
        </p:spPr>
      </p:sp>
      <p:sp>
        <p:nvSpPr>
          <p:cNvPr id="13" name="Text 11"/>
          <p:cNvSpPr/>
          <p:nvPr/>
        </p:nvSpPr>
        <p:spPr>
          <a:xfrm>
            <a:off x="1285875" y="5926782"/>
            <a:ext cx="209550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중간</a:t>
            </a:r>
            <a:endParaRPr lang="en-US" sz="1950" dirty="0"/>
          </a:p>
        </p:txBody>
      </p:sp>
      <p:sp>
        <p:nvSpPr>
          <p:cNvPr id="14" name="Text 12"/>
          <p:cNvSpPr/>
          <p:nvPr/>
        </p:nvSpPr>
        <p:spPr>
          <a:xfrm>
            <a:off x="3381375" y="5936307"/>
            <a:ext cx="3890099" cy="384721"/>
          </a:xfrm>
          <a:prstGeom prst="rect">
            <a:avLst/>
          </a:prstGeom>
          <a:noFill/>
          <a:ln/>
        </p:spPr>
        <p:txBody>
          <a:bodyPr wrap="square" lIns="25400" tIns="25400" rIns="25400" bIns="25400" rtlCol="0" anchor="t">
            <a:normAutofit/>
          </a:bodyPr>
          <a:lstStyle/>
          <a:p>
            <a:pPr algn="l" indent="0" marL="0">
              <a:lnSpc>
                <a:spcPct val="98378"/>
              </a:lnSpc>
              <a:buNone/>
            </a:pPr>
            <a:r>
              <a:rPr lang="en-US" sz="1950" dirty="0">
                <a:solidFill>
                  <a:srgbClr val="3C4654"/>
                </a:solidFill>
                <a:latin typeface="Noto Sans KR" pitchFamily="34" charset="0"/>
                <a:ea typeface="Noto Sans KR" pitchFamily="34" charset="-122"/>
                <a:cs typeface="Noto Sans KR" pitchFamily="34" charset="-120"/>
              </a:rPr>
              <a:t>확신도 낮은 건과 경계 사례만 본다</a:t>
            </a:r>
            <a:endParaRPr lang="en-US" sz="1950" dirty="0"/>
          </a:p>
        </p:txBody>
      </p:sp>
      <p:sp>
        <p:nvSpPr>
          <p:cNvPr id="15" name="Shape 13"/>
          <p:cNvSpPr/>
          <p:nvPr/>
        </p:nvSpPr>
        <p:spPr>
          <a:xfrm>
            <a:off x="1028700" y="6597253"/>
            <a:ext cx="8423672" cy="718096"/>
          </a:xfrm>
          <a:prstGeom prst="roundRect">
            <a:avLst>
              <a:gd name="adj" fmla="val 7959"/>
            </a:avLst>
          </a:prstGeom>
          <a:solidFill>
            <a:srgbClr val="FFFFFF"/>
          </a:solidFill>
          <a:ln w="9525">
            <a:solidFill>
              <a:srgbClr val="E1B9B1"/>
            </a:solidFill>
            <a:prstDash val="solid"/>
          </a:ln>
        </p:spPr>
      </p:sp>
      <p:sp>
        <p:nvSpPr>
          <p:cNvPr id="16" name="Text 14"/>
          <p:cNvSpPr/>
          <p:nvPr/>
        </p:nvSpPr>
        <p:spPr>
          <a:xfrm>
            <a:off x="1285875" y="6778228"/>
            <a:ext cx="209550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A4402E"/>
                </a:solidFill>
                <a:latin typeface="Noto Sans KR" pitchFamily="34" charset="0"/>
                <a:ea typeface="Noto Sans KR" pitchFamily="34" charset="-122"/>
                <a:cs typeface="Noto Sans KR" pitchFamily="34" charset="-120"/>
              </a:rPr>
              <a:t>정확도 낮음</a:t>
            </a:r>
            <a:endParaRPr lang="en-US" sz="1950" dirty="0"/>
          </a:p>
        </p:txBody>
      </p:sp>
      <p:sp>
        <p:nvSpPr>
          <p:cNvPr id="17" name="Text 15"/>
          <p:cNvSpPr/>
          <p:nvPr/>
        </p:nvSpPr>
        <p:spPr>
          <a:xfrm>
            <a:off x="3381375" y="6787753"/>
            <a:ext cx="3540085" cy="384721"/>
          </a:xfrm>
          <a:prstGeom prst="rect">
            <a:avLst/>
          </a:prstGeom>
          <a:noFill/>
          <a:ln/>
        </p:spPr>
        <p:txBody>
          <a:bodyPr wrap="square" lIns="25400" tIns="25400" rIns="25400" bIns="25400" rtlCol="0" anchor="t">
            <a:normAutofit/>
          </a:bodyPr>
          <a:lstStyle/>
          <a:p>
            <a:pPr algn="l" indent="0" marL="0">
              <a:lnSpc>
                <a:spcPct val="98378"/>
              </a:lnSpc>
              <a:buNone/>
            </a:pPr>
            <a:r>
              <a:rPr lang="en-US" sz="1950" dirty="0">
                <a:solidFill>
                  <a:srgbClr val="3C4654"/>
                </a:solidFill>
                <a:latin typeface="Noto Sans KR" pitchFamily="34" charset="0"/>
                <a:ea typeface="Noto Sans KR" pitchFamily="34" charset="-122"/>
                <a:cs typeface="Noto Sans KR" pitchFamily="34" charset="-120"/>
              </a:rPr>
              <a:t>전수 검토 + 명세부터 다시 쓴다</a:t>
            </a:r>
            <a:endParaRPr lang="en-US" sz="1950" dirty="0"/>
          </a:p>
        </p:txBody>
      </p:sp>
      <p:sp>
        <p:nvSpPr>
          <p:cNvPr id="18" name="Text 16"/>
          <p:cNvSpPr/>
          <p:nvPr/>
        </p:nvSpPr>
        <p:spPr>
          <a:xfrm>
            <a:off x="1028700" y="7448699"/>
            <a:ext cx="9266039" cy="383381"/>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7C8492"/>
                </a:solidFill>
                <a:latin typeface="Noto Sans KR" pitchFamily="34" charset="0"/>
                <a:ea typeface="Noto Sans KR" pitchFamily="34" charset="-122"/>
                <a:cs typeface="Noto Sans KR" pitchFamily="34" charset="-120"/>
              </a:rPr>
              <a:t>전부 똑같이 보면 시간이 안 맞고, 전부 안 보면 오류가 번진다</a:t>
            </a:r>
            <a:endParaRPr lang="en-US" sz="1875" dirty="0"/>
          </a:p>
        </p:txBody>
      </p:sp>
      <p:sp>
        <p:nvSpPr>
          <p:cNvPr id="19" name="Shape 17"/>
          <p:cNvSpPr/>
          <p:nvPr/>
        </p:nvSpPr>
        <p:spPr>
          <a:xfrm>
            <a:off x="9738122" y="2243584"/>
            <a:ext cx="7521178" cy="5550396"/>
          </a:xfrm>
          <a:prstGeom prst="roundRect">
            <a:avLst>
              <a:gd name="adj" fmla="val 1030"/>
            </a:avLst>
          </a:prstGeom>
          <a:solidFill>
            <a:srgbClr val="FFFFFF"/>
          </a:solidFill>
          <a:ln w="9525">
            <a:solidFill>
              <a:srgbClr val="E3DED3"/>
            </a:solidFill>
            <a:prstDash val="solid"/>
          </a:ln>
        </p:spPr>
      </p:sp>
      <p:sp>
        <p:nvSpPr>
          <p:cNvPr id="20" name="Text 18"/>
          <p:cNvSpPr/>
          <p:nvPr/>
        </p:nvSpPr>
        <p:spPr>
          <a:xfrm>
            <a:off x="10033397" y="2500759"/>
            <a:ext cx="7623691"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각 라인의 통과 조건 — 못 넘으면 다음 라인으로 안 보낸다</a:t>
            </a:r>
            <a:endParaRPr lang="en-US" sz="1800" dirty="0"/>
          </a:p>
        </p:txBody>
      </p:sp>
      <p:sp>
        <p:nvSpPr>
          <p:cNvPr id="21" name="Shape 19"/>
          <p:cNvSpPr/>
          <p:nvPr/>
        </p:nvSpPr>
        <p:spPr>
          <a:xfrm>
            <a:off x="10033397" y="3405634"/>
            <a:ext cx="6930628" cy="9525"/>
          </a:xfrm>
          <a:prstGeom prst="rect">
            <a:avLst/>
          </a:prstGeom>
          <a:solidFill>
            <a:srgbClr val="DCD7CC"/>
          </a:solidFill>
          <a:ln/>
        </p:spPr>
      </p:sp>
      <p:sp>
        <p:nvSpPr>
          <p:cNvPr id="22" name="Text 20"/>
          <p:cNvSpPr/>
          <p:nvPr/>
        </p:nvSpPr>
        <p:spPr>
          <a:xfrm>
            <a:off x="10033397" y="2957959"/>
            <a:ext cx="1123950"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0F6B5E"/>
                </a:solidFill>
                <a:latin typeface="Noto Sans KR" pitchFamily="34" charset="0"/>
                <a:ea typeface="Noto Sans KR" pitchFamily="34" charset="-122"/>
                <a:cs typeface="Noto Sans KR" pitchFamily="34" charset="-120"/>
              </a:rPr>
              <a:t>명세</a:t>
            </a:r>
            <a:endParaRPr lang="en-US" sz="1875" dirty="0"/>
          </a:p>
        </p:txBody>
      </p:sp>
      <p:sp>
        <p:nvSpPr>
          <p:cNvPr id="23" name="Text 21"/>
          <p:cNvSpPr/>
          <p:nvPr/>
        </p:nvSpPr>
        <p:spPr>
          <a:xfrm>
            <a:off x="11252597" y="2967484"/>
            <a:ext cx="5406717"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조건·예외마다 </a:t>
            </a:r>
            <a:pPr algn="l" indent="0" marL="0">
              <a:lnSpc>
                <a:spcPct val="97222"/>
              </a:lnSpc>
              <a:buNone/>
            </a:pPr>
            <a:r>
              <a:rPr lang="en-US" sz="1875" b="1" dirty="0">
                <a:solidFill>
                  <a:srgbClr val="16202E"/>
                </a:solidFill>
                <a:latin typeface="Noto Sans KR" pitchFamily="34" charset="0"/>
                <a:ea typeface="Noto Sans KR" pitchFamily="34" charset="-122"/>
                <a:cs typeface="Noto Sans KR" pitchFamily="34" charset="-120"/>
              </a:rPr>
              <a:t>조문 문장으로 근거를 댈 수 있는가</a:t>
            </a:r>
            <a:endParaRPr lang="en-US" sz="1875" dirty="0"/>
          </a:p>
        </p:txBody>
      </p:sp>
      <p:sp>
        <p:nvSpPr>
          <p:cNvPr id="24" name="Shape 22"/>
          <p:cNvSpPr/>
          <p:nvPr/>
        </p:nvSpPr>
        <p:spPr>
          <a:xfrm>
            <a:off x="10033397" y="3986659"/>
            <a:ext cx="6930628" cy="9525"/>
          </a:xfrm>
          <a:prstGeom prst="rect">
            <a:avLst/>
          </a:prstGeom>
          <a:solidFill>
            <a:srgbClr val="DCD7CC"/>
          </a:solidFill>
          <a:ln/>
        </p:spPr>
      </p:sp>
      <p:sp>
        <p:nvSpPr>
          <p:cNvPr id="25" name="Text 23"/>
          <p:cNvSpPr/>
          <p:nvPr/>
        </p:nvSpPr>
        <p:spPr>
          <a:xfrm>
            <a:off x="10033397" y="3538984"/>
            <a:ext cx="1123950"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0F6B5E"/>
                </a:solidFill>
                <a:latin typeface="Noto Sans KR" pitchFamily="34" charset="0"/>
                <a:ea typeface="Noto Sans KR" pitchFamily="34" charset="-122"/>
                <a:cs typeface="Noto Sans KR" pitchFamily="34" charset="-120"/>
              </a:rPr>
              <a:t>매핑</a:t>
            </a:r>
            <a:endParaRPr lang="en-US" sz="1875" dirty="0"/>
          </a:p>
        </p:txBody>
      </p:sp>
      <p:sp>
        <p:nvSpPr>
          <p:cNvPr id="26" name="Text 24"/>
          <p:cNvSpPr/>
          <p:nvPr/>
        </p:nvSpPr>
        <p:spPr>
          <a:xfrm>
            <a:off x="11252597" y="3548509"/>
            <a:ext cx="3279458"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양방향 교차검증이 일치하는가</a:t>
            </a:r>
            <a:endParaRPr lang="en-US" sz="1875" dirty="0"/>
          </a:p>
        </p:txBody>
      </p:sp>
      <p:sp>
        <p:nvSpPr>
          <p:cNvPr id="27" name="Shape 25"/>
          <p:cNvSpPr/>
          <p:nvPr/>
        </p:nvSpPr>
        <p:spPr>
          <a:xfrm>
            <a:off x="10033397" y="4567684"/>
            <a:ext cx="6930628" cy="9525"/>
          </a:xfrm>
          <a:prstGeom prst="rect">
            <a:avLst/>
          </a:prstGeom>
          <a:solidFill>
            <a:srgbClr val="DCD7CC"/>
          </a:solidFill>
          <a:ln/>
        </p:spPr>
      </p:sp>
      <p:sp>
        <p:nvSpPr>
          <p:cNvPr id="28" name="Text 26"/>
          <p:cNvSpPr/>
          <p:nvPr/>
        </p:nvSpPr>
        <p:spPr>
          <a:xfrm>
            <a:off x="10033397" y="4120009"/>
            <a:ext cx="1123950"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0F6B5E"/>
                </a:solidFill>
                <a:latin typeface="Noto Sans KR" pitchFamily="34" charset="0"/>
                <a:ea typeface="Noto Sans KR" pitchFamily="34" charset="-122"/>
                <a:cs typeface="Noto Sans KR" pitchFamily="34" charset="-120"/>
              </a:rPr>
              <a:t>라벨</a:t>
            </a:r>
            <a:endParaRPr lang="en-US" sz="1875" dirty="0"/>
          </a:p>
        </p:txBody>
      </p:sp>
      <p:sp>
        <p:nvSpPr>
          <p:cNvPr id="29" name="Text 27"/>
          <p:cNvSpPr/>
          <p:nvPr/>
        </p:nvSpPr>
        <p:spPr>
          <a:xfrm>
            <a:off x="11252597" y="4129534"/>
            <a:ext cx="3870945"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dev 대조 정확도가 기준선 이상인가</a:t>
            </a:r>
            <a:endParaRPr lang="en-US" sz="1875" dirty="0"/>
          </a:p>
        </p:txBody>
      </p:sp>
      <p:sp>
        <p:nvSpPr>
          <p:cNvPr id="30" name="Shape 28"/>
          <p:cNvSpPr/>
          <p:nvPr/>
        </p:nvSpPr>
        <p:spPr>
          <a:xfrm>
            <a:off x="10033397" y="5148709"/>
            <a:ext cx="6930628" cy="9525"/>
          </a:xfrm>
          <a:prstGeom prst="rect">
            <a:avLst/>
          </a:prstGeom>
          <a:solidFill>
            <a:srgbClr val="DCD7CC"/>
          </a:solidFill>
          <a:ln/>
        </p:spPr>
      </p:sp>
      <p:sp>
        <p:nvSpPr>
          <p:cNvPr id="31" name="Text 29"/>
          <p:cNvSpPr/>
          <p:nvPr/>
        </p:nvSpPr>
        <p:spPr>
          <a:xfrm>
            <a:off x="10033397" y="4701034"/>
            <a:ext cx="1123950"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0F6B5E"/>
                </a:solidFill>
                <a:latin typeface="Noto Sans KR" pitchFamily="34" charset="0"/>
                <a:ea typeface="Noto Sans KR" pitchFamily="34" charset="-122"/>
                <a:cs typeface="Noto Sans KR" pitchFamily="34" charset="-120"/>
              </a:rPr>
              <a:t>사례</a:t>
            </a:r>
            <a:endParaRPr lang="en-US" sz="1875" dirty="0"/>
          </a:p>
        </p:txBody>
      </p:sp>
      <p:sp>
        <p:nvSpPr>
          <p:cNvPr id="32" name="Text 30"/>
          <p:cNvSpPr/>
          <p:nvPr/>
        </p:nvSpPr>
        <p:spPr>
          <a:xfrm>
            <a:off x="11252597" y="4710559"/>
            <a:ext cx="3667125"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뽑힌 사례가 실제로 경계 사례인가</a:t>
            </a:r>
            <a:endParaRPr lang="en-US" sz="1875" dirty="0"/>
          </a:p>
        </p:txBody>
      </p:sp>
      <p:sp>
        <p:nvSpPr>
          <p:cNvPr id="33" name="Shape 31"/>
          <p:cNvSpPr/>
          <p:nvPr/>
        </p:nvSpPr>
        <p:spPr>
          <a:xfrm>
            <a:off x="10033397" y="5729734"/>
            <a:ext cx="6930628" cy="9525"/>
          </a:xfrm>
          <a:prstGeom prst="rect">
            <a:avLst/>
          </a:prstGeom>
          <a:solidFill>
            <a:srgbClr val="DCD7CC"/>
          </a:solidFill>
          <a:ln/>
        </p:spPr>
      </p:sp>
      <p:sp>
        <p:nvSpPr>
          <p:cNvPr id="34" name="Text 32"/>
          <p:cNvSpPr/>
          <p:nvPr/>
        </p:nvSpPr>
        <p:spPr>
          <a:xfrm>
            <a:off x="10033397" y="5282059"/>
            <a:ext cx="1123950"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0F6B5E"/>
                </a:solidFill>
                <a:latin typeface="Noto Sans KR" pitchFamily="34" charset="0"/>
                <a:ea typeface="Noto Sans KR" pitchFamily="34" charset="-122"/>
                <a:cs typeface="Noto Sans KR" pitchFamily="34" charset="-120"/>
              </a:rPr>
              <a:t>프롬프트</a:t>
            </a:r>
            <a:endParaRPr lang="en-US" sz="1875" dirty="0"/>
          </a:p>
        </p:txBody>
      </p:sp>
      <p:sp>
        <p:nvSpPr>
          <p:cNvPr id="35" name="Text 33"/>
          <p:cNvSpPr/>
          <p:nvPr/>
        </p:nvSpPr>
        <p:spPr>
          <a:xfrm>
            <a:off x="11252597" y="5291584"/>
            <a:ext cx="4111928"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dev 점수가 이전보다 떨어지지 않는가</a:t>
            </a:r>
            <a:endParaRPr lang="en-US" sz="1875" dirty="0"/>
          </a:p>
        </p:txBody>
      </p:sp>
      <p:sp>
        <p:nvSpPr>
          <p:cNvPr id="36" name="Text 34"/>
          <p:cNvSpPr/>
          <p:nvPr/>
        </p:nvSpPr>
        <p:spPr>
          <a:xfrm>
            <a:off x="10033397" y="5863084"/>
            <a:ext cx="1123950"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0F6B5E"/>
                </a:solidFill>
                <a:latin typeface="Noto Sans KR" pitchFamily="34" charset="0"/>
                <a:ea typeface="Noto Sans KR" pitchFamily="34" charset="-122"/>
                <a:cs typeface="Noto Sans KR" pitchFamily="34" charset="-120"/>
              </a:rPr>
              <a:t>검색 질의</a:t>
            </a:r>
            <a:endParaRPr lang="en-US" sz="1875" dirty="0"/>
          </a:p>
        </p:txBody>
      </p:sp>
      <p:sp>
        <p:nvSpPr>
          <p:cNvPr id="37" name="Text 35"/>
          <p:cNvSpPr/>
          <p:nvPr/>
        </p:nvSpPr>
        <p:spPr>
          <a:xfrm>
            <a:off x="11252597" y="5872609"/>
            <a:ext cx="355662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dev에서 조문 적중률이 오르는가</a:t>
            </a:r>
            <a:endParaRPr lang="en-US" sz="1875" dirty="0"/>
          </a:p>
        </p:txBody>
      </p:sp>
      <p:sp>
        <p:nvSpPr>
          <p:cNvPr id="38" name="Shape 36"/>
          <p:cNvSpPr/>
          <p:nvPr/>
        </p:nvSpPr>
        <p:spPr>
          <a:xfrm>
            <a:off x="10033397" y="6367909"/>
            <a:ext cx="6930628" cy="1022747"/>
          </a:xfrm>
          <a:prstGeom prst="roundRect">
            <a:avLst>
              <a:gd name="adj" fmla="val 4657"/>
            </a:avLst>
          </a:prstGeom>
          <a:solidFill>
            <a:srgbClr val="EDE9E0"/>
          </a:solidFill>
          <a:ln/>
        </p:spPr>
      </p:sp>
      <p:sp>
        <p:nvSpPr>
          <p:cNvPr id="39" name="Text 37"/>
          <p:cNvSpPr/>
          <p:nvPr/>
        </p:nvSpPr>
        <p:spPr>
          <a:xfrm>
            <a:off x="10223897" y="6520309"/>
            <a:ext cx="6757547" cy="756047"/>
          </a:xfrm>
          <a:prstGeom prst="rect">
            <a:avLst/>
          </a:prstGeom>
          <a:noFill/>
          <a:ln/>
        </p:spPr>
        <p:txBody>
          <a:bodyPr wrap="square" lIns="25400" tIns="25400" rIns="25400" bIns="25400" rtlCol="0" anchor="t">
            <a:normAutofit/>
          </a:bodyPr>
          <a:lstStyle/>
          <a:p>
            <a:pPr algn="l" indent="0" marL="0">
              <a:lnSpc>
                <a:spcPct val="101892"/>
              </a:lnSpc>
              <a:buNone/>
            </a:pPr>
            <a:r>
              <a:rPr lang="en-US" sz="1950" b="1" dirty="0">
                <a:solidFill>
                  <a:srgbClr val="16202E"/>
                </a:solidFill>
                <a:latin typeface="Noto Sans KR" pitchFamily="34" charset="0"/>
                <a:ea typeface="Noto Sans KR" pitchFamily="34" charset="-122"/>
                <a:cs typeface="Noto Sans KR" pitchFamily="34" charset="-120"/>
              </a:rPr>
              <a:t>검토를 줄이는 것이 목표가 아니다 </a:t>
            </a:r>
            <a:pPr algn="l" indent="0" marL="0">
              <a:lnSpc>
                <a:spcPct val="101892"/>
              </a:lnSpc>
              <a:buNone/>
            </a:pPr>
            <a:r>
              <a:rPr lang="en-US" sz="1950" dirty="0">
                <a:solidFill>
                  <a:srgbClr val="3C4654"/>
                </a:solidFill>
                <a:highlight>
                  <a:srgbClr val="EDE9E0"/>
                </a:highlight>
                <a:latin typeface="Noto Sans KR" pitchFamily="34" charset="0"/>
                <a:ea typeface="Noto Sans KR" pitchFamily="34" charset="-122"/>
                <a:cs typeface="Noto Sans KR" pitchFamily="34" charset="-120"/>
              </a:rPr>
              <a:t>— 검토를 옳은 곳에 집중시키는 것이 목표다</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1028700" y="8001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FC3B2"/>
                </a:solidFill>
                <a:latin typeface="Noto Sans KR" pitchFamily="34" charset="0"/>
                <a:ea typeface="Noto Sans KR" pitchFamily="34" charset="-122"/>
                <a:cs typeface="Noto Sans KR" pitchFamily="34" charset="-120"/>
              </a:rPr>
              <a:t>사람이 반드시 하는 일</a:t>
            </a:r>
            <a:endParaRPr lang="en-US" sz="1950" dirty="0"/>
          </a:p>
        </p:txBody>
      </p:sp>
      <p:sp>
        <p:nvSpPr>
          <p:cNvPr id="3" name="Text 1"/>
          <p:cNvSpPr/>
          <p:nvPr/>
        </p:nvSpPr>
        <p:spPr>
          <a:xfrm>
            <a:off x="1028700" y="1285875"/>
            <a:ext cx="17183100" cy="710059"/>
          </a:xfrm>
          <a:prstGeom prst="rect">
            <a:avLst/>
          </a:prstGeom>
          <a:noFill/>
          <a:ln/>
        </p:spPr>
        <p:txBody>
          <a:bodyPr wrap="square" lIns="25400" tIns="25400" rIns="25400" bIns="25400" rtlCol="0" anchor="t">
            <a:normAutofit/>
          </a:bodyPr>
          <a:lstStyle/>
          <a:p>
            <a:pPr algn="l" indent="0" marL="0">
              <a:lnSpc>
                <a:spcPct val="87111"/>
              </a:lnSpc>
              <a:buNone/>
            </a:pPr>
            <a:r>
              <a:rPr lang="en-US" sz="4200" b="1" spc="-42" kern="0" dirty="0">
                <a:solidFill>
                  <a:srgbClr val="F6F4EF"/>
                </a:solidFill>
                <a:latin typeface="Noto Sans KR" pitchFamily="34" charset="0"/>
                <a:ea typeface="Noto Sans KR" pitchFamily="34" charset="-122"/>
                <a:cs typeface="Noto Sans KR" pitchFamily="34" charset="-120"/>
              </a:rPr>
              <a:t>자동화해도 사람만 할 수 있는 네 가지는 남는다</a:t>
            </a:r>
            <a:endParaRPr lang="en-US" sz="4200" dirty="0"/>
          </a:p>
        </p:txBody>
      </p:sp>
      <p:sp>
        <p:nvSpPr>
          <p:cNvPr id="4" name="Shape 2"/>
          <p:cNvSpPr/>
          <p:nvPr/>
        </p:nvSpPr>
        <p:spPr>
          <a:xfrm>
            <a:off x="1028700" y="2262634"/>
            <a:ext cx="4085183" cy="2671167"/>
          </a:xfrm>
          <a:prstGeom prst="roundRect">
            <a:avLst>
              <a:gd name="adj" fmla="val 2140"/>
            </a:avLst>
          </a:prstGeom>
          <a:solidFill>
            <a:srgbClr val="1E2B3B"/>
          </a:solidFill>
          <a:ln w="9525">
            <a:solidFill>
              <a:srgbClr val="33404F"/>
            </a:solidFill>
            <a:prstDash val="solid"/>
          </a:ln>
        </p:spPr>
      </p:sp>
      <p:sp>
        <p:nvSpPr>
          <p:cNvPr id="5" name="Text 3"/>
          <p:cNvSpPr/>
          <p:nvPr/>
        </p:nvSpPr>
        <p:spPr>
          <a:xfrm>
            <a:off x="1285875" y="2500759"/>
            <a:ext cx="3927917"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1 · 최종 승인</a:t>
            </a:r>
            <a:endParaRPr lang="en-US" sz="1800" dirty="0"/>
          </a:p>
        </p:txBody>
      </p:sp>
      <p:sp>
        <p:nvSpPr>
          <p:cNvPr id="6" name="Text 4"/>
          <p:cNvSpPr/>
          <p:nvPr/>
        </p:nvSpPr>
        <p:spPr>
          <a:xfrm>
            <a:off x="1285875" y="2929384"/>
            <a:ext cx="3677958" cy="731341"/>
          </a:xfrm>
          <a:prstGeom prst="rect">
            <a:avLst/>
          </a:prstGeom>
          <a:noFill/>
          <a:ln/>
        </p:spPr>
        <p:txBody>
          <a:bodyPr wrap="square" lIns="25400" tIns="25400" rIns="25400" bIns="25400" rtlCol="0" anchor="t">
            <a:normAutofit/>
          </a:bodyPr>
          <a:lstStyle/>
          <a:p>
            <a:pPr algn="l" indent="0" marL="0">
              <a:lnSpc>
                <a:spcPct val="91000"/>
              </a:lnSpc>
              <a:buNone/>
            </a:pPr>
            <a:r>
              <a:rPr lang="en-US" sz="2100" b="1" dirty="0">
                <a:solidFill>
                  <a:srgbClr val="F6F4EF"/>
                </a:solidFill>
                <a:latin typeface="Noto Sans KR" pitchFamily="34" charset="0"/>
                <a:ea typeface="Noto Sans KR" pitchFamily="34" charset="-122"/>
                <a:cs typeface="Noto Sans KR" pitchFamily="34" charset="-120"/>
              </a:rPr>
              <a:t>이 명세를 판정 기준으로 쓸지 결정</a:t>
            </a:r>
            <a:endParaRPr lang="en-US" sz="2100" dirty="0"/>
          </a:p>
        </p:txBody>
      </p:sp>
      <p:sp>
        <p:nvSpPr>
          <p:cNvPr id="7" name="Text 5"/>
          <p:cNvSpPr/>
          <p:nvPr/>
        </p:nvSpPr>
        <p:spPr>
          <a:xfrm>
            <a:off x="1285875" y="3717875"/>
            <a:ext cx="3927917"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C6CEDA"/>
                </a:solidFill>
                <a:latin typeface="Noto Sans KR" pitchFamily="34" charset="0"/>
                <a:ea typeface="Noto Sans KR" pitchFamily="34" charset="-122"/>
                <a:cs typeface="Noto Sans KR" pitchFamily="34" charset="-120"/>
              </a:rPr>
              <a:t>승인본에는 검토자 이름이 붙는다</a:t>
            </a:r>
            <a:endParaRPr lang="en-US" sz="1800" dirty="0"/>
          </a:p>
        </p:txBody>
      </p:sp>
      <p:sp>
        <p:nvSpPr>
          <p:cNvPr id="8" name="Shape 6"/>
          <p:cNvSpPr/>
          <p:nvPr/>
        </p:nvSpPr>
        <p:spPr>
          <a:xfrm>
            <a:off x="5285333" y="2262634"/>
            <a:ext cx="4085332" cy="2671167"/>
          </a:xfrm>
          <a:prstGeom prst="roundRect">
            <a:avLst>
              <a:gd name="adj" fmla="val 2140"/>
            </a:avLst>
          </a:prstGeom>
          <a:solidFill>
            <a:srgbClr val="1E2B3B"/>
          </a:solidFill>
          <a:ln w="9525">
            <a:solidFill>
              <a:srgbClr val="33404F"/>
            </a:solidFill>
            <a:prstDash val="solid"/>
          </a:ln>
        </p:spPr>
      </p:sp>
      <p:sp>
        <p:nvSpPr>
          <p:cNvPr id="9" name="Text 7"/>
          <p:cNvSpPr/>
          <p:nvPr/>
        </p:nvSpPr>
        <p:spPr>
          <a:xfrm>
            <a:off x="5542508" y="2500759"/>
            <a:ext cx="392808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2 · 규칙 판단</a:t>
            </a:r>
            <a:endParaRPr lang="en-US" sz="1800" dirty="0"/>
          </a:p>
        </p:txBody>
      </p:sp>
      <p:sp>
        <p:nvSpPr>
          <p:cNvPr id="10" name="Text 8"/>
          <p:cNvSpPr/>
          <p:nvPr/>
        </p:nvSpPr>
        <p:spPr>
          <a:xfrm>
            <a:off x="5542508" y="2929384"/>
            <a:ext cx="3928080" cy="384721"/>
          </a:xfrm>
          <a:prstGeom prst="rect">
            <a:avLst/>
          </a:prstGeom>
          <a:noFill/>
          <a:ln/>
        </p:spPr>
        <p:txBody>
          <a:bodyPr wrap="square" lIns="25400" tIns="25400" rIns="25400" bIns="25400" rtlCol="0" anchor="t">
            <a:normAutofit/>
          </a:bodyPr>
          <a:lstStyle/>
          <a:p>
            <a:pPr algn="l" indent="0" marL="0">
              <a:lnSpc>
                <a:spcPct val="91000"/>
              </a:lnSpc>
              <a:buNone/>
            </a:pPr>
            <a:r>
              <a:rPr lang="en-US" sz="2100" b="1" dirty="0">
                <a:solidFill>
                  <a:srgbClr val="F6F4EF"/>
                </a:solidFill>
                <a:latin typeface="Noto Sans KR" pitchFamily="34" charset="0"/>
                <a:ea typeface="Noto Sans KR" pitchFamily="34" charset="-122"/>
                <a:cs typeface="Noto Sans KR" pitchFamily="34" charset="-120"/>
              </a:rPr>
              <a:t>이 방식이 규칙에 걸리는가</a:t>
            </a:r>
            <a:endParaRPr lang="en-US" sz="2100" dirty="0"/>
          </a:p>
        </p:txBody>
      </p:sp>
      <p:sp>
        <p:nvSpPr>
          <p:cNvPr id="11" name="Text 9"/>
          <p:cNvSpPr/>
          <p:nvPr/>
        </p:nvSpPr>
        <p:spPr>
          <a:xfrm>
            <a:off x="5542508" y="3371255"/>
            <a:ext cx="3678111" cy="678061"/>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C6CEDA"/>
                </a:solidFill>
                <a:latin typeface="Noto Sans KR" pitchFamily="34" charset="0"/>
                <a:ea typeface="Noto Sans KR" pitchFamily="34" charset="-122"/>
                <a:cs typeface="Noto Sans KR" pitchFamily="34" charset="-120"/>
              </a:rPr>
              <a:t>애매하면 운영진 질의 — 위반은 무효다</a:t>
            </a:r>
            <a:endParaRPr lang="en-US" sz="1800" dirty="0"/>
          </a:p>
        </p:txBody>
      </p:sp>
      <p:sp>
        <p:nvSpPr>
          <p:cNvPr id="12" name="Shape 10"/>
          <p:cNvSpPr/>
          <p:nvPr/>
        </p:nvSpPr>
        <p:spPr>
          <a:xfrm>
            <a:off x="1028700" y="5105251"/>
            <a:ext cx="4085183" cy="2324695"/>
          </a:xfrm>
          <a:prstGeom prst="roundRect">
            <a:avLst>
              <a:gd name="adj" fmla="val 2458"/>
            </a:avLst>
          </a:prstGeom>
          <a:solidFill>
            <a:srgbClr val="1E2B3B"/>
          </a:solidFill>
          <a:ln w="9525">
            <a:solidFill>
              <a:srgbClr val="33404F"/>
            </a:solidFill>
            <a:prstDash val="solid"/>
          </a:ln>
        </p:spPr>
      </p:sp>
      <p:sp>
        <p:nvSpPr>
          <p:cNvPr id="13" name="Text 11"/>
          <p:cNvSpPr/>
          <p:nvPr/>
        </p:nvSpPr>
        <p:spPr>
          <a:xfrm>
            <a:off x="1285875" y="5343376"/>
            <a:ext cx="3927917"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3 · 이상 감지</a:t>
            </a:r>
            <a:endParaRPr lang="en-US" sz="1800" dirty="0"/>
          </a:p>
        </p:txBody>
      </p:sp>
      <p:sp>
        <p:nvSpPr>
          <p:cNvPr id="14" name="Text 12"/>
          <p:cNvSpPr/>
          <p:nvPr/>
        </p:nvSpPr>
        <p:spPr>
          <a:xfrm>
            <a:off x="1285875" y="5772001"/>
            <a:ext cx="3927917" cy="384721"/>
          </a:xfrm>
          <a:prstGeom prst="rect">
            <a:avLst/>
          </a:prstGeom>
          <a:noFill/>
          <a:ln/>
        </p:spPr>
        <p:txBody>
          <a:bodyPr wrap="square" lIns="25400" tIns="25400" rIns="25400" bIns="25400" rtlCol="0" anchor="t">
            <a:normAutofit/>
          </a:bodyPr>
          <a:lstStyle/>
          <a:p>
            <a:pPr algn="l" indent="0" marL="0">
              <a:lnSpc>
                <a:spcPct val="91000"/>
              </a:lnSpc>
              <a:buNone/>
            </a:pPr>
            <a:r>
              <a:rPr lang="en-US" sz="2100" b="1" dirty="0">
                <a:solidFill>
                  <a:srgbClr val="F6F4EF"/>
                </a:solidFill>
                <a:latin typeface="Noto Sans KR" pitchFamily="34" charset="0"/>
                <a:ea typeface="Noto Sans KR" pitchFamily="34" charset="-122"/>
                <a:cs typeface="Noto Sans KR" pitchFamily="34" charset="-120"/>
              </a:rPr>
              <a:t>그럴듯한데 뭔가 이상하다</a:t>
            </a:r>
            <a:endParaRPr lang="en-US" sz="2100" dirty="0"/>
          </a:p>
        </p:txBody>
      </p:sp>
      <p:sp>
        <p:nvSpPr>
          <p:cNvPr id="15" name="Text 13"/>
          <p:cNvSpPr/>
          <p:nvPr/>
        </p:nvSpPr>
        <p:spPr>
          <a:xfrm>
            <a:off x="1285875" y="6213872"/>
            <a:ext cx="3927917"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C6CEDA"/>
                </a:solidFill>
                <a:latin typeface="Noto Sans KR" pitchFamily="34" charset="0"/>
                <a:ea typeface="Noto Sans KR" pitchFamily="34" charset="-122"/>
                <a:cs typeface="Noto Sans KR" pitchFamily="34" charset="-120"/>
              </a:rPr>
              <a:t>API는 자기 출력에 대해 이걸 못 한다</a:t>
            </a:r>
            <a:endParaRPr lang="en-US" sz="1800" dirty="0"/>
          </a:p>
        </p:txBody>
      </p:sp>
      <p:sp>
        <p:nvSpPr>
          <p:cNvPr id="16" name="Shape 14"/>
          <p:cNvSpPr/>
          <p:nvPr/>
        </p:nvSpPr>
        <p:spPr>
          <a:xfrm>
            <a:off x="5285333" y="5105251"/>
            <a:ext cx="4085332" cy="2324695"/>
          </a:xfrm>
          <a:prstGeom prst="roundRect">
            <a:avLst>
              <a:gd name="adj" fmla="val 2458"/>
            </a:avLst>
          </a:prstGeom>
          <a:solidFill>
            <a:srgbClr val="1E2B3B"/>
          </a:solidFill>
          <a:ln w="9525">
            <a:solidFill>
              <a:srgbClr val="33404F"/>
            </a:solidFill>
            <a:prstDash val="solid"/>
          </a:ln>
        </p:spPr>
      </p:sp>
      <p:sp>
        <p:nvSpPr>
          <p:cNvPr id="17" name="Text 15"/>
          <p:cNvSpPr/>
          <p:nvPr/>
        </p:nvSpPr>
        <p:spPr>
          <a:xfrm>
            <a:off x="5542508" y="5343376"/>
            <a:ext cx="392808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4 · 제출 결정</a:t>
            </a:r>
            <a:endParaRPr lang="en-US" sz="1800" dirty="0"/>
          </a:p>
        </p:txBody>
      </p:sp>
      <p:sp>
        <p:nvSpPr>
          <p:cNvPr id="18" name="Text 16"/>
          <p:cNvSpPr/>
          <p:nvPr/>
        </p:nvSpPr>
        <p:spPr>
          <a:xfrm>
            <a:off x="5542508" y="5772001"/>
            <a:ext cx="3928080" cy="384721"/>
          </a:xfrm>
          <a:prstGeom prst="rect">
            <a:avLst/>
          </a:prstGeom>
          <a:noFill/>
          <a:ln/>
        </p:spPr>
        <p:txBody>
          <a:bodyPr wrap="square" lIns="25400" tIns="25400" rIns="25400" bIns="25400" rtlCol="0" anchor="t">
            <a:normAutofit/>
          </a:bodyPr>
          <a:lstStyle/>
          <a:p>
            <a:pPr algn="l" indent="0" marL="0">
              <a:lnSpc>
                <a:spcPct val="91000"/>
              </a:lnSpc>
              <a:buNone/>
            </a:pPr>
            <a:r>
              <a:rPr lang="en-US" sz="2100" b="1" dirty="0">
                <a:solidFill>
                  <a:srgbClr val="F6F4EF"/>
                </a:solidFill>
                <a:latin typeface="Noto Sans KR" pitchFamily="34" charset="0"/>
                <a:ea typeface="Noto Sans KR" pitchFamily="34" charset="-122"/>
                <a:cs typeface="Noto Sans KR" pitchFamily="34" charset="-120"/>
              </a:rPr>
              <a:t>오늘 무엇을 제출하는가</a:t>
            </a:r>
            <a:endParaRPr lang="en-US" sz="2100" dirty="0"/>
          </a:p>
        </p:txBody>
      </p:sp>
      <p:sp>
        <p:nvSpPr>
          <p:cNvPr id="19" name="Text 17"/>
          <p:cNvSpPr/>
          <p:nvPr/>
        </p:nvSpPr>
        <p:spPr>
          <a:xfrm>
            <a:off x="5542508" y="6213872"/>
            <a:ext cx="3928080" cy="358080"/>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C6CEDA"/>
                </a:solidFill>
                <a:latin typeface="Noto Sans KR" pitchFamily="34" charset="0"/>
                <a:ea typeface="Noto Sans KR" pitchFamily="34" charset="-122"/>
                <a:cs typeface="Noto Sans KR" pitchFamily="34" charset="-120"/>
              </a:rPr>
              <a:t>지금 버전이 안정적인지 판단</a:t>
            </a:r>
            <a:endParaRPr lang="en-US" sz="1800" dirty="0"/>
          </a:p>
        </p:txBody>
      </p:sp>
      <p:sp>
        <p:nvSpPr>
          <p:cNvPr id="20" name="Shape 18"/>
          <p:cNvSpPr/>
          <p:nvPr/>
        </p:nvSpPr>
        <p:spPr>
          <a:xfrm>
            <a:off x="9675465" y="2262634"/>
            <a:ext cx="7583835" cy="5167313"/>
          </a:xfrm>
          <a:prstGeom prst="roundRect">
            <a:avLst>
              <a:gd name="adj" fmla="val 1106"/>
            </a:avLst>
          </a:prstGeom>
          <a:solidFill>
            <a:srgbClr val="1E2B3B"/>
          </a:solidFill>
          <a:ln w="9525">
            <a:solidFill>
              <a:srgbClr val="33404F"/>
            </a:solidFill>
            <a:prstDash val="solid"/>
          </a:ln>
        </p:spPr>
      </p:sp>
      <p:sp>
        <p:nvSpPr>
          <p:cNvPr id="21" name="Text 19"/>
          <p:cNvSpPr/>
          <p:nvPr/>
        </p:nvSpPr>
        <p:spPr>
          <a:xfrm>
            <a:off x="9970740" y="2519809"/>
            <a:ext cx="7692613"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명세 검토 체크리스트 — 항목당 몇 분</a:t>
            </a:r>
            <a:endParaRPr lang="en-US" sz="1800" dirty="0"/>
          </a:p>
        </p:txBody>
      </p:sp>
      <p:sp>
        <p:nvSpPr>
          <p:cNvPr id="22" name="Shape 20"/>
          <p:cNvSpPr/>
          <p:nvPr/>
        </p:nvSpPr>
        <p:spPr>
          <a:xfrm>
            <a:off x="9970740" y="3421707"/>
            <a:ext cx="6993285" cy="9525"/>
          </a:xfrm>
          <a:prstGeom prst="rect">
            <a:avLst/>
          </a:prstGeom>
          <a:solidFill>
            <a:srgbClr val="33404F"/>
          </a:solidFill>
          <a:ln/>
        </p:spPr>
      </p:sp>
      <p:sp>
        <p:nvSpPr>
          <p:cNvPr id="23" name="Text 21"/>
          <p:cNvSpPr/>
          <p:nvPr/>
        </p:nvSpPr>
        <p:spPr>
          <a:xfrm>
            <a:off x="9970740" y="2967484"/>
            <a:ext cx="7203083"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F6F4EF"/>
                </a:solidFill>
                <a:latin typeface="Noto Sans KR" pitchFamily="34" charset="0"/>
                <a:ea typeface="Noto Sans KR" pitchFamily="34" charset="-122"/>
                <a:cs typeface="Noto Sans KR" pitchFamily="34" charset="-120"/>
              </a:rPr>
              <a:t>① 조건·예외가 조문에 </a:t>
            </a:r>
            <a:pPr algn="l" indent="0" marL="0">
              <a:lnSpc>
                <a:spcPct val="101892"/>
              </a:lnSpc>
              <a:buNone/>
            </a:pPr>
            <a:r>
              <a:rPr lang="en-US" sz="1950" b="1" dirty="0">
                <a:solidFill>
                  <a:srgbClr val="6FC3B2"/>
                </a:solidFill>
                <a:latin typeface="Noto Sans KR" pitchFamily="34" charset="0"/>
                <a:ea typeface="Noto Sans KR" pitchFamily="34" charset="-122"/>
                <a:cs typeface="Noto Sans KR" pitchFamily="34" charset="-120"/>
              </a:rPr>
              <a:t>실제로 있는 문장</a:t>
            </a:r>
            <a:pPr algn="l" indent="0" marL="0">
              <a:lnSpc>
                <a:spcPct val="101892"/>
              </a:lnSpc>
              <a:buNone/>
            </a:pPr>
            <a:r>
              <a:rPr lang="en-US" sz="1950" dirty="0">
                <a:solidFill>
                  <a:srgbClr val="F6F4EF"/>
                </a:solidFill>
                <a:latin typeface="Noto Sans KR" pitchFamily="34" charset="0"/>
                <a:ea typeface="Noto Sans KR" pitchFamily="34" charset="-122"/>
                <a:cs typeface="Noto Sans KR" pitchFamily="34" charset="-120"/>
              </a:rPr>
              <a:t>인가</a:t>
            </a:r>
            <a:endParaRPr lang="en-US" sz="1950" dirty="0"/>
          </a:p>
        </p:txBody>
      </p:sp>
      <p:sp>
        <p:nvSpPr>
          <p:cNvPr id="24" name="Shape 22"/>
          <p:cNvSpPr/>
          <p:nvPr/>
        </p:nvSpPr>
        <p:spPr>
          <a:xfrm>
            <a:off x="9970740" y="3999756"/>
            <a:ext cx="6993285" cy="9525"/>
          </a:xfrm>
          <a:prstGeom prst="rect">
            <a:avLst/>
          </a:prstGeom>
          <a:solidFill>
            <a:srgbClr val="33404F"/>
          </a:solidFill>
          <a:ln/>
        </p:spPr>
      </p:sp>
      <p:sp>
        <p:nvSpPr>
          <p:cNvPr id="25" name="Text 23"/>
          <p:cNvSpPr/>
          <p:nvPr/>
        </p:nvSpPr>
        <p:spPr>
          <a:xfrm>
            <a:off x="9970740" y="3545532"/>
            <a:ext cx="7203083"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F6F4EF"/>
                </a:solidFill>
                <a:latin typeface="Noto Sans KR" pitchFamily="34" charset="0"/>
                <a:ea typeface="Noto Sans KR" pitchFamily="34" charset="-122"/>
                <a:cs typeface="Noto Sans KR" pitchFamily="34" charset="-120"/>
              </a:rPr>
              <a:t>② "다만" 단서 같은 예외를 빠뜨리지 않았나</a:t>
            </a:r>
            <a:endParaRPr lang="en-US" sz="1950" dirty="0"/>
          </a:p>
        </p:txBody>
      </p:sp>
      <p:sp>
        <p:nvSpPr>
          <p:cNvPr id="26" name="Shape 24"/>
          <p:cNvSpPr/>
          <p:nvPr/>
        </p:nvSpPr>
        <p:spPr>
          <a:xfrm>
            <a:off x="9970740" y="4577804"/>
            <a:ext cx="6993285" cy="9525"/>
          </a:xfrm>
          <a:prstGeom prst="rect">
            <a:avLst/>
          </a:prstGeom>
          <a:solidFill>
            <a:srgbClr val="33404F"/>
          </a:solidFill>
          <a:ln/>
        </p:spPr>
      </p:sp>
      <p:sp>
        <p:nvSpPr>
          <p:cNvPr id="27" name="Text 25"/>
          <p:cNvSpPr/>
          <p:nvPr/>
        </p:nvSpPr>
        <p:spPr>
          <a:xfrm>
            <a:off x="9970740" y="4123581"/>
            <a:ext cx="7203083"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F6F4EF"/>
                </a:solidFill>
                <a:latin typeface="Noto Sans KR" pitchFamily="34" charset="0"/>
                <a:ea typeface="Noto Sans KR" pitchFamily="34" charset="-122"/>
                <a:cs typeface="Noto Sans KR" pitchFamily="34" charset="-120"/>
              </a:rPr>
              <a:t>③ 정보가 없을 때(null·미입력) 처리가 있나</a:t>
            </a:r>
            <a:endParaRPr lang="en-US" sz="1950" dirty="0"/>
          </a:p>
        </p:txBody>
      </p:sp>
      <p:sp>
        <p:nvSpPr>
          <p:cNvPr id="28" name="Shape 26"/>
          <p:cNvSpPr/>
          <p:nvPr/>
        </p:nvSpPr>
        <p:spPr>
          <a:xfrm>
            <a:off x="9970740" y="5155853"/>
            <a:ext cx="6993285" cy="9525"/>
          </a:xfrm>
          <a:prstGeom prst="rect">
            <a:avLst/>
          </a:prstGeom>
          <a:solidFill>
            <a:srgbClr val="33404F"/>
          </a:solidFill>
          <a:ln/>
        </p:spPr>
      </p:sp>
      <p:sp>
        <p:nvSpPr>
          <p:cNvPr id="29" name="Text 27"/>
          <p:cNvSpPr/>
          <p:nvPr/>
        </p:nvSpPr>
        <p:spPr>
          <a:xfrm>
            <a:off x="9970740" y="4701629"/>
            <a:ext cx="7203083"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F6F4EF"/>
                </a:solidFill>
                <a:latin typeface="Noto Sans KR" pitchFamily="34" charset="0"/>
                <a:ea typeface="Noto Sans KR" pitchFamily="34" charset="-122"/>
                <a:cs typeface="Noto Sans KR" pitchFamily="34" charset="-120"/>
              </a:rPr>
              <a:t>④ 근거 위치가 실제 문서에 있는 위치인가</a:t>
            </a:r>
            <a:endParaRPr lang="en-US" sz="1950" dirty="0"/>
          </a:p>
        </p:txBody>
      </p:sp>
      <p:sp>
        <p:nvSpPr>
          <p:cNvPr id="30" name="Text 28"/>
          <p:cNvSpPr/>
          <p:nvPr/>
        </p:nvSpPr>
        <p:spPr>
          <a:xfrm>
            <a:off x="9970740" y="5279678"/>
            <a:ext cx="7692613"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F6F4EF"/>
                </a:solidFill>
                <a:latin typeface="Noto Sans KR" pitchFamily="34" charset="0"/>
                <a:ea typeface="Noto Sans KR" pitchFamily="34" charset="-122"/>
                <a:cs typeface="Noto Sans KR" pitchFamily="34" charset="-120"/>
              </a:rPr>
              <a:t>⑤ 다른 항목과 기준이 충돌하지 않나</a:t>
            </a:r>
            <a:endParaRPr lang="en-US" sz="1950" dirty="0"/>
          </a:p>
        </p:txBody>
      </p:sp>
      <p:sp>
        <p:nvSpPr>
          <p:cNvPr id="31" name="Shape 29"/>
          <p:cNvSpPr/>
          <p:nvPr/>
        </p:nvSpPr>
        <p:spPr>
          <a:xfrm>
            <a:off x="9970740" y="5791051"/>
            <a:ext cx="6993285" cy="1381720"/>
          </a:xfrm>
          <a:prstGeom prst="roundRect">
            <a:avLst>
              <a:gd name="adj" fmla="val 2757"/>
            </a:avLst>
          </a:prstGeom>
          <a:solidFill>
            <a:srgbClr val="2A1F1C"/>
          </a:solidFill>
          <a:ln/>
        </p:spPr>
      </p:sp>
      <p:sp>
        <p:nvSpPr>
          <p:cNvPr id="32" name="Shape 30"/>
          <p:cNvSpPr/>
          <p:nvPr/>
        </p:nvSpPr>
        <p:spPr>
          <a:xfrm>
            <a:off x="9970740" y="5791051"/>
            <a:ext cx="28575" cy="1381720"/>
          </a:xfrm>
          <a:prstGeom prst="rect">
            <a:avLst/>
          </a:prstGeom>
          <a:solidFill>
            <a:srgbClr val="E8A08D"/>
          </a:solidFill>
          <a:ln/>
        </p:spPr>
      </p:sp>
      <p:sp>
        <p:nvSpPr>
          <p:cNvPr id="33" name="Text 31"/>
          <p:cNvSpPr/>
          <p:nvPr/>
        </p:nvSpPr>
        <p:spPr>
          <a:xfrm>
            <a:off x="10189815" y="5943451"/>
            <a:ext cx="6793508" cy="1115020"/>
          </a:xfrm>
          <a:prstGeom prst="rect">
            <a:avLst/>
          </a:prstGeom>
          <a:noFill/>
          <a:ln/>
        </p:spPr>
        <p:txBody>
          <a:bodyPr wrap="square" lIns="25400" tIns="25400" rIns="25400" bIns="25400" rtlCol="0" anchor="t">
            <a:normAutofit/>
          </a:bodyPr>
          <a:lstStyle/>
          <a:p>
            <a:pPr algn="l" indent="0" marL="0">
              <a:lnSpc>
                <a:spcPct val="101892"/>
              </a:lnSpc>
              <a:buNone/>
            </a:pPr>
            <a:r>
              <a:rPr lang="en-US" sz="1950" b="1" dirty="0">
                <a:solidFill>
                  <a:srgbClr val="E8A08D"/>
                </a:solidFill>
                <a:latin typeface="Noto Sans KR" pitchFamily="34" charset="0"/>
                <a:ea typeface="Noto Sans KR" pitchFamily="34" charset="-122"/>
                <a:cs typeface="Noto Sans KR" pitchFamily="34" charset="-120"/>
              </a:rPr>
              <a:t>검토자가 통과시킨 산출물의 책임은 검토자에게 있다 </a:t>
            </a:r>
            <a:pPr algn="l" indent="0" marL="0">
              <a:lnSpc>
                <a:spcPct val="101892"/>
              </a:lnSpc>
              <a:buNone/>
            </a:pPr>
            <a:r>
              <a:rPr lang="en-US" sz="1950" dirty="0">
                <a:solidFill>
                  <a:srgbClr val="F0DDD7"/>
                </a:solidFill>
                <a:highlight>
                  <a:srgbClr val="2A1F1C"/>
                </a:highlight>
                <a:latin typeface="Noto Sans KR" pitchFamily="34" charset="0"/>
                <a:ea typeface="Noto Sans KR" pitchFamily="34" charset="-122"/>
                <a:cs typeface="Noto Sans KR" pitchFamily="34" charset="-120"/>
              </a:rPr>
              <a:t>— "API가 만들었다"는 변명이 되지 않는다. 이것이 자동화를 안전하게 만드는 유일한 장치다.</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78105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역할 — 공정 오너십</a:t>
            </a:r>
            <a:endParaRPr lang="en-US" sz="1950" dirty="0"/>
          </a:p>
        </p:txBody>
      </p:sp>
      <p:sp>
        <p:nvSpPr>
          <p:cNvPr id="3" name="Text 1"/>
          <p:cNvSpPr/>
          <p:nvPr/>
        </p:nvSpPr>
        <p:spPr>
          <a:xfrm>
            <a:off x="1028700" y="1266825"/>
            <a:ext cx="16973550" cy="710059"/>
          </a:xfrm>
          <a:prstGeom prst="rect">
            <a:avLst/>
          </a:prstGeom>
          <a:noFill/>
          <a:ln/>
        </p:spPr>
        <p:txBody>
          <a:bodyPr wrap="square" lIns="25400" tIns="25400" rIns="25400" bIns="25400" rtlCol="0" anchor="t">
            <a:normAutofit/>
          </a:bodyPr>
          <a:lstStyle/>
          <a:p>
            <a:pPr algn="l" indent="0" marL="0">
              <a:lnSpc>
                <a:spcPct val="87111"/>
              </a:lnSpc>
              <a:buNone/>
            </a:pPr>
            <a:r>
              <a:rPr lang="en-US" sz="4200" b="1" spc="-42" kern="0" dirty="0">
                <a:solidFill>
                  <a:srgbClr val="16202E"/>
                </a:solidFill>
                <a:latin typeface="Noto Sans KR" pitchFamily="34" charset="0"/>
                <a:ea typeface="Noto Sans KR" pitchFamily="34" charset="-122"/>
                <a:cs typeface="Noto Sans KR" pitchFamily="34" charset="-120"/>
              </a:rPr>
              <a:t>각자 공장 라인 하나를 맡고, 그 산출물을 책임진다</a:t>
            </a:r>
            <a:endParaRPr lang="en-US" sz="4200" dirty="0"/>
          </a:p>
        </p:txBody>
      </p:sp>
      <p:sp>
        <p:nvSpPr>
          <p:cNvPr id="4" name="Shape 2"/>
          <p:cNvSpPr/>
          <p:nvPr/>
        </p:nvSpPr>
        <p:spPr>
          <a:xfrm>
            <a:off x="1028700" y="2224534"/>
            <a:ext cx="3124200" cy="3794224"/>
          </a:xfrm>
          <a:prstGeom prst="roundRect">
            <a:avLst>
              <a:gd name="adj" fmla="val 1829"/>
            </a:avLst>
          </a:prstGeom>
          <a:solidFill>
            <a:srgbClr val="16202E"/>
          </a:solidFill>
          <a:ln/>
        </p:spPr>
      </p:sp>
      <p:sp>
        <p:nvSpPr>
          <p:cNvPr id="5" name="Text 3"/>
          <p:cNvSpPr/>
          <p:nvPr/>
        </p:nvSpPr>
        <p:spPr>
          <a:xfrm>
            <a:off x="1238250" y="2453134"/>
            <a:ext cx="297561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통합 · 리더(나)</a:t>
            </a:r>
            <a:endParaRPr lang="en-US" sz="1800" dirty="0"/>
          </a:p>
        </p:txBody>
      </p:sp>
      <p:sp>
        <p:nvSpPr>
          <p:cNvPr id="6" name="Text 4"/>
          <p:cNvSpPr/>
          <p:nvPr/>
        </p:nvSpPr>
        <p:spPr>
          <a:xfrm>
            <a:off x="1238250" y="2891284"/>
            <a:ext cx="2975610" cy="372368"/>
          </a:xfrm>
          <a:prstGeom prst="rect">
            <a:avLst/>
          </a:prstGeom>
          <a:noFill/>
          <a:ln/>
        </p:spPr>
        <p:txBody>
          <a:bodyPr wrap="square" lIns="25400" tIns="25400" rIns="25400" bIns="25400" rtlCol="0" anchor="t">
            <a:normAutofit/>
          </a:bodyPr>
          <a:lstStyle/>
          <a:p>
            <a:pPr algn="l" indent="0" marL="0">
              <a:lnSpc>
                <a:spcPct val="90000"/>
              </a:lnSpc>
              <a:buNone/>
            </a:pPr>
            <a:r>
              <a:rPr lang="en-US" sz="2025" b="1" dirty="0">
                <a:solidFill>
                  <a:srgbClr val="F6F4EF"/>
                </a:solidFill>
                <a:latin typeface="Noto Sans KR" pitchFamily="34" charset="0"/>
                <a:ea typeface="Noto Sans KR" pitchFamily="34" charset="-122"/>
                <a:cs typeface="Noto Sans KR" pitchFamily="34" charset="-120"/>
              </a:rPr>
              <a:t>환경 · 제출 · 공정 운영</a:t>
            </a:r>
            <a:endParaRPr lang="en-US" sz="2025" dirty="0"/>
          </a:p>
        </p:txBody>
      </p:sp>
      <p:sp>
        <p:nvSpPr>
          <p:cNvPr id="7" name="Text 5"/>
          <p:cNvSpPr/>
          <p:nvPr/>
        </p:nvSpPr>
        <p:spPr>
          <a:xfrm>
            <a:off x="1238250" y="3330327"/>
            <a:ext cx="2786253" cy="1318022"/>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C6CEDA"/>
                </a:solidFill>
                <a:latin typeface="Noto Sans KR" pitchFamily="34" charset="0"/>
                <a:ea typeface="Noto Sans KR" pitchFamily="34" charset="-122"/>
                <a:cs typeface="Noto Sans KR" pitchFamily="34" charset="-120"/>
              </a:rPr>
              <a:t>실행 환경, 모듈 간 규격, 코드 검토, submit.zip, 정상 작동 버전 보관, 공정 스크립트 관리</a:t>
            </a:r>
            <a:endParaRPr lang="en-US" sz="1800" dirty="0"/>
          </a:p>
        </p:txBody>
      </p:sp>
      <p:sp>
        <p:nvSpPr>
          <p:cNvPr id="8" name="Shape 6"/>
          <p:cNvSpPr/>
          <p:nvPr/>
        </p:nvSpPr>
        <p:spPr>
          <a:xfrm>
            <a:off x="1238250" y="4715024"/>
            <a:ext cx="2705100" cy="9525"/>
          </a:xfrm>
          <a:prstGeom prst="rect">
            <a:avLst/>
          </a:prstGeom>
          <a:solidFill>
            <a:srgbClr val="33404F"/>
          </a:solidFill>
          <a:ln/>
        </p:spPr>
      </p:sp>
      <p:sp>
        <p:nvSpPr>
          <p:cNvPr id="9" name="Text 7"/>
          <p:cNvSpPr/>
          <p:nvPr/>
        </p:nvSpPr>
        <p:spPr>
          <a:xfrm>
            <a:off x="1238250" y="4819799"/>
            <a:ext cx="2786253" cy="65514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8FA0B1"/>
                </a:solidFill>
                <a:latin typeface="Noto Sans KR" pitchFamily="34" charset="0"/>
                <a:ea typeface="Noto Sans KR" pitchFamily="34" charset="-122"/>
                <a:cs typeface="Noto Sans KR" pitchFamily="34" charset="-120"/>
              </a:rPr>
              <a:t>script.py · pipeline/ · 공정 오케스트레이션</a:t>
            </a:r>
            <a:endParaRPr lang="en-US" sz="1800" dirty="0"/>
          </a:p>
        </p:txBody>
      </p:sp>
      <p:sp>
        <p:nvSpPr>
          <p:cNvPr id="10" name="Shape 8"/>
          <p:cNvSpPr/>
          <p:nvPr/>
        </p:nvSpPr>
        <p:spPr>
          <a:xfrm>
            <a:off x="4305300" y="2224534"/>
            <a:ext cx="3124200" cy="3794224"/>
          </a:xfrm>
          <a:prstGeom prst="roundRect">
            <a:avLst>
              <a:gd name="adj" fmla="val 1829"/>
            </a:avLst>
          </a:prstGeom>
          <a:solidFill>
            <a:srgbClr val="FFFFFF"/>
          </a:solidFill>
          <a:ln w="9525">
            <a:solidFill>
              <a:srgbClr val="E3DED3"/>
            </a:solidFill>
            <a:prstDash val="solid"/>
          </a:ln>
        </p:spPr>
      </p:sp>
      <p:sp>
        <p:nvSpPr>
          <p:cNvPr id="11" name="Text 9"/>
          <p:cNvSpPr/>
          <p:nvPr/>
        </p:nvSpPr>
        <p:spPr>
          <a:xfrm>
            <a:off x="4524375" y="2462659"/>
            <a:ext cx="295465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명세 오너 · 라인 ①②</a:t>
            </a:r>
            <a:endParaRPr lang="en-US" sz="1800" dirty="0"/>
          </a:p>
        </p:txBody>
      </p:sp>
      <p:sp>
        <p:nvSpPr>
          <p:cNvPr id="12" name="Text 10"/>
          <p:cNvSpPr/>
          <p:nvPr/>
        </p:nvSpPr>
        <p:spPr>
          <a:xfrm>
            <a:off x="4524375" y="2900809"/>
            <a:ext cx="2766632" cy="706636"/>
          </a:xfrm>
          <a:prstGeom prst="rect">
            <a:avLst/>
          </a:prstGeom>
          <a:noFill/>
          <a:ln/>
        </p:spPr>
        <p:txBody>
          <a:bodyPr wrap="square" lIns="25400" tIns="25400" rIns="25400" bIns="25400" rtlCol="0" anchor="t">
            <a:normAutofit/>
          </a:bodyPr>
          <a:lstStyle/>
          <a:p>
            <a:pPr algn="l" indent="0" marL="0">
              <a:lnSpc>
                <a:spcPct val="90000"/>
              </a:lnSpc>
              <a:buNone/>
            </a:pPr>
            <a:r>
              <a:rPr lang="en-US" sz="2025" b="1" dirty="0">
                <a:solidFill>
                  <a:srgbClr val="16202E"/>
                </a:solidFill>
                <a:latin typeface="Noto Sans KR" pitchFamily="34" charset="0"/>
                <a:ea typeface="Noto Sans KR" pitchFamily="34" charset="-122"/>
                <a:cs typeface="Noto Sans KR" pitchFamily="34" charset="-120"/>
              </a:rPr>
              <a:t>24항목 판정 기준의 승인권</a:t>
            </a:r>
            <a:endParaRPr lang="en-US" sz="2025" dirty="0"/>
          </a:p>
        </p:txBody>
      </p:sp>
      <p:sp>
        <p:nvSpPr>
          <p:cNvPr id="13" name="Text 11"/>
          <p:cNvSpPr/>
          <p:nvPr/>
        </p:nvSpPr>
        <p:spPr>
          <a:xfrm>
            <a:off x="4524375" y="3674120"/>
            <a:ext cx="2766632" cy="1318022"/>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3C4654"/>
                </a:solidFill>
                <a:latin typeface="Noto Sans KR" pitchFamily="34" charset="0"/>
                <a:ea typeface="Noto Sans KR" pitchFamily="34" charset="-122"/>
                <a:cs typeface="Noto Sans KR" pitchFamily="34" charset="-120"/>
              </a:rPr>
              <a:t>명세 초안 생성·검토·승인, 조문 매핑 교차검증. 조문 문장으로 근거를 댈 수 있어야 통과시킨다.</a:t>
            </a:r>
            <a:endParaRPr lang="en-US" sz="1800" dirty="0"/>
          </a:p>
        </p:txBody>
      </p:sp>
      <p:sp>
        <p:nvSpPr>
          <p:cNvPr id="14" name="Shape 12"/>
          <p:cNvSpPr/>
          <p:nvPr/>
        </p:nvSpPr>
        <p:spPr>
          <a:xfrm>
            <a:off x="4524375" y="5058817"/>
            <a:ext cx="2686050" cy="9525"/>
          </a:xfrm>
          <a:prstGeom prst="rect">
            <a:avLst/>
          </a:prstGeom>
          <a:solidFill>
            <a:srgbClr val="DCD7CC"/>
          </a:solidFill>
          <a:ln/>
        </p:spPr>
      </p:sp>
      <p:sp>
        <p:nvSpPr>
          <p:cNvPr id="15" name="Text 13"/>
          <p:cNvSpPr/>
          <p:nvPr/>
        </p:nvSpPr>
        <p:spPr>
          <a:xfrm>
            <a:off x="4524375" y="5163592"/>
            <a:ext cx="2766632" cy="65514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7C8492"/>
                </a:solidFill>
                <a:latin typeface="Noto Sans KR" pitchFamily="34" charset="0"/>
                <a:ea typeface="Noto Sans KR" pitchFamily="34" charset="-122"/>
                <a:cs typeface="Noto Sans KR" pitchFamily="34" charset="-120"/>
              </a:rPr>
              <a:t>specs/ · rules/ · gen_spec.py</a:t>
            </a:r>
            <a:endParaRPr lang="en-US" sz="1800" dirty="0"/>
          </a:p>
        </p:txBody>
      </p:sp>
      <p:sp>
        <p:nvSpPr>
          <p:cNvPr id="16" name="Shape 14"/>
          <p:cNvSpPr/>
          <p:nvPr/>
        </p:nvSpPr>
        <p:spPr>
          <a:xfrm>
            <a:off x="7581900" y="2224534"/>
            <a:ext cx="3124200" cy="3794224"/>
          </a:xfrm>
          <a:prstGeom prst="roundRect">
            <a:avLst>
              <a:gd name="adj" fmla="val 1829"/>
            </a:avLst>
          </a:prstGeom>
          <a:solidFill>
            <a:srgbClr val="FFFFFF"/>
          </a:solidFill>
          <a:ln w="9525">
            <a:solidFill>
              <a:srgbClr val="E3DED3"/>
            </a:solidFill>
            <a:prstDash val="solid"/>
          </a:ln>
        </p:spPr>
      </p:sp>
      <p:sp>
        <p:nvSpPr>
          <p:cNvPr id="17" name="Text 15"/>
          <p:cNvSpPr/>
          <p:nvPr/>
        </p:nvSpPr>
        <p:spPr>
          <a:xfrm>
            <a:off x="7800975" y="2462659"/>
            <a:ext cx="295465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라벨 오너 · 라인 ③④</a:t>
            </a:r>
            <a:endParaRPr lang="en-US" sz="1800" dirty="0"/>
          </a:p>
        </p:txBody>
      </p:sp>
      <p:sp>
        <p:nvSpPr>
          <p:cNvPr id="18" name="Text 16"/>
          <p:cNvSpPr/>
          <p:nvPr/>
        </p:nvSpPr>
        <p:spPr>
          <a:xfrm>
            <a:off x="7800975" y="2900809"/>
            <a:ext cx="2766632" cy="706636"/>
          </a:xfrm>
          <a:prstGeom prst="rect">
            <a:avLst/>
          </a:prstGeom>
          <a:noFill/>
          <a:ln/>
        </p:spPr>
        <p:txBody>
          <a:bodyPr wrap="square" lIns="25400" tIns="25400" rIns="25400" bIns="25400" rtlCol="0" anchor="t">
            <a:normAutofit/>
          </a:bodyPr>
          <a:lstStyle/>
          <a:p>
            <a:pPr algn="l" indent="0" marL="0">
              <a:lnSpc>
                <a:spcPct val="90000"/>
              </a:lnSpc>
              <a:buNone/>
            </a:pPr>
            <a:r>
              <a:rPr lang="en-US" sz="2025" b="1" dirty="0">
                <a:solidFill>
                  <a:srgbClr val="16202E"/>
                </a:solidFill>
                <a:latin typeface="Noto Sans KR" pitchFamily="34" charset="0"/>
                <a:ea typeface="Noto Sans KR" pitchFamily="34" charset="-122"/>
                <a:cs typeface="Noto Sans KR" pitchFamily="34" charset="-120"/>
              </a:rPr>
              <a:t>20,000건 라벨의 품질을 보증</a:t>
            </a:r>
            <a:endParaRPr lang="en-US" sz="2025" dirty="0"/>
          </a:p>
        </p:txBody>
      </p:sp>
      <p:sp>
        <p:nvSpPr>
          <p:cNvPr id="19" name="Text 17"/>
          <p:cNvSpPr/>
          <p:nvPr/>
        </p:nvSpPr>
        <p:spPr>
          <a:xfrm>
            <a:off x="7800975" y="3674120"/>
            <a:ext cx="2766632" cy="1318022"/>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3C4654"/>
                </a:solidFill>
                <a:latin typeface="Noto Sans KR" pitchFamily="34" charset="0"/>
                <a:ea typeface="Noto Sans KR" pitchFamily="34" charset="-122"/>
                <a:cs typeface="Noto Sans KR" pitchFamily="34" charset="-120"/>
              </a:rPr>
              <a:t>dev 200건으로 기준선 측정, 2만 건 라벨링 실행, 경계·함정 사례 발굴과 분류.</a:t>
            </a:r>
            <a:endParaRPr lang="en-US" sz="1800" dirty="0"/>
          </a:p>
        </p:txBody>
      </p:sp>
      <p:sp>
        <p:nvSpPr>
          <p:cNvPr id="20" name="Shape 18"/>
          <p:cNvSpPr/>
          <p:nvPr/>
        </p:nvSpPr>
        <p:spPr>
          <a:xfrm>
            <a:off x="7800975" y="5058817"/>
            <a:ext cx="2686050" cy="9525"/>
          </a:xfrm>
          <a:prstGeom prst="rect">
            <a:avLst/>
          </a:prstGeom>
          <a:solidFill>
            <a:srgbClr val="DCD7CC"/>
          </a:solidFill>
          <a:ln/>
        </p:spPr>
      </p:sp>
      <p:sp>
        <p:nvSpPr>
          <p:cNvPr id="21" name="Text 19"/>
          <p:cNvSpPr/>
          <p:nvPr/>
        </p:nvSpPr>
        <p:spPr>
          <a:xfrm>
            <a:off x="7800975" y="5163592"/>
            <a:ext cx="2766632" cy="65514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7C8492"/>
                </a:solidFill>
                <a:latin typeface="Noto Sans KR" pitchFamily="34" charset="0"/>
                <a:ea typeface="Noto Sans KR" pitchFamily="34" charset="-122"/>
                <a:cs typeface="Noto Sans KR" pitchFamily="34" charset="-120"/>
              </a:rPr>
              <a:t>labels/ · cases/ · gen_label.py</a:t>
            </a:r>
            <a:endParaRPr lang="en-US" sz="1800" dirty="0"/>
          </a:p>
        </p:txBody>
      </p:sp>
      <p:sp>
        <p:nvSpPr>
          <p:cNvPr id="22" name="Shape 20"/>
          <p:cNvSpPr/>
          <p:nvPr/>
        </p:nvSpPr>
        <p:spPr>
          <a:xfrm>
            <a:off x="10858500" y="2224534"/>
            <a:ext cx="3124200" cy="3794224"/>
          </a:xfrm>
          <a:prstGeom prst="roundRect">
            <a:avLst>
              <a:gd name="adj" fmla="val 1829"/>
            </a:avLst>
          </a:prstGeom>
          <a:solidFill>
            <a:srgbClr val="FFFFFF"/>
          </a:solidFill>
          <a:ln w="9525">
            <a:solidFill>
              <a:srgbClr val="E3DED3"/>
            </a:solidFill>
            <a:prstDash val="solid"/>
          </a:ln>
        </p:spPr>
      </p:sp>
      <p:sp>
        <p:nvSpPr>
          <p:cNvPr id="23" name="Text 21"/>
          <p:cNvSpPr/>
          <p:nvPr/>
        </p:nvSpPr>
        <p:spPr>
          <a:xfrm>
            <a:off x="11077575" y="2462659"/>
            <a:ext cx="295465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프롬프트 오너 · 라인 ⑤⑥</a:t>
            </a:r>
            <a:endParaRPr lang="en-US" sz="1800" dirty="0"/>
          </a:p>
        </p:txBody>
      </p:sp>
      <p:sp>
        <p:nvSpPr>
          <p:cNvPr id="24" name="Text 22"/>
          <p:cNvSpPr/>
          <p:nvPr/>
        </p:nvSpPr>
        <p:spPr>
          <a:xfrm>
            <a:off x="11077575" y="2900809"/>
            <a:ext cx="2766632" cy="706636"/>
          </a:xfrm>
          <a:prstGeom prst="rect">
            <a:avLst/>
          </a:prstGeom>
          <a:noFill/>
          <a:ln/>
        </p:spPr>
        <p:txBody>
          <a:bodyPr wrap="square" lIns="25400" tIns="25400" rIns="25400" bIns="25400" rtlCol="0" anchor="t">
            <a:normAutofit/>
          </a:bodyPr>
          <a:lstStyle/>
          <a:p>
            <a:pPr algn="l" indent="0" marL="0">
              <a:lnSpc>
                <a:spcPct val="90000"/>
              </a:lnSpc>
              <a:buNone/>
            </a:pPr>
            <a:r>
              <a:rPr lang="en-US" sz="2025" b="1" dirty="0">
                <a:solidFill>
                  <a:srgbClr val="16202E"/>
                </a:solidFill>
                <a:latin typeface="Noto Sans KR" pitchFamily="34" charset="0"/>
                <a:ea typeface="Noto Sans KR" pitchFamily="34" charset="-122"/>
                <a:cs typeface="Noto Sans KR" pitchFamily="34" charset="-120"/>
              </a:rPr>
              <a:t>근거가 프롬프트에 들어가게</a:t>
            </a:r>
            <a:endParaRPr lang="en-US" sz="2025" dirty="0"/>
          </a:p>
        </p:txBody>
      </p:sp>
      <p:sp>
        <p:nvSpPr>
          <p:cNvPr id="25" name="Text 23"/>
          <p:cNvSpPr/>
          <p:nvPr/>
        </p:nvSpPr>
        <p:spPr>
          <a:xfrm>
            <a:off x="11077575" y="3674120"/>
            <a:ext cx="2766632" cy="998041"/>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3C4654"/>
                </a:solidFill>
                <a:latin typeface="Noto Sans KR" pitchFamily="34" charset="0"/>
                <a:ea typeface="Noto Sans KR" pitchFamily="34" charset="-122"/>
                <a:cs typeface="Noto Sans KR" pitchFamily="34" charset="-120"/>
              </a:rPr>
              <a:t>명세→지시문 변환, 항목별 검색 질의 생성, 문서 선택·길이 예산 조정.</a:t>
            </a:r>
            <a:endParaRPr lang="en-US" sz="1800" dirty="0"/>
          </a:p>
        </p:txBody>
      </p:sp>
      <p:sp>
        <p:nvSpPr>
          <p:cNvPr id="26" name="Shape 24"/>
          <p:cNvSpPr/>
          <p:nvPr/>
        </p:nvSpPr>
        <p:spPr>
          <a:xfrm>
            <a:off x="11077575" y="4738836"/>
            <a:ext cx="2686050" cy="9525"/>
          </a:xfrm>
          <a:prstGeom prst="rect">
            <a:avLst/>
          </a:prstGeom>
          <a:solidFill>
            <a:srgbClr val="DCD7CC"/>
          </a:solidFill>
          <a:ln/>
        </p:spPr>
      </p:sp>
      <p:sp>
        <p:nvSpPr>
          <p:cNvPr id="27" name="Text 25"/>
          <p:cNvSpPr/>
          <p:nvPr/>
        </p:nvSpPr>
        <p:spPr>
          <a:xfrm>
            <a:off x="11077575" y="4843611"/>
            <a:ext cx="2766632" cy="65514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7C8492"/>
                </a:solidFill>
                <a:latin typeface="Noto Sans KR" pitchFamily="34" charset="0"/>
                <a:ea typeface="Noto Sans KR" pitchFamily="34" charset="-122"/>
                <a:cs typeface="Noto Sans KR" pitchFamily="34" charset="-120"/>
              </a:rPr>
              <a:t>prompts/ · input.py · retrieve.py</a:t>
            </a:r>
            <a:endParaRPr lang="en-US" sz="1800" dirty="0"/>
          </a:p>
        </p:txBody>
      </p:sp>
      <p:sp>
        <p:nvSpPr>
          <p:cNvPr id="28" name="Shape 26"/>
          <p:cNvSpPr/>
          <p:nvPr/>
        </p:nvSpPr>
        <p:spPr>
          <a:xfrm>
            <a:off x="14135100" y="2224534"/>
            <a:ext cx="3124200" cy="3794224"/>
          </a:xfrm>
          <a:prstGeom prst="roundRect">
            <a:avLst>
              <a:gd name="adj" fmla="val 1829"/>
            </a:avLst>
          </a:prstGeom>
          <a:solidFill>
            <a:srgbClr val="FFFFFF"/>
          </a:solidFill>
          <a:ln w="9525">
            <a:solidFill>
              <a:srgbClr val="E3DED3"/>
            </a:solidFill>
            <a:prstDash val="solid"/>
          </a:ln>
        </p:spPr>
      </p:sp>
      <p:sp>
        <p:nvSpPr>
          <p:cNvPr id="29" name="Text 27"/>
          <p:cNvSpPr/>
          <p:nvPr/>
        </p:nvSpPr>
        <p:spPr>
          <a:xfrm>
            <a:off x="14354175" y="2462659"/>
            <a:ext cx="2954655"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실험 오너 · 라인 ⑦⑧</a:t>
            </a:r>
            <a:endParaRPr lang="en-US" sz="1800" dirty="0"/>
          </a:p>
        </p:txBody>
      </p:sp>
      <p:sp>
        <p:nvSpPr>
          <p:cNvPr id="30" name="Text 28"/>
          <p:cNvSpPr/>
          <p:nvPr/>
        </p:nvSpPr>
        <p:spPr>
          <a:xfrm>
            <a:off x="14354175" y="2900809"/>
            <a:ext cx="2954655" cy="372368"/>
          </a:xfrm>
          <a:prstGeom prst="rect">
            <a:avLst/>
          </a:prstGeom>
          <a:noFill/>
          <a:ln/>
        </p:spPr>
        <p:txBody>
          <a:bodyPr wrap="square" lIns="25400" tIns="25400" rIns="25400" bIns="25400" rtlCol="0" anchor="t">
            <a:normAutofit/>
          </a:bodyPr>
          <a:lstStyle/>
          <a:p>
            <a:pPr algn="l" indent="0" marL="0">
              <a:lnSpc>
                <a:spcPct val="90000"/>
              </a:lnSpc>
              <a:buNone/>
            </a:pPr>
            <a:r>
              <a:rPr lang="en-US" sz="2025" b="1" dirty="0">
                <a:solidFill>
                  <a:srgbClr val="16202E"/>
                </a:solidFill>
                <a:latin typeface="Noto Sans KR" pitchFamily="34" charset="0"/>
                <a:ea typeface="Noto Sans KR" pitchFamily="34" charset="-122"/>
                <a:cs typeface="Noto Sans KR" pitchFamily="34" charset="-120"/>
              </a:rPr>
              <a:t>무엇이 효과였는지 판정</a:t>
            </a:r>
            <a:endParaRPr lang="en-US" sz="2025" dirty="0"/>
          </a:p>
        </p:txBody>
      </p:sp>
      <p:sp>
        <p:nvSpPr>
          <p:cNvPr id="31" name="Text 29"/>
          <p:cNvSpPr/>
          <p:nvPr/>
        </p:nvSpPr>
        <p:spPr>
          <a:xfrm>
            <a:off x="14354175" y="3339852"/>
            <a:ext cx="2766632" cy="1318022"/>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3C4654"/>
                </a:solidFill>
                <a:latin typeface="Noto Sans KR" pitchFamily="34" charset="0"/>
                <a:ea typeface="Noto Sans KR" pitchFamily="34" charset="-122"/>
                <a:cs typeface="Noto Sans KR" pitchFamily="34" charset="-120"/>
              </a:rPr>
              <a:t>dev 채점과 24항목 점수표, 오답 9유형 자동 분류, 실행시간 측정, 2차 평가 기록 정리.</a:t>
            </a:r>
            <a:endParaRPr lang="en-US" sz="1800" dirty="0"/>
          </a:p>
        </p:txBody>
      </p:sp>
      <p:sp>
        <p:nvSpPr>
          <p:cNvPr id="32" name="Shape 30"/>
          <p:cNvSpPr/>
          <p:nvPr/>
        </p:nvSpPr>
        <p:spPr>
          <a:xfrm>
            <a:off x="14354175" y="4724549"/>
            <a:ext cx="2686050" cy="9525"/>
          </a:xfrm>
          <a:prstGeom prst="rect">
            <a:avLst/>
          </a:prstGeom>
          <a:solidFill>
            <a:srgbClr val="DCD7CC"/>
          </a:solidFill>
          <a:ln/>
        </p:spPr>
      </p:sp>
      <p:sp>
        <p:nvSpPr>
          <p:cNvPr id="33" name="Text 31"/>
          <p:cNvSpPr/>
          <p:nvPr/>
        </p:nvSpPr>
        <p:spPr>
          <a:xfrm>
            <a:off x="14354175" y="4829324"/>
            <a:ext cx="2766632" cy="655141"/>
          </a:xfrm>
          <a:prstGeom prst="rect">
            <a:avLst/>
          </a:prstGeom>
          <a:noFill/>
          <a:ln/>
        </p:spPr>
        <p:txBody>
          <a:bodyPr wrap="square" lIns="25400" tIns="25400" rIns="25400" bIns="25400" rtlCol="0" anchor="t">
            <a:normAutofit/>
          </a:bodyPr>
          <a:lstStyle/>
          <a:p>
            <a:pPr algn="l" indent="0" marL="0">
              <a:lnSpc>
                <a:spcPct val="92571"/>
              </a:lnSpc>
              <a:buNone/>
            </a:pPr>
            <a:r>
              <a:rPr lang="en-US" sz="1800" dirty="0">
                <a:solidFill>
                  <a:srgbClr val="7C8492"/>
                </a:solidFill>
                <a:latin typeface="Noto Sans KR" pitchFamily="34" charset="0"/>
                <a:ea typeface="Noto Sans KR" pitchFamily="34" charset="-122"/>
                <a:cs typeface="Noto Sans KR" pitchFamily="34" charset="-120"/>
              </a:rPr>
              <a:t>score_dev.py · configs/ · reports/</a:t>
            </a:r>
            <a:endParaRPr lang="en-US" sz="1800" dirty="0"/>
          </a:p>
        </p:txBody>
      </p:sp>
      <p:sp>
        <p:nvSpPr>
          <p:cNvPr id="34" name="Shape 32"/>
          <p:cNvSpPr/>
          <p:nvPr/>
        </p:nvSpPr>
        <p:spPr>
          <a:xfrm>
            <a:off x="1028700" y="6304508"/>
            <a:ext cx="8830717" cy="1164729"/>
          </a:xfrm>
          <a:prstGeom prst="roundRect">
            <a:avLst>
              <a:gd name="adj" fmla="val 4907"/>
            </a:avLst>
          </a:prstGeom>
          <a:solidFill>
            <a:srgbClr val="EDE9E0"/>
          </a:solidFill>
          <a:ln/>
        </p:spPr>
      </p:sp>
      <p:sp>
        <p:nvSpPr>
          <p:cNvPr id="35" name="Text 33"/>
          <p:cNvSpPr/>
          <p:nvPr/>
        </p:nvSpPr>
        <p:spPr>
          <a:xfrm>
            <a:off x="1295400" y="6514058"/>
            <a:ext cx="8562238" cy="783729"/>
          </a:xfrm>
          <a:prstGeom prst="rect">
            <a:avLst/>
          </a:prstGeom>
          <a:noFill/>
          <a:ln/>
        </p:spPr>
        <p:txBody>
          <a:bodyPr wrap="square" lIns="25400" tIns="25400" rIns="25400" bIns="25400" rtlCol="0" anchor="t">
            <a:normAutofit/>
          </a:bodyPr>
          <a:lstStyle/>
          <a:p>
            <a:pPr algn="l" indent="0" marL="0">
              <a:lnSpc>
                <a:spcPct val="100385"/>
              </a:lnSpc>
              <a:buNone/>
            </a:pPr>
            <a:r>
              <a:rPr lang="en-US" sz="2025" b="1" dirty="0">
                <a:solidFill>
                  <a:srgbClr val="16202E"/>
                </a:solidFill>
                <a:latin typeface="Noto Sans KR" pitchFamily="34" charset="0"/>
                <a:ea typeface="Noto Sans KR" pitchFamily="34" charset="-122"/>
                <a:cs typeface="Noto Sans KR" pitchFamily="34" charset="-120"/>
              </a:rPr>
              <a:t>전원이 코드를 직접 만진다 </a:t>
            </a:r>
            <a:pPr algn="l" indent="0" marL="0">
              <a:lnSpc>
                <a:spcPct val="100385"/>
              </a:lnSpc>
              <a:buNone/>
            </a:pPr>
            <a:r>
              <a:rPr lang="en-US" sz="2025" dirty="0">
                <a:solidFill>
                  <a:srgbClr val="3C4654"/>
                </a:solidFill>
                <a:highlight>
                  <a:srgbClr val="EDE9E0"/>
                </a:highlight>
                <a:latin typeface="Noto Sans KR" pitchFamily="34" charset="0"/>
                <a:ea typeface="Noto Sans KR" pitchFamily="34" charset="-122"/>
                <a:cs typeface="Noto Sans KR" pitchFamily="34" charset="-120"/>
              </a:rPr>
              <a:t>— AI 코딩 도구로 자기 라인의 스크립트를 만들고 고친다. 통합 담당이 대신 써주지 않는다.</a:t>
            </a:r>
            <a:endParaRPr lang="en-US" sz="2025" dirty="0"/>
          </a:p>
        </p:txBody>
      </p:sp>
      <p:sp>
        <p:nvSpPr>
          <p:cNvPr id="36" name="Shape 34"/>
          <p:cNvSpPr/>
          <p:nvPr/>
        </p:nvSpPr>
        <p:spPr>
          <a:xfrm>
            <a:off x="10068967" y="6304508"/>
            <a:ext cx="7190333" cy="1164729"/>
          </a:xfrm>
          <a:prstGeom prst="roundRect">
            <a:avLst>
              <a:gd name="adj" fmla="val 4907"/>
            </a:avLst>
          </a:prstGeom>
          <a:solidFill>
            <a:srgbClr val="FFFFFF"/>
          </a:solidFill>
          <a:ln w="9525">
            <a:solidFill>
              <a:srgbClr val="E3DED3"/>
            </a:solidFill>
            <a:prstDash val="solid"/>
          </a:ln>
        </p:spPr>
      </p:sp>
      <p:sp>
        <p:nvSpPr>
          <p:cNvPr id="37" name="Text 35"/>
          <p:cNvSpPr/>
          <p:nvPr/>
        </p:nvSpPr>
        <p:spPr>
          <a:xfrm>
            <a:off x="10345192" y="6523583"/>
            <a:ext cx="6853593" cy="764679"/>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highlight>
                  <a:srgbClr val="FFFFFF"/>
                </a:highlight>
                <a:latin typeface="Noto Sans KR" pitchFamily="34" charset="0"/>
                <a:ea typeface="Noto Sans KR" pitchFamily="34" charset="-122"/>
                <a:cs typeface="Noto Sans KR" pitchFamily="34" charset="-120"/>
              </a:rPr>
              <a:t>역할 이름이 "분석가"가 아니라 </a:t>
            </a:r>
            <a:pPr algn="l" indent="0" marL="0">
              <a:lnSpc>
                <a:spcPct val="101892"/>
              </a:lnSpc>
              <a:buNone/>
            </a:pPr>
            <a:r>
              <a:rPr lang="en-US" sz="1950" b="1" dirty="0">
                <a:solidFill>
                  <a:srgbClr val="16202E"/>
                </a:solidFill>
                <a:latin typeface="Noto Sans KR" pitchFamily="34" charset="0"/>
                <a:ea typeface="Noto Sans KR" pitchFamily="34" charset="-122"/>
                <a:cs typeface="Noto Sans KR" pitchFamily="34" charset="-120"/>
              </a:rPr>
              <a:t>"오너" </a:t>
            </a:r>
            <a:pPr algn="l" indent="0" marL="0">
              <a:lnSpc>
                <a:spcPct val="101892"/>
              </a:lnSpc>
              <a:buNone/>
            </a:pPr>
            <a:r>
              <a:rPr lang="en-US" sz="1950" dirty="0">
                <a:solidFill>
                  <a:srgbClr val="3C4654"/>
                </a:solidFill>
                <a:highlight>
                  <a:srgbClr val="FFFFFF"/>
                </a:highlight>
                <a:latin typeface="Noto Sans KR" pitchFamily="34" charset="0"/>
                <a:ea typeface="Noto Sans KR" pitchFamily="34" charset="-122"/>
                <a:cs typeface="Noto Sans KR" pitchFamily="34" charset="-120"/>
              </a:rPr>
              <a:t>인 이유 — 만드는 사람이 아니라 </a:t>
            </a:r>
            <a:pPr algn="l" indent="0" marL="0">
              <a:lnSpc>
                <a:spcPct val="101892"/>
              </a:lnSpc>
              <a:buNone/>
            </a:pPr>
            <a:r>
              <a:rPr lang="en-US" sz="1950" b="1" dirty="0">
                <a:solidFill>
                  <a:srgbClr val="16202E"/>
                </a:solidFill>
                <a:latin typeface="Noto Sans KR" pitchFamily="34" charset="0"/>
                <a:ea typeface="Noto Sans KR" pitchFamily="34" charset="-122"/>
                <a:cs typeface="Noto Sans KR" pitchFamily="34" charset="-120"/>
              </a:rPr>
              <a:t>통과시킬지 판단하는 사람</a:t>
            </a:r>
            <a:pPr algn="l" indent="0" marL="0">
              <a:lnSpc>
                <a:spcPct val="101892"/>
              </a:lnSpc>
              <a:buNone/>
            </a:pPr>
            <a:r>
              <a:rPr lang="en-US" sz="1950" dirty="0">
                <a:solidFill>
                  <a:srgbClr val="3C4654"/>
                </a:solidFill>
                <a:highlight>
                  <a:srgbClr val="FFFFFF"/>
                </a:highlight>
                <a:latin typeface="Noto Sans KR" pitchFamily="34" charset="0"/>
                <a:ea typeface="Noto Sans KR" pitchFamily="34" charset="-122"/>
                <a:cs typeface="Noto Sans KR" pitchFamily="34" charset="-120"/>
              </a:rPr>
              <a:t>이다</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001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충돌 없이 동시에 작업하는 방법</a:t>
            </a:r>
            <a:endParaRPr lang="en-US" sz="1950" dirty="0"/>
          </a:p>
        </p:txBody>
      </p:sp>
      <p:sp>
        <p:nvSpPr>
          <p:cNvPr id="3" name="Text 1"/>
          <p:cNvSpPr/>
          <p:nvPr/>
        </p:nvSpPr>
        <p:spPr>
          <a:xfrm>
            <a:off x="1028700" y="1285875"/>
            <a:ext cx="16973550" cy="710059"/>
          </a:xfrm>
          <a:prstGeom prst="rect">
            <a:avLst/>
          </a:prstGeom>
          <a:noFill/>
          <a:ln/>
        </p:spPr>
        <p:txBody>
          <a:bodyPr wrap="square" lIns="25400" tIns="25400" rIns="25400" bIns="25400" rtlCol="0" anchor="t">
            <a:normAutofit/>
          </a:bodyPr>
          <a:lstStyle/>
          <a:p>
            <a:pPr algn="l" indent="0" marL="0">
              <a:lnSpc>
                <a:spcPct val="87111"/>
              </a:lnSpc>
              <a:buNone/>
            </a:pPr>
            <a:r>
              <a:rPr lang="en-US" sz="4200" b="1" spc="-42" kern="0" dirty="0">
                <a:solidFill>
                  <a:srgbClr val="16202E"/>
                </a:solidFill>
                <a:latin typeface="Noto Sans KR" pitchFamily="34" charset="0"/>
                <a:ea typeface="Noto Sans KR" pitchFamily="34" charset="-122"/>
                <a:cs typeface="Noto Sans KR" pitchFamily="34" charset="-120"/>
              </a:rPr>
              <a:t>공정 경계를 그대로 파일 경계로 쓴다</a:t>
            </a:r>
            <a:endParaRPr lang="en-US" sz="4200" dirty="0"/>
          </a:p>
        </p:txBody>
      </p:sp>
      <p:sp>
        <p:nvSpPr>
          <p:cNvPr id="4" name="Text 2"/>
          <p:cNvSpPr/>
          <p:nvPr/>
        </p:nvSpPr>
        <p:spPr>
          <a:xfrm>
            <a:off x="1028700" y="2243584"/>
            <a:ext cx="9176162"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파일 소유권 지도 (첫날 리더가 분할해 올린다)</a:t>
            </a:r>
            <a:endParaRPr lang="en-US" sz="1800" dirty="0"/>
          </a:p>
        </p:txBody>
      </p:sp>
      <p:sp>
        <p:nvSpPr>
          <p:cNvPr id="5" name="Shape 3"/>
          <p:cNvSpPr/>
          <p:nvPr/>
        </p:nvSpPr>
        <p:spPr>
          <a:xfrm>
            <a:off x="1028700" y="2700784"/>
            <a:ext cx="8341965" cy="3600450"/>
          </a:xfrm>
          <a:prstGeom prst="roundRect">
            <a:avLst>
              <a:gd name="adj" fmla="val 1587"/>
            </a:avLst>
          </a:prstGeom>
          <a:solidFill>
            <a:srgbClr val="FFFFFF"/>
          </a:solidFill>
          <a:ln w="9525">
            <a:solidFill>
              <a:srgbClr val="E3DED3"/>
            </a:solidFill>
            <a:prstDash val="solid"/>
          </a:ln>
        </p:spPr>
      </p:sp>
      <p:sp>
        <p:nvSpPr>
          <p:cNvPr id="6" name="Shape 4"/>
          <p:cNvSpPr/>
          <p:nvPr/>
        </p:nvSpPr>
        <p:spPr>
          <a:xfrm>
            <a:off x="1285875" y="3367534"/>
            <a:ext cx="7827615" cy="9525"/>
          </a:xfrm>
          <a:prstGeom prst="rect">
            <a:avLst/>
          </a:prstGeom>
          <a:solidFill>
            <a:srgbClr val="DCD7CC"/>
          </a:solidFill>
          <a:ln/>
        </p:spPr>
      </p:sp>
      <p:sp>
        <p:nvSpPr>
          <p:cNvPr id="7" name="Text 5"/>
          <p:cNvSpPr/>
          <p:nvPr/>
        </p:nvSpPr>
        <p:spPr>
          <a:xfrm>
            <a:off x="1285875" y="2919859"/>
            <a:ext cx="2619375"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16202E"/>
                </a:solidFill>
                <a:latin typeface="Noto Sans KR" pitchFamily="34" charset="0"/>
                <a:ea typeface="Noto Sans KR" pitchFamily="34" charset="-122"/>
                <a:cs typeface="Noto Sans KR" pitchFamily="34" charset="-120"/>
              </a:rPr>
              <a:t>script.py · pipeline/</a:t>
            </a:r>
            <a:endParaRPr lang="en-US" sz="1950" dirty="0"/>
          </a:p>
        </p:txBody>
      </p:sp>
      <p:sp>
        <p:nvSpPr>
          <p:cNvPr id="8" name="Text 6"/>
          <p:cNvSpPr/>
          <p:nvPr/>
        </p:nvSpPr>
        <p:spPr>
          <a:xfrm>
            <a:off x="8117681" y="2919859"/>
            <a:ext cx="1072009" cy="390525"/>
          </a:xfrm>
          <a:prstGeom prst="rect">
            <a:avLst/>
          </a:prstGeom>
          <a:noFill/>
          <a:ln/>
        </p:spPr>
        <p:txBody>
          <a:bodyPr wrap="none" lIns="25400" tIns="25400" rIns="25400" bIns="25400" rtlCol="0" anchor="t">
            <a:normAutofit/>
          </a:bodyPr>
          <a:lstStyle/>
          <a:p>
            <a:pPr algn="l" indent="0" marL="0">
              <a:buNone/>
            </a:pPr>
            <a:r>
              <a:rPr lang="en-US" sz="1800" dirty="0">
                <a:solidFill>
                  <a:srgbClr val="0F6B5E"/>
                </a:solidFill>
                <a:latin typeface="Noto Sans KR" pitchFamily="34" charset="0"/>
                <a:ea typeface="Noto Sans KR" pitchFamily="34" charset="-122"/>
                <a:cs typeface="Noto Sans KR" pitchFamily="34" charset="-120"/>
              </a:rPr>
              <a:t>통합(리더)</a:t>
            </a:r>
            <a:endParaRPr lang="en-US" sz="1800" dirty="0"/>
          </a:p>
        </p:txBody>
      </p:sp>
      <p:sp>
        <p:nvSpPr>
          <p:cNvPr id="9" name="Shape 7"/>
          <p:cNvSpPr/>
          <p:nvPr/>
        </p:nvSpPr>
        <p:spPr>
          <a:xfrm>
            <a:off x="1285875" y="3929509"/>
            <a:ext cx="7827615" cy="9525"/>
          </a:xfrm>
          <a:prstGeom prst="rect">
            <a:avLst/>
          </a:prstGeom>
          <a:solidFill>
            <a:srgbClr val="DCD7CC"/>
          </a:solidFill>
          <a:ln/>
        </p:spPr>
      </p:sp>
      <p:sp>
        <p:nvSpPr>
          <p:cNvPr id="10" name="Text 8"/>
          <p:cNvSpPr/>
          <p:nvPr/>
        </p:nvSpPr>
        <p:spPr>
          <a:xfrm>
            <a:off x="1285875" y="3481834"/>
            <a:ext cx="3785815"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16202E"/>
                </a:solidFill>
                <a:latin typeface="Noto Sans KR" pitchFamily="34" charset="0"/>
                <a:ea typeface="Noto Sans KR" pitchFamily="34" charset="-122"/>
                <a:cs typeface="Noto Sans KR" pitchFamily="34" charset="-120"/>
              </a:rPr>
              <a:t>gen_spec.py · specs/ · rules/</a:t>
            </a:r>
            <a:endParaRPr lang="en-US" sz="1950" dirty="0"/>
          </a:p>
        </p:txBody>
      </p:sp>
      <p:sp>
        <p:nvSpPr>
          <p:cNvPr id="11" name="Text 9"/>
          <p:cNvSpPr/>
          <p:nvPr/>
        </p:nvSpPr>
        <p:spPr>
          <a:xfrm>
            <a:off x="8208169" y="3481834"/>
            <a:ext cx="981521" cy="390525"/>
          </a:xfrm>
          <a:prstGeom prst="rect">
            <a:avLst/>
          </a:prstGeom>
          <a:noFill/>
          <a:ln/>
        </p:spPr>
        <p:txBody>
          <a:bodyPr wrap="none" lIns="25400" tIns="25400" rIns="25400" bIns="25400" rtlCol="0" anchor="t">
            <a:normAutofit/>
          </a:bodyPr>
          <a:lstStyle/>
          <a:p>
            <a:pPr algn="l" indent="0" marL="0">
              <a:buNone/>
            </a:pPr>
            <a:r>
              <a:rPr lang="en-US" sz="1800" dirty="0">
                <a:solidFill>
                  <a:srgbClr val="0F6B5E"/>
                </a:solidFill>
                <a:latin typeface="Noto Sans KR" pitchFamily="34" charset="0"/>
                <a:ea typeface="Noto Sans KR" pitchFamily="34" charset="-122"/>
                <a:cs typeface="Noto Sans KR" pitchFamily="34" charset="-120"/>
              </a:rPr>
              <a:t>명세 오너</a:t>
            </a:r>
            <a:endParaRPr lang="en-US" sz="1800" dirty="0"/>
          </a:p>
        </p:txBody>
      </p:sp>
      <p:sp>
        <p:nvSpPr>
          <p:cNvPr id="12" name="Shape 10"/>
          <p:cNvSpPr/>
          <p:nvPr/>
        </p:nvSpPr>
        <p:spPr>
          <a:xfrm>
            <a:off x="1285875" y="4491484"/>
            <a:ext cx="7827615" cy="9525"/>
          </a:xfrm>
          <a:prstGeom prst="rect">
            <a:avLst/>
          </a:prstGeom>
          <a:solidFill>
            <a:srgbClr val="DCD7CC"/>
          </a:solidFill>
          <a:ln/>
        </p:spPr>
      </p:sp>
      <p:sp>
        <p:nvSpPr>
          <p:cNvPr id="13" name="Text 11"/>
          <p:cNvSpPr/>
          <p:nvPr/>
        </p:nvSpPr>
        <p:spPr>
          <a:xfrm>
            <a:off x="1285875" y="4043809"/>
            <a:ext cx="3950509"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16202E"/>
                </a:solidFill>
                <a:latin typeface="Noto Sans KR" pitchFamily="34" charset="0"/>
                <a:ea typeface="Noto Sans KR" pitchFamily="34" charset="-122"/>
                <a:cs typeface="Noto Sans KR" pitchFamily="34" charset="-120"/>
              </a:rPr>
              <a:t>gen_label.py · labels/ · cases/</a:t>
            </a:r>
            <a:endParaRPr lang="en-US" sz="1950" dirty="0"/>
          </a:p>
        </p:txBody>
      </p:sp>
      <p:sp>
        <p:nvSpPr>
          <p:cNvPr id="14" name="Text 12"/>
          <p:cNvSpPr/>
          <p:nvPr/>
        </p:nvSpPr>
        <p:spPr>
          <a:xfrm>
            <a:off x="8208169" y="4043809"/>
            <a:ext cx="981521" cy="390525"/>
          </a:xfrm>
          <a:prstGeom prst="rect">
            <a:avLst/>
          </a:prstGeom>
          <a:noFill/>
          <a:ln/>
        </p:spPr>
        <p:txBody>
          <a:bodyPr wrap="none" lIns="25400" tIns="25400" rIns="25400" bIns="25400" rtlCol="0" anchor="t">
            <a:normAutofit/>
          </a:bodyPr>
          <a:lstStyle/>
          <a:p>
            <a:pPr algn="l" indent="0" marL="0">
              <a:buNone/>
            </a:pPr>
            <a:r>
              <a:rPr lang="en-US" sz="1800" dirty="0">
                <a:solidFill>
                  <a:srgbClr val="0F6B5E"/>
                </a:solidFill>
                <a:latin typeface="Noto Sans KR" pitchFamily="34" charset="0"/>
                <a:ea typeface="Noto Sans KR" pitchFamily="34" charset="-122"/>
                <a:cs typeface="Noto Sans KR" pitchFamily="34" charset="-120"/>
              </a:rPr>
              <a:t>라벨 오너</a:t>
            </a:r>
            <a:endParaRPr lang="en-US" sz="1800" dirty="0"/>
          </a:p>
        </p:txBody>
      </p:sp>
      <p:sp>
        <p:nvSpPr>
          <p:cNvPr id="15" name="Shape 13"/>
          <p:cNvSpPr/>
          <p:nvPr/>
        </p:nvSpPr>
        <p:spPr>
          <a:xfrm>
            <a:off x="1285875" y="5053459"/>
            <a:ext cx="7827615" cy="9525"/>
          </a:xfrm>
          <a:prstGeom prst="rect">
            <a:avLst/>
          </a:prstGeom>
          <a:solidFill>
            <a:srgbClr val="DCD7CC"/>
          </a:solidFill>
          <a:ln/>
        </p:spPr>
      </p:sp>
      <p:sp>
        <p:nvSpPr>
          <p:cNvPr id="16" name="Text 14"/>
          <p:cNvSpPr/>
          <p:nvPr/>
        </p:nvSpPr>
        <p:spPr>
          <a:xfrm>
            <a:off x="1285875" y="4605784"/>
            <a:ext cx="6634877"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16202E"/>
                </a:solidFill>
                <a:latin typeface="Noto Sans KR" pitchFamily="34" charset="0"/>
                <a:ea typeface="Noto Sans KR" pitchFamily="34" charset="-122"/>
                <a:cs typeface="Noto Sans KR" pitchFamily="34" charset="-120"/>
              </a:rPr>
              <a:t>gen_prompt.py · prompts/ · input.py · retrieve.py</a:t>
            </a:r>
            <a:endParaRPr lang="en-US" sz="1950" dirty="0"/>
          </a:p>
        </p:txBody>
      </p:sp>
      <p:sp>
        <p:nvSpPr>
          <p:cNvPr id="17" name="Text 15"/>
          <p:cNvSpPr/>
          <p:nvPr/>
        </p:nvSpPr>
        <p:spPr>
          <a:xfrm>
            <a:off x="7787580" y="4605784"/>
            <a:ext cx="1458501" cy="390525"/>
          </a:xfrm>
          <a:prstGeom prst="rect">
            <a:avLst/>
          </a:prstGeom>
          <a:noFill/>
          <a:ln/>
        </p:spPr>
        <p:txBody>
          <a:bodyPr wrap="none" lIns="25400" tIns="25400" rIns="25400" bIns="25400" rtlCol="0" anchor="t">
            <a:normAutofit/>
          </a:bodyPr>
          <a:lstStyle/>
          <a:p>
            <a:pPr algn="l" indent="0" marL="0">
              <a:buNone/>
            </a:pPr>
            <a:r>
              <a:rPr lang="en-US" sz="1800" dirty="0">
                <a:solidFill>
                  <a:srgbClr val="0F6B5E"/>
                </a:solidFill>
                <a:latin typeface="Noto Sans KR" pitchFamily="34" charset="0"/>
                <a:ea typeface="Noto Sans KR" pitchFamily="34" charset="-122"/>
                <a:cs typeface="Noto Sans KR" pitchFamily="34" charset="-120"/>
              </a:rPr>
              <a:t>프롬프트 오너</a:t>
            </a:r>
            <a:endParaRPr lang="en-US" sz="1800" dirty="0"/>
          </a:p>
        </p:txBody>
      </p:sp>
      <p:sp>
        <p:nvSpPr>
          <p:cNvPr id="18" name="Shape 16"/>
          <p:cNvSpPr/>
          <p:nvPr/>
        </p:nvSpPr>
        <p:spPr>
          <a:xfrm>
            <a:off x="1285875" y="5615434"/>
            <a:ext cx="7827615" cy="9525"/>
          </a:xfrm>
          <a:prstGeom prst="rect">
            <a:avLst/>
          </a:prstGeom>
          <a:solidFill>
            <a:srgbClr val="DCD7CC"/>
          </a:solidFill>
          <a:ln/>
        </p:spPr>
      </p:sp>
      <p:sp>
        <p:nvSpPr>
          <p:cNvPr id="19" name="Text 17"/>
          <p:cNvSpPr/>
          <p:nvPr/>
        </p:nvSpPr>
        <p:spPr>
          <a:xfrm>
            <a:off x="1285875" y="5167759"/>
            <a:ext cx="5726936"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16202E"/>
                </a:solidFill>
                <a:latin typeface="Noto Sans KR" pitchFamily="34" charset="0"/>
                <a:ea typeface="Noto Sans KR" pitchFamily="34" charset="-122"/>
                <a:cs typeface="Noto Sans KR" pitchFamily="34" charset="-120"/>
              </a:rPr>
              <a:t>classify_errors.py · score_dev.py · reports/</a:t>
            </a:r>
            <a:endParaRPr lang="en-US" sz="1950" dirty="0"/>
          </a:p>
        </p:txBody>
      </p:sp>
      <p:sp>
        <p:nvSpPr>
          <p:cNvPr id="20" name="Text 18"/>
          <p:cNvSpPr/>
          <p:nvPr/>
        </p:nvSpPr>
        <p:spPr>
          <a:xfrm>
            <a:off x="8208169" y="5167759"/>
            <a:ext cx="981521" cy="390525"/>
          </a:xfrm>
          <a:prstGeom prst="rect">
            <a:avLst/>
          </a:prstGeom>
          <a:noFill/>
          <a:ln/>
        </p:spPr>
        <p:txBody>
          <a:bodyPr wrap="none" lIns="25400" tIns="25400" rIns="25400" bIns="25400" rtlCol="0" anchor="t">
            <a:normAutofit/>
          </a:bodyPr>
          <a:lstStyle/>
          <a:p>
            <a:pPr algn="l" indent="0" marL="0">
              <a:buNone/>
            </a:pPr>
            <a:r>
              <a:rPr lang="en-US" sz="1800" dirty="0">
                <a:solidFill>
                  <a:srgbClr val="0F6B5E"/>
                </a:solidFill>
                <a:latin typeface="Noto Sans KR" pitchFamily="34" charset="0"/>
                <a:ea typeface="Noto Sans KR" pitchFamily="34" charset="-122"/>
                <a:cs typeface="Noto Sans KR" pitchFamily="34" charset="-120"/>
              </a:rPr>
              <a:t>실험 오너</a:t>
            </a:r>
            <a:endParaRPr lang="en-US" sz="1800" dirty="0"/>
          </a:p>
        </p:txBody>
      </p:sp>
      <p:sp>
        <p:nvSpPr>
          <p:cNvPr id="21" name="Text 19"/>
          <p:cNvSpPr/>
          <p:nvPr/>
        </p:nvSpPr>
        <p:spPr>
          <a:xfrm>
            <a:off x="1285875" y="5729734"/>
            <a:ext cx="2024122"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16202E"/>
                </a:solidFill>
                <a:latin typeface="Noto Sans KR" pitchFamily="34" charset="0"/>
                <a:ea typeface="Noto Sans KR" pitchFamily="34" charset="-122"/>
                <a:cs typeface="Noto Sans KR" pitchFamily="34" charset="-120"/>
              </a:rPr>
              <a:t>postprocess.py</a:t>
            </a:r>
            <a:endParaRPr lang="en-US" sz="1950" dirty="0"/>
          </a:p>
        </p:txBody>
      </p:sp>
      <p:sp>
        <p:nvSpPr>
          <p:cNvPr id="22" name="Text 20"/>
          <p:cNvSpPr/>
          <p:nvPr/>
        </p:nvSpPr>
        <p:spPr>
          <a:xfrm>
            <a:off x="7048054" y="5729734"/>
            <a:ext cx="2271980" cy="390525"/>
          </a:xfrm>
          <a:prstGeom prst="rect">
            <a:avLst/>
          </a:prstGeom>
          <a:noFill/>
          <a:ln/>
        </p:spPr>
        <p:txBody>
          <a:bodyPr wrap="none" lIns="25400" tIns="25400" rIns="25400" bIns="25400" rtlCol="0" anchor="t">
            <a:normAutofit/>
          </a:bodyPr>
          <a:lstStyle/>
          <a:p>
            <a:pPr algn="l" indent="0" marL="0">
              <a:buNone/>
            </a:pPr>
            <a:r>
              <a:rPr lang="en-US" sz="1800" dirty="0">
                <a:solidFill>
                  <a:srgbClr val="0F6B5E"/>
                </a:solidFill>
                <a:latin typeface="Noto Sans KR" pitchFamily="34" charset="0"/>
                <a:ea typeface="Noto Sans KR" pitchFamily="34" charset="-122"/>
                <a:cs typeface="Noto Sans KR" pitchFamily="34" charset="-120"/>
              </a:rPr>
              <a:t>통합 + 명세 오너 협의</a:t>
            </a:r>
            <a:endParaRPr lang="en-US" sz="1800" dirty="0"/>
          </a:p>
        </p:txBody>
      </p:sp>
      <p:sp>
        <p:nvSpPr>
          <p:cNvPr id="23" name="Text 21"/>
          <p:cNvSpPr/>
          <p:nvPr/>
        </p:nvSpPr>
        <p:spPr>
          <a:xfrm>
            <a:off x="1028700" y="6425059"/>
            <a:ext cx="8592224" cy="728663"/>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7C8492"/>
                </a:solidFill>
                <a:latin typeface="Noto Sans KR" pitchFamily="34" charset="0"/>
                <a:ea typeface="Noto Sans KR" pitchFamily="34" charset="-122"/>
                <a:cs typeface="Noto Sans KR" pitchFamily="34" charset="-120"/>
              </a:rPr>
              <a:t>공정 스크립트도 산출물 폴더도 라인별로 갈린다 — </a:t>
            </a:r>
            <a:pPr algn="l" indent="0" marL="0">
              <a:lnSpc>
                <a:spcPct val="100694"/>
              </a:lnSpc>
              <a:buNone/>
            </a:pPr>
            <a:r>
              <a:rPr lang="en-US" sz="1875" b="1" dirty="0">
                <a:solidFill>
                  <a:srgbClr val="16202E"/>
                </a:solidFill>
                <a:latin typeface="Noto Sans KR" pitchFamily="34" charset="0"/>
                <a:ea typeface="Noto Sans KR" pitchFamily="34" charset="-122"/>
                <a:cs typeface="Noto Sans KR" pitchFamily="34" charset="-120"/>
              </a:rPr>
              <a:t>남의 폴더에 쓰지 않는다. </a:t>
            </a:r>
            <a:pPr algn="l" indent="0" marL="0">
              <a:lnSpc>
                <a:spcPct val="100694"/>
              </a:lnSpc>
              <a:buNone/>
            </a:pPr>
            <a:r>
              <a:rPr lang="en-US" sz="1875" dirty="0">
                <a:solidFill>
                  <a:srgbClr val="7C8492"/>
                </a:solidFill>
                <a:latin typeface="Noto Sans KR" pitchFamily="34" charset="0"/>
                <a:ea typeface="Noto Sans KR" pitchFamily="34" charset="-122"/>
                <a:cs typeface="Noto Sans KR" pitchFamily="34" charset="-120"/>
              </a:rPr>
              <a:t>프롬프트는 항목 번호로 쪼개 한 파일에 몰지 않는다.</a:t>
            </a:r>
            <a:endParaRPr lang="en-US" sz="1875" dirty="0"/>
          </a:p>
        </p:txBody>
      </p:sp>
      <p:sp>
        <p:nvSpPr>
          <p:cNvPr id="24" name="Text 22"/>
          <p:cNvSpPr/>
          <p:nvPr/>
        </p:nvSpPr>
        <p:spPr>
          <a:xfrm>
            <a:off x="9675465" y="2243584"/>
            <a:ext cx="834221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여섯 가지 규칙</a:t>
            </a:r>
            <a:endParaRPr lang="en-US" sz="1800" dirty="0"/>
          </a:p>
        </p:txBody>
      </p:sp>
      <p:sp>
        <p:nvSpPr>
          <p:cNvPr id="25" name="Shape 23"/>
          <p:cNvSpPr/>
          <p:nvPr/>
        </p:nvSpPr>
        <p:spPr>
          <a:xfrm>
            <a:off x="9675465" y="2700784"/>
            <a:ext cx="7583835" cy="2960191"/>
          </a:xfrm>
          <a:prstGeom prst="roundRect">
            <a:avLst>
              <a:gd name="adj" fmla="val 1931"/>
            </a:avLst>
          </a:prstGeom>
          <a:solidFill>
            <a:srgbClr val="16202E"/>
          </a:solidFill>
          <a:ln/>
        </p:spPr>
      </p:sp>
      <p:sp>
        <p:nvSpPr>
          <p:cNvPr id="26" name="Text 24"/>
          <p:cNvSpPr/>
          <p:nvPr/>
        </p:nvSpPr>
        <p:spPr>
          <a:xfrm>
            <a:off x="9942165" y="2929384"/>
            <a:ext cx="7755478" cy="360015"/>
          </a:xfrm>
          <a:prstGeom prst="rect">
            <a:avLst/>
          </a:prstGeom>
          <a:noFill/>
          <a:ln/>
        </p:spPr>
        <p:txBody>
          <a:bodyPr wrap="square" lIns="25400" tIns="25400" rIns="25400" bIns="25400" rtlCol="0" anchor="t">
            <a:normAutofit/>
          </a:bodyPr>
          <a:lstStyle/>
          <a:p>
            <a:pPr algn="l" indent="0" marL="0">
              <a:lnSpc>
                <a:spcPct val="91351"/>
              </a:lnSpc>
              <a:buNone/>
            </a:pPr>
            <a:r>
              <a:rPr lang="en-US" sz="1950" b="1" dirty="0">
                <a:solidFill>
                  <a:srgbClr val="F6F4EF"/>
                </a:solidFill>
                <a:latin typeface="Noto Sans KR" pitchFamily="34" charset="0"/>
                <a:ea typeface="Noto Sans KR" pitchFamily="34" charset="-122"/>
                <a:cs typeface="Noto Sans KR" pitchFamily="34" charset="-120"/>
              </a:rPr>
              <a:t>1. 작업 시작 전 항상 최신 받기</a:t>
            </a:r>
            <a:endParaRPr lang="en-US" sz="1950" dirty="0"/>
          </a:p>
        </p:txBody>
      </p:sp>
      <p:sp>
        <p:nvSpPr>
          <p:cNvPr id="27" name="Text 25"/>
          <p:cNvSpPr/>
          <p:nvPr/>
        </p:nvSpPr>
        <p:spPr>
          <a:xfrm>
            <a:off x="9942165" y="3365599"/>
            <a:ext cx="7755478" cy="360015"/>
          </a:xfrm>
          <a:prstGeom prst="rect">
            <a:avLst/>
          </a:prstGeom>
          <a:noFill/>
          <a:ln/>
        </p:spPr>
        <p:txBody>
          <a:bodyPr wrap="square" lIns="25400" tIns="25400" rIns="25400" bIns="25400" rtlCol="0" anchor="t">
            <a:normAutofit/>
          </a:bodyPr>
          <a:lstStyle/>
          <a:p>
            <a:pPr algn="l" indent="0" marL="0">
              <a:lnSpc>
                <a:spcPct val="91351"/>
              </a:lnSpc>
              <a:buNone/>
            </a:pPr>
            <a:r>
              <a:rPr lang="en-US" sz="1950" b="1" dirty="0">
                <a:solidFill>
                  <a:srgbClr val="F6F4EF"/>
                </a:solidFill>
                <a:latin typeface="Noto Sans KR" pitchFamily="34" charset="0"/>
                <a:ea typeface="Noto Sans KR" pitchFamily="34" charset="-122"/>
                <a:cs typeface="Noto Sans KR" pitchFamily="34" charset="-120"/>
              </a:rPr>
              <a:t>2. 브랜치 하나에 작업 하나 (내 이름/작업명)</a:t>
            </a:r>
            <a:endParaRPr lang="en-US" sz="1950" dirty="0"/>
          </a:p>
        </p:txBody>
      </p:sp>
      <p:sp>
        <p:nvSpPr>
          <p:cNvPr id="28" name="Text 26"/>
          <p:cNvSpPr/>
          <p:nvPr/>
        </p:nvSpPr>
        <p:spPr>
          <a:xfrm>
            <a:off x="9942165" y="3801814"/>
            <a:ext cx="7755478" cy="360015"/>
          </a:xfrm>
          <a:prstGeom prst="rect">
            <a:avLst/>
          </a:prstGeom>
          <a:noFill/>
          <a:ln/>
        </p:spPr>
        <p:txBody>
          <a:bodyPr wrap="square" lIns="25400" tIns="25400" rIns="25400" bIns="25400" rtlCol="0" anchor="t">
            <a:normAutofit/>
          </a:bodyPr>
          <a:lstStyle/>
          <a:p>
            <a:pPr algn="l" indent="0" marL="0">
              <a:lnSpc>
                <a:spcPct val="91351"/>
              </a:lnSpc>
              <a:buNone/>
            </a:pPr>
            <a:r>
              <a:rPr lang="en-US" sz="1950" b="1" dirty="0">
                <a:solidFill>
                  <a:srgbClr val="F6F4EF"/>
                </a:solidFill>
                <a:latin typeface="Noto Sans KR" pitchFamily="34" charset="0"/>
                <a:ea typeface="Noto Sans KR" pitchFamily="34" charset="-122"/>
                <a:cs typeface="Noto Sans KR" pitchFamily="34" charset="-120"/>
              </a:rPr>
              <a:t>3. 한 번의 변경은 한 시간 안에 끝나는 크기로</a:t>
            </a:r>
            <a:endParaRPr lang="en-US" sz="1950" dirty="0"/>
          </a:p>
        </p:txBody>
      </p:sp>
      <p:sp>
        <p:nvSpPr>
          <p:cNvPr id="29" name="Text 27"/>
          <p:cNvSpPr/>
          <p:nvPr/>
        </p:nvSpPr>
        <p:spPr>
          <a:xfrm>
            <a:off x="9942165" y="4238030"/>
            <a:ext cx="7755478" cy="360015"/>
          </a:xfrm>
          <a:prstGeom prst="rect">
            <a:avLst/>
          </a:prstGeom>
          <a:noFill/>
          <a:ln/>
        </p:spPr>
        <p:txBody>
          <a:bodyPr wrap="square" lIns="25400" tIns="25400" rIns="25400" bIns="25400" rtlCol="0" anchor="t">
            <a:normAutofit/>
          </a:bodyPr>
          <a:lstStyle/>
          <a:p>
            <a:pPr algn="l" indent="0" marL="0">
              <a:lnSpc>
                <a:spcPct val="91351"/>
              </a:lnSpc>
              <a:buNone/>
            </a:pPr>
            <a:r>
              <a:rPr lang="en-US" sz="1950" b="1" dirty="0">
                <a:solidFill>
                  <a:srgbClr val="F6F4EF"/>
                </a:solidFill>
                <a:latin typeface="Noto Sans KR" pitchFamily="34" charset="0"/>
                <a:ea typeface="Noto Sans KR" pitchFamily="34" charset="-122"/>
                <a:cs typeface="Noto Sans KR" pitchFamily="34" charset="-120"/>
              </a:rPr>
              <a:t>4. 남의 파일이 필요하면 직접 고치지 않고 요청</a:t>
            </a:r>
            <a:endParaRPr lang="en-US" sz="1950" dirty="0"/>
          </a:p>
        </p:txBody>
      </p:sp>
      <p:sp>
        <p:nvSpPr>
          <p:cNvPr id="30" name="Text 28"/>
          <p:cNvSpPr/>
          <p:nvPr/>
        </p:nvSpPr>
        <p:spPr>
          <a:xfrm>
            <a:off x="9942165" y="4674245"/>
            <a:ext cx="7755478" cy="360015"/>
          </a:xfrm>
          <a:prstGeom prst="rect">
            <a:avLst/>
          </a:prstGeom>
          <a:noFill/>
          <a:ln/>
        </p:spPr>
        <p:txBody>
          <a:bodyPr wrap="square" lIns="25400" tIns="25400" rIns="25400" bIns="25400" rtlCol="0" anchor="t">
            <a:normAutofit/>
          </a:bodyPr>
          <a:lstStyle/>
          <a:p>
            <a:pPr algn="l" indent="0" marL="0">
              <a:lnSpc>
                <a:spcPct val="91351"/>
              </a:lnSpc>
              <a:buNone/>
            </a:pPr>
            <a:r>
              <a:rPr lang="en-US" sz="1950" b="1" dirty="0">
                <a:solidFill>
                  <a:srgbClr val="F6F4EF"/>
                </a:solidFill>
                <a:latin typeface="Noto Sans KR" pitchFamily="34" charset="0"/>
                <a:ea typeface="Noto Sans KR" pitchFamily="34" charset="-122"/>
                <a:cs typeface="Noto Sans KR" pitchFamily="34" charset="-120"/>
              </a:rPr>
              <a:t>5. main 병합은 통합 담당만 · 실행 확인 후에만</a:t>
            </a:r>
            <a:endParaRPr lang="en-US" sz="1950" dirty="0"/>
          </a:p>
        </p:txBody>
      </p:sp>
      <p:sp>
        <p:nvSpPr>
          <p:cNvPr id="31" name="Text 29"/>
          <p:cNvSpPr/>
          <p:nvPr/>
        </p:nvSpPr>
        <p:spPr>
          <a:xfrm>
            <a:off x="9942165" y="5110460"/>
            <a:ext cx="7755478" cy="360015"/>
          </a:xfrm>
          <a:prstGeom prst="rect">
            <a:avLst/>
          </a:prstGeom>
          <a:noFill/>
          <a:ln/>
        </p:spPr>
        <p:txBody>
          <a:bodyPr wrap="square" lIns="25400" tIns="25400" rIns="25400" bIns="25400" rtlCol="0" anchor="t">
            <a:normAutofit/>
          </a:bodyPr>
          <a:lstStyle/>
          <a:p>
            <a:pPr algn="l" indent="0" marL="0">
              <a:lnSpc>
                <a:spcPct val="91351"/>
              </a:lnSpc>
              <a:buNone/>
            </a:pPr>
            <a:r>
              <a:rPr lang="en-US" sz="1950" b="1" dirty="0">
                <a:solidFill>
                  <a:srgbClr val="6FC3B2"/>
                </a:solidFill>
                <a:latin typeface="Noto Sans KR" pitchFamily="34" charset="0"/>
                <a:ea typeface="Noto Sans KR" pitchFamily="34" charset="-122"/>
                <a:cs typeface="Noto Sans KR" pitchFamily="34" charset="-120"/>
              </a:rPr>
              <a:t>6. AI 도구에 수정 범위를 파일 단위로 못 박기</a:t>
            </a:r>
            <a:endParaRPr lang="en-US" sz="1950" dirty="0"/>
          </a:p>
        </p:txBody>
      </p:sp>
      <p:sp>
        <p:nvSpPr>
          <p:cNvPr id="32" name="Shape 30"/>
          <p:cNvSpPr/>
          <p:nvPr/>
        </p:nvSpPr>
        <p:spPr>
          <a:xfrm>
            <a:off x="9675465" y="5784800"/>
            <a:ext cx="7583835" cy="1090613"/>
          </a:xfrm>
          <a:prstGeom prst="roundRect">
            <a:avLst>
              <a:gd name="adj" fmla="val 5240"/>
            </a:avLst>
          </a:prstGeom>
          <a:solidFill>
            <a:srgbClr val="FFFFFF"/>
          </a:solidFill>
          <a:ln w="9525">
            <a:solidFill>
              <a:srgbClr val="E1B9B1"/>
            </a:solidFill>
            <a:prstDash val="solid"/>
          </a:ln>
        </p:spPr>
      </p:sp>
      <p:sp>
        <p:nvSpPr>
          <p:cNvPr id="33" name="Text 31"/>
          <p:cNvSpPr/>
          <p:nvPr/>
        </p:nvSpPr>
        <p:spPr>
          <a:xfrm>
            <a:off x="9932640" y="5984825"/>
            <a:ext cx="7297000" cy="728662"/>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A4402E"/>
                </a:solidFill>
                <a:latin typeface="Noto Sans KR" pitchFamily="34" charset="0"/>
                <a:ea typeface="Noto Sans KR" pitchFamily="34" charset="-122"/>
                <a:cs typeface="Noto Sans KR" pitchFamily="34" charset="-120"/>
              </a:rPr>
              <a:t>6번이 자동화에서 특히 중요하다 — AI에게 범위를 주지 않으면 옆 파일까지 고쳐놓고, 그것이 충돌과 회귀의 주원인이다</a:t>
            </a:r>
            <a:endParaRPr lang="en-US" sz="1875" dirty="0"/>
          </a:p>
        </p:txBody>
      </p:sp>
      <p:sp>
        <p:nvSpPr>
          <p:cNvPr id="34" name="Shape 32"/>
          <p:cNvSpPr/>
          <p:nvPr/>
        </p:nvSpPr>
        <p:spPr>
          <a:xfrm>
            <a:off x="9675465" y="6999238"/>
            <a:ext cx="7583835" cy="1071563"/>
          </a:xfrm>
          <a:prstGeom prst="roundRect">
            <a:avLst>
              <a:gd name="adj" fmla="val 5333"/>
            </a:avLst>
          </a:prstGeom>
          <a:solidFill>
            <a:srgbClr val="EDE9E0"/>
          </a:solidFill>
          <a:ln/>
        </p:spPr>
      </p:sp>
      <p:sp>
        <p:nvSpPr>
          <p:cNvPr id="35" name="Text 33"/>
          <p:cNvSpPr/>
          <p:nvPr/>
        </p:nvSpPr>
        <p:spPr>
          <a:xfrm>
            <a:off x="9923115" y="7189738"/>
            <a:ext cx="7316050" cy="728662"/>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3C4654"/>
                </a:solidFill>
                <a:latin typeface="Noto Sans KR" pitchFamily="34" charset="0"/>
                <a:ea typeface="Noto Sans KR" pitchFamily="34" charset="-122"/>
                <a:cs typeface="Noto Sans KR" pitchFamily="34" charset="-120"/>
              </a:rPr>
              <a:t>충돌이 났다면 혼자 풀지 말고 통합 담당에게 넘긴다 — 병합 사고로 제출 하루를 버리지 않는다</a:t>
            </a:r>
            <a:endParaRPr lang="en-US" sz="18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7620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남은 2주</a:t>
            </a:r>
            <a:endParaRPr lang="en-US" sz="1950" dirty="0"/>
          </a:p>
        </p:txBody>
      </p:sp>
      <p:sp>
        <p:nvSpPr>
          <p:cNvPr id="3" name="Text 1"/>
          <p:cNvSpPr/>
          <p:nvPr/>
        </p:nvSpPr>
        <p:spPr>
          <a:xfrm>
            <a:off x="1028700" y="1228725"/>
            <a:ext cx="16973550" cy="686098"/>
          </a:xfrm>
          <a:prstGeom prst="rect">
            <a:avLst/>
          </a:prstGeom>
          <a:noFill/>
          <a:ln/>
        </p:spPr>
        <p:txBody>
          <a:bodyPr wrap="square" lIns="25400" tIns="25400" rIns="25400" bIns="25400" rtlCol="0" anchor="t">
            <a:normAutofit/>
          </a:bodyPr>
          <a:lstStyle/>
          <a:p>
            <a:pPr algn="l" indent="0" marL="0">
              <a:lnSpc>
                <a:spcPct val="86127"/>
              </a:lnSpc>
              <a:buNone/>
            </a:pPr>
            <a:r>
              <a:rPr lang="en-US" sz="4050" b="1" spc="-40" kern="0" dirty="0">
                <a:solidFill>
                  <a:srgbClr val="16202E"/>
                </a:solidFill>
                <a:latin typeface="Noto Sans KR" pitchFamily="34" charset="0"/>
                <a:ea typeface="Noto Sans KR" pitchFamily="34" charset="-122"/>
                <a:cs typeface="Noto Sans KR" pitchFamily="34" charset="-120"/>
              </a:rPr>
              <a:t>제출 성공이 공장보다 먼저, 그 다음 공장을 병행한다</a:t>
            </a:r>
            <a:endParaRPr lang="en-US" sz="4050" dirty="0"/>
          </a:p>
        </p:txBody>
      </p:sp>
      <p:sp>
        <p:nvSpPr>
          <p:cNvPr id="4" name="Shape 2"/>
          <p:cNvSpPr/>
          <p:nvPr/>
        </p:nvSpPr>
        <p:spPr>
          <a:xfrm>
            <a:off x="1028700" y="2124373"/>
            <a:ext cx="5308550" cy="695325"/>
          </a:xfrm>
          <a:prstGeom prst="roundRect">
            <a:avLst>
              <a:gd name="adj" fmla="val 8219"/>
            </a:avLst>
          </a:prstGeom>
          <a:solidFill>
            <a:srgbClr val="EDE9E0"/>
          </a:solidFill>
          <a:ln/>
        </p:spPr>
      </p:sp>
      <p:sp>
        <p:nvSpPr>
          <p:cNvPr id="5" name="Text 3"/>
          <p:cNvSpPr/>
          <p:nvPr/>
        </p:nvSpPr>
        <p:spPr>
          <a:xfrm>
            <a:off x="1257300" y="2314873"/>
            <a:ext cx="695771"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원칙 1</a:t>
            </a:r>
            <a:endParaRPr lang="en-US" sz="1800" dirty="0"/>
          </a:p>
        </p:txBody>
      </p:sp>
      <p:sp>
        <p:nvSpPr>
          <p:cNvPr id="6" name="Text 4"/>
          <p:cNvSpPr/>
          <p:nvPr/>
        </p:nvSpPr>
        <p:spPr>
          <a:xfrm>
            <a:off x="2010221" y="2286298"/>
            <a:ext cx="3946416" cy="409575"/>
          </a:xfrm>
          <a:prstGeom prst="rect">
            <a:avLst/>
          </a:prstGeom>
          <a:noFill/>
          <a:ln/>
        </p:spPr>
        <p:txBody>
          <a:bodyPr wrap="square" lIns="25400" tIns="25400" rIns="25400" bIns="25400" rtlCol="0" anchor="t">
            <a:normAutofit/>
          </a:bodyPr>
          <a:lstStyle/>
          <a:p>
            <a:pPr algn="l" indent="0" marL="0">
              <a:buNone/>
            </a:pPr>
            <a:r>
              <a:rPr lang="en-US" sz="2025" b="1" dirty="0">
                <a:solidFill>
                  <a:srgbClr val="16202E"/>
                </a:solidFill>
                <a:latin typeface="Noto Sans KR" pitchFamily="34" charset="0"/>
                <a:ea typeface="Noto Sans KR" pitchFamily="34" charset="-122"/>
                <a:cs typeface="Noto Sans KR" pitchFamily="34" charset="-120"/>
              </a:rPr>
              <a:t>제출이 안 되면 공장이 좋아도 0점</a:t>
            </a:r>
            <a:endParaRPr lang="en-US" sz="2025" dirty="0"/>
          </a:p>
        </p:txBody>
      </p:sp>
      <p:sp>
        <p:nvSpPr>
          <p:cNvPr id="7" name="Shape 5"/>
          <p:cNvSpPr/>
          <p:nvPr/>
        </p:nvSpPr>
        <p:spPr>
          <a:xfrm>
            <a:off x="6489650" y="2124373"/>
            <a:ext cx="5308699" cy="695325"/>
          </a:xfrm>
          <a:prstGeom prst="roundRect">
            <a:avLst>
              <a:gd name="adj" fmla="val 8219"/>
            </a:avLst>
          </a:prstGeom>
          <a:solidFill>
            <a:srgbClr val="EDE9E0"/>
          </a:solidFill>
          <a:ln/>
        </p:spPr>
      </p:sp>
      <p:sp>
        <p:nvSpPr>
          <p:cNvPr id="8" name="Text 6"/>
          <p:cNvSpPr/>
          <p:nvPr/>
        </p:nvSpPr>
        <p:spPr>
          <a:xfrm>
            <a:off x="6718250" y="2314873"/>
            <a:ext cx="695771"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원칙 2</a:t>
            </a:r>
            <a:endParaRPr lang="en-US" sz="1800" dirty="0"/>
          </a:p>
        </p:txBody>
      </p:sp>
      <p:sp>
        <p:nvSpPr>
          <p:cNvPr id="9" name="Text 7"/>
          <p:cNvSpPr/>
          <p:nvPr/>
        </p:nvSpPr>
        <p:spPr>
          <a:xfrm>
            <a:off x="7471172" y="2286298"/>
            <a:ext cx="3100521" cy="409575"/>
          </a:xfrm>
          <a:prstGeom prst="rect">
            <a:avLst/>
          </a:prstGeom>
          <a:noFill/>
          <a:ln/>
        </p:spPr>
        <p:txBody>
          <a:bodyPr wrap="square" lIns="25400" tIns="25400" rIns="25400" bIns="25400" rtlCol="0" anchor="t">
            <a:normAutofit/>
          </a:bodyPr>
          <a:lstStyle/>
          <a:p>
            <a:pPr algn="l" indent="0" marL="0">
              <a:buNone/>
            </a:pPr>
            <a:r>
              <a:rPr lang="en-US" sz="2025" b="1" dirty="0">
                <a:solidFill>
                  <a:srgbClr val="16202E"/>
                </a:solidFill>
                <a:latin typeface="Noto Sans KR" pitchFamily="34" charset="0"/>
                <a:ea typeface="Noto Sans KR" pitchFamily="34" charset="-122"/>
                <a:cs typeface="Noto Sans KR" pitchFamily="34" charset="-120"/>
              </a:rPr>
              <a:t>공장은 순차가 아니라 병행</a:t>
            </a:r>
            <a:endParaRPr lang="en-US" sz="2025" dirty="0"/>
          </a:p>
        </p:txBody>
      </p:sp>
      <p:sp>
        <p:nvSpPr>
          <p:cNvPr id="10" name="Shape 8"/>
          <p:cNvSpPr/>
          <p:nvPr/>
        </p:nvSpPr>
        <p:spPr>
          <a:xfrm>
            <a:off x="11950750" y="2124373"/>
            <a:ext cx="5308550" cy="695325"/>
          </a:xfrm>
          <a:prstGeom prst="roundRect">
            <a:avLst>
              <a:gd name="adj" fmla="val 8219"/>
            </a:avLst>
          </a:prstGeom>
          <a:solidFill>
            <a:srgbClr val="EDE9E0"/>
          </a:solidFill>
          <a:ln/>
        </p:spPr>
      </p:sp>
      <p:sp>
        <p:nvSpPr>
          <p:cNvPr id="11" name="Text 9"/>
          <p:cNvSpPr/>
          <p:nvPr/>
        </p:nvSpPr>
        <p:spPr>
          <a:xfrm>
            <a:off x="12179350" y="2314873"/>
            <a:ext cx="695771"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원칙 3</a:t>
            </a:r>
            <a:endParaRPr lang="en-US" sz="1800" dirty="0"/>
          </a:p>
        </p:txBody>
      </p:sp>
      <p:sp>
        <p:nvSpPr>
          <p:cNvPr id="12" name="Text 10"/>
          <p:cNvSpPr/>
          <p:nvPr/>
        </p:nvSpPr>
        <p:spPr>
          <a:xfrm>
            <a:off x="12932271" y="2286298"/>
            <a:ext cx="3490645" cy="409575"/>
          </a:xfrm>
          <a:prstGeom prst="rect">
            <a:avLst/>
          </a:prstGeom>
          <a:noFill/>
          <a:ln/>
        </p:spPr>
        <p:txBody>
          <a:bodyPr wrap="square" lIns="25400" tIns="25400" rIns="25400" bIns="25400" rtlCol="0" anchor="t">
            <a:normAutofit/>
          </a:bodyPr>
          <a:lstStyle/>
          <a:p>
            <a:pPr algn="l" indent="0" marL="0">
              <a:buNone/>
            </a:pPr>
            <a:r>
              <a:rPr lang="en-US" sz="2025" b="1" dirty="0">
                <a:solidFill>
                  <a:srgbClr val="16202E"/>
                </a:solidFill>
                <a:latin typeface="Noto Sans KR" pitchFamily="34" charset="0"/>
                <a:ea typeface="Noto Sans KR" pitchFamily="34" charset="-122"/>
                <a:cs typeface="Noto Sans KR" pitchFamily="34" charset="-120"/>
              </a:rPr>
              <a:t>하루 한 바퀴 · 바퀴 수가 점수</a:t>
            </a:r>
            <a:endParaRPr lang="en-US" sz="2025" dirty="0"/>
          </a:p>
        </p:txBody>
      </p:sp>
      <p:sp>
        <p:nvSpPr>
          <p:cNvPr id="13" name="Shape 11"/>
          <p:cNvSpPr/>
          <p:nvPr/>
        </p:nvSpPr>
        <p:spPr>
          <a:xfrm>
            <a:off x="1028700" y="3067348"/>
            <a:ext cx="5993606" cy="4714875"/>
          </a:xfrm>
          <a:prstGeom prst="roundRect">
            <a:avLst>
              <a:gd name="adj" fmla="val 1212"/>
            </a:avLst>
          </a:prstGeom>
          <a:solidFill>
            <a:srgbClr val="16202E"/>
          </a:solidFill>
          <a:ln/>
        </p:spPr>
      </p:sp>
      <p:sp>
        <p:nvSpPr>
          <p:cNvPr id="14" name="Text 12"/>
          <p:cNvSpPr/>
          <p:nvPr/>
        </p:nvSpPr>
        <p:spPr>
          <a:xfrm>
            <a:off x="1276350" y="3276898"/>
            <a:ext cx="6048137"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공식 일정</a:t>
            </a:r>
            <a:endParaRPr lang="en-US" sz="1800" dirty="0"/>
          </a:p>
        </p:txBody>
      </p:sp>
      <p:sp>
        <p:nvSpPr>
          <p:cNvPr id="15" name="Shape 13"/>
          <p:cNvSpPr/>
          <p:nvPr/>
        </p:nvSpPr>
        <p:spPr>
          <a:xfrm>
            <a:off x="1276350" y="4124623"/>
            <a:ext cx="5498306" cy="9525"/>
          </a:xfrm>
          <a:prstGeom prst="rect">
            <a:avLst/>
          </a:prstGeom>
          <a:solidFill>
            <a:srgbClr val="33404F"/>
          </a:solidFill>
          <a:ln/>
        </p:spPr>
      </p:sp>
      <p:sp>
        <p:nvSpPr>
          <p:cNvPr id="16" name="Text 14"/>
          <p:cNvSpPr/>
          <p:nvPr/>
        </p:nvSpPr>
        <p:spPr>
          <a:xfrm>
            <a:off x="1276350" y="3705523"/>
            <a:ext cx="1351598" cy="381000"/>
          </a:xfrm>
          <a:prstGeom prst="rect">
            <a:avLst/>
          </a:prstGeom>
          <a:noFill/>
          <a:ln/>
        </p:spPr>
        <p:txBody>
          <a:bodyPr wrap="square" lIns="25400" tIns="25400" rIns="25400" bIns="25400" rtlCol="0" anchor="t">
            <a:normAutofit/>
          </a:bodyPr>
          <a:lstStyle/>
          <a:p>
            <a:pPr algn="l" indent="0" marL="0">
              <a:buNone/>
            </a:pPr>
            <a:r>
              <a:rPr lang="en-US" sz="1875" dirty="0">
                <a:solidFill>
                  <a:srgbClr val="C6CEDA"/>
                </a:solidFill>
                <a:latin typeface="Noto Sans KR" pitchFamily="34" charset="0"/>
                <a:ea typeface="Noto Sans KR" pitchFamily="34" charset="-122"/>
                <a:cs typeface="Noto Sans KR" pitchFamily="34" charset="-120"/>
              </a:rPr>
              <a:t>팀 병합 마감</a:t>
            </a:r>
            <a:endParaRPr lang="en-US" sz="1875" dirty="0"/>
          </a:p>
        </p:txBody>
      </p:sp>
      <p:sp>
        <p:nvSpPr>
          <p:cNvPr id="17" name="Text 15"/>
          <p:cNvSpPr/>
          <p:nvPr/>
        </p:nvSpPr>
        <p:spPr>
          <a:xfrm>
            <a:off x="6260306" y="3705523"/>
            <a:ext cx="590550"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F6F4EF"/>
                </a:solidFill>
                <a:latin typeface="Noto Sans KR" pitchFamily="34" charset="0"/>
                <a:ea typeface="Noto Sans KR" pitchFamily="34" charset="-122"/>
                <a:cs typeface="Noto Sans KR" pitchFamily="34" charset="-120"/>
              </a:rPr>
              <a:t>9/23</a:t>
            </a:r>
            <a:endParaRPr lang="en-US" sz="1875" dirty="0"/>
          </a:p>
        </p:txBody>
      </p:sp>
      <p:sp>
        <p:nvSpPr>
          <p:cNvPr id="18" name="Shape 16"/>
          <p:cNvSpPr/>
          <p:nvPr/>
        </p:nvSpPr>
        <p:spPr>
          <a:xfrm>
            <a:off x="1276350" y="4648498"/>
            <a:ext cx="5498306" cy="9525"/>
          </a:xfrm>
          <a:prstGeom prst="rect">
            <a:avLst/>
          </a:prstGeom>
          <a:solidFill>
            <a:srgbClr val="33404F"/>
          </a:solidFill>
          <a:ln/>
        </p:spPr>
      </p:sp>
      <p:sp>
        <p:nvSpPr>
          <p:cNvPr id="19" name="Text 17"/>
          <p:cNvSpPr/>
          <p:nvPr/>
        </p:nvSpPr>
        <p:spPr>
          <a:xfrm>
            <a:off x="1276350" y="4229398"/>
            <a:ext cx="2074545" cy="381000"/>
          </a:xfrm>
          <a:prstGeom prst="rect">
            <a:avLst/>
          </a:prstGeom>
          <a:noFill/>
          <a:ln/>
        </p:spPr>
        <p:txBody>
          <a:bodyPr wrap="square" lIns="25400" tIns="25400" rIns="25400" bIns="25400" rtlCol="0" anchor="t">
            <a:normAutofit/>
          </a:bodyPr>
          <a:lstStyle/>
          <a:p>
            <a:pPr algn="l" indent="0" marL="0">
              <a:buNone/>
            </a:pPr>
            <a:r>
              <a:rPr lang="en-US" sz="1875" dirty="0">
                <a:solidFill>
                  <a:srgbClr val="C6CEDA"/>
                </a:solidFill>
                <a:latin typeface="Noto Sans KR" pitchFamily="34" charset="0"/>
                <a:ea typeface="Noto Sans KR" pitchFamily="34" charset="-122"/>
                <a:cs typeface="Noto Sans KR" pitchFamily="34" charset="-120"/>
              </a:rPr>
              <a:t>리더보드 제출 마감</a:t>
            </a:r>
            <a:endParaRPr lang="en-US" sz="1875" dirty="0"/>
          </a:p>
        </p:txBody>
      </p:sp>
      <p:sp>
        <p:nvSpPr>
          <p:cNvPr id="20" name="Text 18"/>
          <p:cNvSpPr/>
          <p:nvPr/>
        </p:nvSpPr>
        <p:spPr>
          <a:xfrm>
            <a:off x="6260306" y="4229398"/>
            <a:ext cx="590550"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F6F4EF"/>
                </a:solidFill>
                <a:latin typeface="Noto Sans KR" pitchFamily="34" charset="0"/>
                <a:ea typeface="Noto Sans KR" pitchFamily="34" charset="-122"/>
                <a:cs typeface="Noto Sans KR" pitchFamily="34" charset="-120"/>
              </a:rPr>
              <a:t>9/29</a:t>
            </a:r>
            <a:endParaRPr lang="en-US" sz="1875" dirty="0"/>
          </a:p>
        </p:txBody>
      </p:sp>
      <p:sp>
        <p:nvSpPr>
          <p:cNvPr id="21" name="Shape 19"/>
          <p:cNvSpPr/>
          <p:nvPr/>
        </p:nvSpPr>
        <p:spPr>
          <a:xfrm>
            <a:off x="1276350" y="5172373"/>
            <a:ext cx="5498306" cy="9525"/>
          </a:xfrm>
          <a:prstGeom prst="rect">
            <a:avLst/>
          </a:prstGeom>
          <a:solidFill>
            <a:srgbClr val="33404F"/>
          </a:solidFill>
          <a:ln/>
        </p:spPr>
      </p:sp>
      <p:sp>
        <p:nvSpPr>
          <p:cNvPr id="22" name="Text 20"/>
          <p:cNvSpPr/>
          <p:nvPr/>
        </p:nvSpPr>
        <p:spPr>
          <a:xfrm>
            <a:off x="1276350" y="4753273"/>
            <a:ext cx="1019175" cy="381000"/>
          </a:xfrm>
          <a:prstGeom prst="rect">
            <a:avLst/>
          </a:prstGeom>
          <a:noFill/>
          <a:ln/>
        </p:spPr>
        <p:txBody>
          <a:bodyPr wrap="square" lIns="25400" tIns="25400" rIns="25400" bIns="25400" rtlCol="0" anchor="t">
            <a:normAutofit/>
          </a:bodyPr>
          <a:lstStyle/>
          <a:p>
            <a:pPr algn="l" indent="0" marL="0">
              <a:buNone/>
            </a:pPr>
            <a:r>
              <a:rPr lang="en-US" sz="1875" dirty="0">
                <a:solidFill>
                  <a:srgbClr val="C6CEDA"/>
                </a:solidFill>
                <a:latin typeface="Noto Sans KR" pitchFamily="34" charset="0"/>
                <a:ea typeface="Noto Sans KR" pitchFamily="34" charset="-122"/>
                <a:cs typeface="Noto Sans KR" pitchFamily="34" charset="-120"/>
              </a:rPr>
              <a:t>대회 종료</a:t>
            </a:r>
            <a:endParaRPr lang="en-US" sz="1875" dirty="0"/>
          </a:p>
        </p:txBody>
      </p:sp>
      <p:sp>
        <p:nvSpPr>
          <p:cNvPr id="23" name="Text 21"/>
          <p:cNvSpPr/>
          <p:nvPr/>
        </p:nvSpPr>
        <p:spPr>
          <a:xfrm>
            <a:off x="6260306" y="4753273"/>
            <a:ext cx="590550"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F6F4EF"/>
                </a:solidFill>
                <a:latin typeface="Noto Sans KR" pitchFamily="34" charset="0"/>
                <a:ea typeface="Noto Sans KR" pitchFamily="34" charset="-122"/>
                <a:cs typeface="Noto Sans KR" pitchFamily="34" charset="-120"/>
              </a:rPr>
              <a:t>9/30</a:t>
            </a:r>
            <a:endParaRPr lang="en-US" sz="1875" dirty="0"/>
          </a:p>
        </p:txBody>
      </p:sp>
      <p:sp>
        <p:nvSpPr>
          <p:cNvPr id="24" name="Shape 22"/>
          <p:cNvSpPr/>
          <p:nvPr/>
        </p:nvSpPr>
        <p:spPr>
          <a:xfrm>
            <a:off x="1276350" y="5696248"/>
            <a:ext cx="5498306" cy="9525"/>
          </a:xfrm>
          <a:prstGeom prst="rect">
            <a:avLst/>
          </a:prstGeom>
          <a:solidFill>
            <a:srgbClr val="33404F"/>
          </a:solidFill>
          <a:ln/>
        </p:spPr>
      </p:sp>
      <p:sp>
        <p:nvSpPr>
          <p:cNvPr id="25" name="Text 23"/>
          <p:cNvSpPr/>
          <p:nvPr/>
        </p:nvSpPr>
        <p:spPr>
          <a:xfrm>
            <a:off x="1276350" y="5277148"/>
            <a:ext cx="2052280" cy="381000"/>
          </a:xfrm>
          <a:prstGeom prst="rect">
            <a:avLst/>
          </a:prstGeom>
          <a:noFill/>
          <a:ln/>
        </p:spPr>
        <p:txBody>
          <a:bodyPr wrap="square" lIns="25400" tIns="25400" rIns="25400" bIns="25400" rtlCol="0" anchor="t">
            <a:normAutofit/>
          </a:bodyPr>
          <a:lstStyle/>
          <a:p>
            <a:pPr algn="l" indent="0" marL="0">
              <a:buNone/>
            </a:pPr>
            <a:r>
              <a:rPr lang="en-US" sz="1875" dirty="0">
                <a:solidFill>
                  <a:srgbClr val="C6CEDA"/>
                </a:solidFill>
                <a:latin typeface="Noto Sans KR" pitchFamily="34" charset="0"/>
                <a:ea typeface="Noto Sans KR" pitchFamily="34" charset="-122"/>
                <a:cs typeface="Noto Sans KR" pitchFamily="34" charset="-120"/>
              </a:rPr>
              <a:t>2차 평가 자료 제출</a:t>
            </a:r>
            <a:endParaRPr lang="en-US" sz="1875" dirty="0"/>
          </a:p>
        </p:txBody>
      </p:sp>
      <p:sp>
        <p:nvSpPr>
          <p:cNvPr id="26" name="Text 24"/>
          <p:cNvSpPr/>
          <p:nvPr/>
        </p:nvSpPr>
        <p:spPr>
          <a:xfrm>
            <a:off x="6260306" y="5277148"/>
            <a:ext cx="590550"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F6F4EF"/>
                </a:solidFill>
                <a:latin typeface="Noto Sans KR" pitchFamily="34" charset="0"/>
                <a:ea typeface="Noto Sans KR" pitchFamily="34" charset="-122"/>
                <a:cs typeface="Noto Sans KR" pitchFamily="34" charset="-120"/>
              </a:rPr>
              <a:t>10/5</a:t>
            </a:r>
            <a:endParaRPr lang="en-US" sz="1875" dirty="0"/>
          </a:p>
        </p:txBody>
      </p:sp>
      <p:sp>
        <p:nvSpPr>
          <p:cNvPr id="27" name="Shape 25"/>
          <p:cNvSpPr/>
          <p:nvPr/>
        </p:nvSpPr>
        <p:spPr>
          <a:xfrm>
            <a:off x="1276350" y="6220123"/>
            <a:ext cx="5498306" cy="9525"/>
          </a:xfrm>
          <a:prstGeom prst="rect">
            <a:avLst/>
          </a:prstGeom>
          <a:solidFill>
            <a:srgbClr val="33404F"/>
          </a:solidFill>
          <a:ln/>
        </p:spPr>
      </p:sp>
      <p:sp>
        <p:nvSpPr>
          <p:cNvPr id="28" name="Text 26"/>
          <p:cNvSpPr/>
          <p:nvPr/>
        </p:nvSpPr>
        <p:spPr>
          <a:xfrm>
            <a:off x="1276350" y="5801023"/>
            <a:ext cx="1592580" cy="381000"/>
          </a:xfrm>
          <a:prstGeom prst="rect">
            <a:avLst/>
          </a:prstGeom>
          <a:noFill/>
          <a:ln/>
        </p:spPr>
        <p:txBody>
          <a:bodyPr wrap="square" lIns="25400" tIns="25400" rIns="25400" bIns="25400" rtlCol="0" anchor="t">
            <a:normAutofit/>
          </a:bodyPr>
          <a:lstStyle/>
          <a:p>
            <a:pPr algn="l" indent="0" marL="0">
              <a:buNone/>
            </a:pPr>
            <a:r>
              <a:rPr lang="en-US" sz="1875" dirty="0">
                <a:solidFill>
                  <a:srgbClr val="C6CEDA"/>
                </a:solidFill>
                <a:latin typeface="Noto Sans KR" pitchFamily="34" charset="0"/>
                <a:ea typeface="Noto Sans KR" pitchFamily="34" charset="-122"/>
                <a:cs typeface="Noto Sans KR" pitchFamily="34" charset="-120"/>
              </a:rPr>
              <a:t>최종 결과 발표</a:t>
            </a:r>
            <a:endParaRPr lang="en-US" sz="1875" dirty="0"/>
          </a:p>
        </p:txBody>
      </p:sp>
      <p:sp>
        <p:nvSpPr>
          <p:cNvPr id="29" name="Text 27"/>
          <p:cNvSpPr/>
          <p:nvPr/>
        </p:nvSpPr>
        <p:spPr>
          <a:xfrm>
            <a:off x="6119813" y="5801023"/>
            <a:ext cx="731044"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F6F4EF"/>
                </a:solidFill>
                <a:latin typeface="Noto Sans KR" pitchFamily="34" charset="0"/>
                <a:ea typeface="Noto Sans KR" pitchFamily="34" charset="-122"/>
                <a:cs typeface="Noto Sans KR" pitchFamily="34" charset="-120"/>
              </a:rPr>
              <a:t>10/16</a:t>
            </a:r>
            <a:endParaRPr lang="en-US" sz="1875" dirty="0"/>
          </a:p>
        </p:txBody>
      </p:sp>
      <p:sp>
        <p:nvSpPr>
          <p:cNvPr id="30" name="Text 28"/>
          <p:cNvSpPr/>
          <p:nvPr/>
        </p:nvSpPr>
        <p:spPr>
          <a:xfrm>
            <a:off x="1276350" y="6324898"/>
            <a:ext cx="2419320" cy="381000"/>
          </a:xfrm>
          <a:prstGeom prst="rect">
            <a:avLst/>
          </a:prstGeom>
          <a:noFill/>
          <a:ln/>
        </p:spPr>
        <p:txBody>
          <a:bodyPr wrap="square" lIns="25400" tIns="25400" rIns="25400" bIns="25400" rtlCol="0" anchor="t">
            <a:normAutofit/>
          </a:bodyPr>
          <a:lstStyle/>
          <a:p>
            <a:pPr algn="l" indent="0" marL="0">
              <a:buNone/>
            </a:pPr>
            <a:r>
              <a:rPr lang="en-US" sz="1875" dirty="0">
                <a:solidFill>
                  <a:srgbClr val="C6CEDA"/>
                </a:solidFill>
                <a:latin typeface="Noto Sans KR" pitchFamily="34" charset="0"/>
                <a:ea typeface="Noto Sans KR" pitchFamily="34" charset="-122"/>
                <a:cs typeface="Noto Sans KR" pitchFamily="34" charset="-120"/>
              </a:rPr>
              <a:t>오프라인 시상식(예정)</a:t>
            </a:r>
            <a:endParaRPr lang="en-US" sz="1875" dirty="0"/>
          </a:p>
        </p:txBody>
      </p:sp>
      <p:sp>
        <p:nvSpPr>
          <p:cNvPr id="31" name="Text 29"/>
          <p:cNvSpPr/>
          <p:nvPr/>
        </p:nvSpPr>
        <p:spPr>
          <a:xfrm>
            <a:off x="6119813" y="6324898"/>
            <a:ext cx="731044"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F6F4EF"/>
                </a:solidFill>
                <a:latin typeface="Noto Sans KR" pitchFamily="34" charset="0"/>
                <a:ea typeface="Noto Sans KR" pitchFamily="34" charset="-122"/>
                <a:cs typeface="Noto Sans KR" pitchFamily="34" charset="-120"/>
              </a:rPr>
              <a:t>11/27</a:t>
            </a:r>
            <a:endParaRPr lang="en-US" sz="1875" dirty="0"/>
          </a:p>
        </p:txBody>
      </p:sp>
      <p:sp>
        <p:nvSpPr>
          <p:cNvPr id="32" name="Shape 30"/>
          <p:cNvSpPr/>
          <p:nvPr/>
        </p:nvSpPr>
        <p:spPr>
          <a:xfrm>
            <a:off x="1276350" y="6763048"/>
            <a:ext cx="5498306" cy="9525"/>
          </a:xfrm>
          <a:prstGeom prst="rect">
            <a:avLst/>
          </a:prstGeom>
          <a:solidFill>
            <a:srgbClr val="33404F"/>
          </a:solidFill>
          <a:ln/>
        </p:spPr>
      </p:sp>
      <p:sp>
        <p:nvSpPr>
          <p:cNvPr id="33" name="Text 31"/>
          <p:cNvSpPr/>
          <p:nvPr/>
        </p:nvSpPr>
        <p:spPr>
          <a:xfrm>
            <a:off x="1276350" y="6867823"/>
            <a:ext cx="5663255" cy="344686"/>
          </a:xfrm>
          <a:prstGeom prst="rect">
            <a:avLst/>
          </a:prstGeom>
          <a:noFill/>
          <a:ln/>
        </p:spPr>
        <p:txBody>
          <a:bodyPr wrap="square" lIns="25400" tIns="25400" rIns="25400" bIns="25400" rtlCol="0" anchor="t">
            <a:normAutofit/>
          </a:bodyPr>
          <a:lstStyle/>
          <a:p>
            <a:pPr algn="l" indent="0" marL="0">
              <a:lnSpc>
                <a:spcPct val="94706"/>
              </a:lnSpc>
              <a:buNone/>
            </a:pPr>
            <a:r>
              <a:rPr lang="en-US" sz="1725" dirty="0">
                <a:solidFill>
                  <a:srgbClr val="8FA0B1"/>
                </a:solidFill>
                <a:latin typeface="Noto Sans KR" pitchFamily="34" charset="0"/>
                <a:ea typeface="Noto Sans KR" pitchFamily="34" charset="-122"/>
                <a:cs typeface="Noto Sans KR" pitchFamily="34" charset="-120"/>
              </a:rPr>
              <a:t>시각은 공식 일정 탭 기준 (2026.09.15 확인)</a:t>
            </a:r>
            <a:endParaRPr lang="en-US" sz="1725" dirty="0"/>
          </a:p>
        </p:txBody>
      </p:sp>
      <p:sp>
        <p:nvSpPr>
          <p:cNvPr id="34" name="Text 32"/>
          <p:cNvSpPr/>
          <p:nvPr/>
        </p:nvSpPr>
        <p:spPr>
          <a:xfrm>
            <a:off x="7269956" y="3100685"/>
            <a:ext cx="1528896"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우리 팀 실행안</a:t>
            </a:r>
            <a:endParaRPr lang="en-US" sz="1800" dirty="0"/>
          </a:p>
        </p:txBody>
      </p:sp>
      <p:sp>
        <p:nvSpPr>
          <p:cNvPr id="35" name="Shape 33"/>
          <p:cNvSpPr/>
          <p:nvPr/>
        </p:nvSpPr>
        <p:spPr>
          <a:xfrm>
            <a:off x="8774162" y="3067348"/>
            <a:ext cx="2185392" cy="400050"/>
          </a:xfrm>
          <a:prstGeom prst="roundRect">
            <a:avLst>
              <a:gd name="adj" fmla="val 9524"/>
            </a:avLst>
          </a:prstGeom>
          <a:ln w="9525">
            <a:solidFill>
              <a:srgbClr val="E1B9B1"/>
            </a:solidFill>
            <a:prstDash val="solid"/>
          </a:ln>
        </p:spPr>
      </p:sp>
      <p:sp>
        <p:nvSpPr>
          <p:cNvPr id="36" name="Text 34"/>
          <p:cNvSpPr/>
          <p:nvPr/>
        </p:nvSpPr>
        <p:spPr>
          <a:xfrm>
            <a:off x="8878937" y="3105448"/>
            <a:ext cx="2052042" cy="361950"/>
          </a:xfrm>
          <a:prstGeom prst="rect">
            <a:avLst/>
          </a:prstGeom>
          <a:noFill/>
          <a:ln/>
        </p:spPr>
        <p:txBody>
          <a:bodyPr wrap="square" lIns="25400" tIns="25400" rIns="25400" bIns="25400" rtlCol="0" anchor="t">
            <a:normAutofit/>
          </a:bodyPr>
          <a:lstStyle/>
          <a:p>
            <a:pPr algn="l" indent="0" marL="0">
              <a:buNone/>
            </a:pPr>
            <a:r>
              <a:rPr lang="en-US" sz="1725" b="1" dirty="0">
                <a:solidFill>
                  <a:srgbClr val="A4402E"/>
                </a:solidFill>
                <a:latin typeface="Noto Sans KR" pitchFamily="34" charset="0"/>
                <a:ea typeface="Noto Sans KR" pitchFamily="34" charset="-122"/>
                <a:cs typeface="Noto Sans KR" pitchFamily="34" charset="-120"/>
              </a:rPr>
              <a:t>제안 · 공식 일정 아님</a:t>
            </a:r>
            <a:endParaRPr lang="en-US" sz="1725" dirty="0"/>
          </a:p>
        </p:txBody>
      </p:sp>
      <p:sp>
        <p:nvSpPr>
          <p:cNvPr id="37" name="Shape 35"/>
          <p:cNvSpPr/>
          <p:nvPr/>
        </p:nvSpPr>
        <p:spPr>
          <a:xfrm>
            <a:off x="7269956" y="3572173"/>
            <a:ext cx="9989344" cy="4210050"/>
          </a:xfrm>
          <a:prstGeom prst="roundRect">
            <a:avLst>
              <a:gd name="adj" fmla="val 1357"/>
            </a:avLst>
          </a:prstGeom>
          <a:solidFill>
            <a:srgbClr val="FFFFFF"/>
          </a:solidFill>
          <a:ln w="9525">
            <a:solidFill>
              <a:srgbClr val="E3DED3"/>
            </a:solidFill>
            <a:prstDash val="solid"/>
          </a:ln>
        </p:spPr>
      </p:sp>
      <p:sp>
        <p:nvSpPr>
          <p:cNvPr id="38" name="Shape 36"/>
          <p:cNvSpPr/>
          <p:nvPr/>
        </p:nvSpPr>
        <p:spPr>
          <a:xfrm>
            <a:off x="7508081" y="4534198"/>
            <a:ext cx="9513094" cy="9525"/>
          </a:xfrm>
          <a:prstGeom prst="rect">
            <a:avLst/>
          </a:prstGeom>
          <a:solidFill>
            <a:srgbClr val="DCD7CC"/>
          </a:solidFill>
          <a:ln/>
        </p:spPr>
      </p:sp>
      <p:sp>
        <p:nvSpPr>
          <p:cNvPr id="39" name="Text 37"/>
          <p:cNvSpPr/>
          <p:nvPr/>
        </p:nvSpPr>
        <p:spPr>
          <a:xfrm>
            <a:off x="7508081" y="3772198"/>
            <a:ext cx="1466850"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0F6B5E"/>
                </a:solidFill>
                <a:latin typeface="Noto Sans KR" pitchFamily="34" charset="0"/>
                <a:ea typeface="Noto Sans KR" pitchFamily="34" charset="-122"/>
                <a:cs typeface="Noto Sans KR" pitchFamily="34" charset="-120"/>
              </a:rPr>
              <a:t>9/15~9/17</a:t>
            </a:r>
            <a:endParaRPr lang="en-US" sz="1875" dirty="0"/>
          </a:p>
        </p:txBody>
      </p:sp>
      <p:sp>
        <p:nvSpPr>
          <p:cNvPr id="40" name="Text 38"/>
          <p:cNvSpPr/>
          <p:nvPr/>
        </p:nvSpPr>
        <p:spPr>
          <a:xfrm>
            <a:off x="9013031" y="3781723"/>
            <a:ext cx="8248388" cy="704850"/>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16202E"/>
                </a:solidFill>
                <a:latin typeface="Noto Sans KR" pitchFamily="34" charset="0"/>
                <a:ea typeface="Noto Sans KR" pitchFamily="34" charset="-122"/>
                <a:cs typeface="Noto Sans KR" pitchFamily="34" charset="-120"/>
              </a:rPr>
              <a:t>제출 성공 + 기준선 측정 </a:t>
            </a:r>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 리더보드 점수 1건 · dev 200건으로 API 정확도 기준선 · 저장소·모듈 분할 완료</a:t>
            </a:r>
            <a:endParaRPr lang="en-US" sz="1875" dirty="0"/>
          </a:p>
        </p:txBody>
      </p:sp>
      <p:sp>
        <p:nvSpPr>
          <p:cNvPr id="41" name="Shape 39"/>
          <p:cNvSpPr/>
          <p:nvPr/>
        </p:nvSpPr>
        <p:spPr>
          <a:xfrm>
            <a:off x="7508081" y="5400973"/>
            <a:ext cx="9513094" cy="9525"/>
          </a:xfrm>
          <a:prstGeom prst="rect">
            <a:avLst/>
          </a:prstGeom>
          <a:solidFill>
            <a:srgbClr val="DCD7CC"/>
          </a:solidFill>
          <a:ln/>
        </p:spPr>
      </p:sp>
      <p:sp>
        <p:nvSpPr>
          <p:cNvPr id="42" name="Text 40"/>
          <p:cNvSpPr/>
          <p:nvPr/>
        </p:nvSpPr>
        <p:spPr>
          <a:xfrm>
            <a:off x="7508081" y="4638973"/>
            <a:ext cx="1466850"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0F6B5E"/>
                </a:solidFill>
                <a:latin typeface="Noto Sans KR" pitchFamily="34" charset="0"/>
                <a:ea typeface="Noto Sans KR" pitchFamily="34" charset="-122"/>
                <a:cs typeface="Noto Sans KR" pitchFamily="34" charset="-120"/>
              </a:rPr>
              <a:t>9/18~9/21</a:t>
            </a:r>
            <a:endParaRPr lang="en-US" sz="1875" dirty="0"/>
          </a:p>
        </p:txBody>
      </p:sp>
      <p:sp>
        <p:nvSpPr>
          <p:cNvPr id="43" name="Text 41"/>
          <p:cNvSpPr/>
          <p:nvPr/>
        </p:nvSpPr>
        <p:spPr>
          <a:xfrm>
            <a:off x="9013031" y="4648498"/>
            <a:ext cx="8248388" cy="704850"/>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16202E"/>
                </a:solidFill>
                <a:latin typeface="Noto Sans KR" pitchFamily="34" charset="0"/>
                <a:ea typeface="Noto Sans KR" pitchFamily="34" charset="-122"/>
                <a:cs typeface="Noto Sans KR" pitchFamily="34" charset="-120"/>
              </a:rPr>
              <a:t>공장 1차 가동 </a:t>
            </a:r>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 명세 24개 초안·검토·승인 · 20,000건 라벨링 · 사례집 1차 · 반영 프롬프트로 재제출</a:t>
            </a:r>
            <a:endParaRPr lang="en-US" sz="1875" dirty="0"/>
          </a:p>
        </p:txBody>
      </p:sp>
      <p:sp>
        <p:nvSpPr>
          <p:cNvPr id="44" name="Shape 42"/>
          <p:cNvSpPr/>
          <p:nvPr/>
        </p:nvSpPr>
        <p:spPr>
          <a:xfrm>
            <a:off x="7508081" y="6267748"/>
            <a:ext cx="9513094" cy="9525"/>
          </a:xfrm>
          <a:prstGeom prst="rect">
            <a:avLst/>
          </a:prstGeom>
          <a:solidFill>
            <a:srgbClr val="DCD7CC"/>
          </a:solidFill>
          <a:ln/>
        </p:spPr>
      </p:sp>
      <p:sp>
        <p:nvSpPr>
          <p:cNvPr id="45" name="Text 43"/>
          <p:cNvSpPr/>
          <p:nvPr/>
        </p:nvSpPr>
        <p:spPr>
          <a:xfrm>
            <a:off x="7508081" y="5505748"/>
            <a:ext cx="1466850"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0F6B5E"/>
                </a:solidFill>
                <a:latin typeface="Noto Sans KR" pitchFamily="34" charset="0"/>
                <a:ea typeface="Noto Sans KR" pitchFamily="34" charset="-122"/>
                <a:cs typeface="Noto Sans KR" pitchFamily="34" charset="-120"/>
              </a:rPr>
              <a:t>9/22~9/25</a:t>
            </a:r>
            <a:endParaRPr lang="en-US" sz="1875" dirty="0"/>
          </a:p>
        </p:txBody>
      </p:sp>
      <p:sp>
        <p:nvSpPr>
          <p:cNvPr id="46" name="Text 44"/>
          <p:cNvSpPr/>
          <p:nvPr/>
        </p:nvSpPr>
        <p:spPr>
          <a:xfrm>
            <a:off x="9013031" y="5515273"/>
            <a:ext cx="8248388" cy="704850"/>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16202E"/>
                </a:solidFill>
                <a:latin typeface="Noto Sans KR" pitchFamily="34" charset="0"/>
                <a:ea typeface="Noto Sans KR" pitchFamily="34" charset="-122"/>
                <a:cs typeface="Noto Sans KR" pitchFamily="34" charset="-120"/>
              </a:rPr>
              <a:t>하루 한 바퀴 반복 </a:t>
            </a:r>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 오답 자동 분류 → 약한 항목 명세 수정 → 프롬프트 재생성 → 제출 · 검색 1·2단계 적용</a:t>
            </a:r>
            <a:endParaRPr lang="en-US" sz="1875" dirty="0"/>
          </a:p>
        </p:txBody>
      </p:sp>
      <p:sp>
        <p:nvSpPr>
          <p:cNvPr id="47" name="Shape 45"/>
          <p:cNvSpPr/>
          <p:nvPr/>
        </p:nvSpPr>
        <p:spPr>
          <a:xfrm>
            <a:off x="7508081" y="7134523"/>
            <a:ext cx="9513094" cy="9525"/>
          </a:xfrm>
          <a:prstGeom prst="rect">
            <a:avLst/>
          </a:prstGeom>
          <a:solidFill>
            <a:srgbClr val="DCD7CC"/>
          </a:solidFill>
          <a:ln/>
        </p:spPr>
      </p:sp>
      <p:sp>
        <p:nvSpPr>
          <p:cNvPr id="48" name="Text 46"/>
          <p:cNvSpPr/>
          <p:nvPr/>
        </p:nvSpPr>
        <p:spPr>
          <a:xfrm>
            <a:off x="7508081" y="6372523"/>
            <a:ext cx="1466850"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0F6B5E"/>
                </a:solidFill>
                <a:latin typeface="Noto Sans KR" pitchFamily="34" charset="0"/>
                <a:ea typeface="Noto Sans KR" pitchFamily="34" charset="-122"/>
                <a:cs typeface="Noto Sans KR" pitchFamily="34" charset="-120"/>
              </a:rPr>
              <a:t>9/26~9/28</a:t>
            </a:r>
            <a:endParaRPr lang="en-US" sz="1875" dirty="0"/>
          </a:p>
        </p:txBody>
      </p:sp>
      <p:sp>
        <p:nvSpPr>
          <p:cNvPr id="49" name="Text 47"/>
          <p:cNvSpPr/>
          <p:nvPr/>
        </p:nvSpPr>
        <p:spPr>
          <a:xfrm>
            <a:off x="9013031" y="6382048"/>
            <a:ext cx="8248388" cy="704850"/>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16202E"/>
                </a:solidFill>
                <a:latin typeface="Noto Sans KR" pitchFamily="34" charset="0"/>
                <a:ea typeface="Noto Sans KR" pitchFamily="34" charset="-122"/>
                <a:cs typeface="Noto Sans KR" pitchFamily="34" charset="-120"/>
              </a:rPr>
              <a:t>안정화 · 내부 마감 </a:t>
            </a:r>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 새 기능 중단 · 실행시간 여유 확인 · 2차 평가 자료 완결 · 최종 후보 제출</a:t>
            </a:r>
            <a:endParaRPr lang="en-US" sz="1875" dirty="0"/>
          </a:p>
        </p:txBody>
      </p:sp>
      <p:sp>
        <p:nvSpPr>
          <p:cNvPr id="50" name="Text 48"/>
          <p:cNvSpPr/>
          <p:nvPr/>
        </p:nvSpPr>
        <p:spPr>
          <a:xfrm>
            <a:off x="7508081" y="7239298"/>
            <a:ext cx="1466850"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A4402E"/>
                </a:solidFill>
                <a:latin typeface="Noto Sans KR" pitchFamily="34" charset="0"/>
                <a:ea typeface="Noto Sans KR" pitchFamily="34" charset="-122"/>
                <a:cs typeface="Noto Sans KR" pitchFamily="34" charset="-120"/>
              </a:rPr>
              <a:t>9/29 오전</a:t>
            </a:r>
            <a:endParaRPr lang="en-US" sz="1875" dirty="0"/>
          </a:p>
        </p:txBody>
      </p:sp>
      <p:sp>
        <p:nvSpPr>
          <p:cNvPr id="51" name="Text 49"/>
          <p:cNvSpPr/>
          <p:nvPr/>
        </p:nvSpPr>
        <p:spPr>
          <a:xfrm>
            <a:off x="9013031" y="7248823"/>
            <a:ext cx="8318480"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16202E"/>
                </a:solidFill>
                <a:latin typeface="Noto Sans KR" pitchFamily="34" charset="0"/>
                <a:ea typeface="Noto Sans KR" pitchFamily="34" charset="-122"/>
                <a:cs typeface="Noto Sans KR" pitchFamily="34" charset="-120"/>
              </a:rPr>
              <a:t>상태 확인만 </a:t>
            </a:r>
            <a:pPr algn="l" indent="0" marL="0">
              <a:lnSpc>
                <a:spcPct val="97222"/>
              </a:lnSpc>
              <a:buNone/>
            </a:pPr>
            <a:r>
              <a:rPr lang="en-US" sz="1875" dirty="0">
                <a:solidFill>
                  <a:srgbClr val="3C4654"/>
                </a:solidFill>
                <a:latin typeface="Noto Sans KR" pitchFamily="34" charset="0"/>
                <a:ea typeface="Noto Sans KR" pitchFamily="34" charset="-122"/>
                <a:cs typeface="Noto Sans KR" pitchFamily="34" charset="-120"/>
              </a:rPr>
              <a:t>— 검증된 버전 유지 · 새 시도 금지 (채점 대기열로 수 시간 소요)</a:t>
            </a:r>
            <a:endParaRPr lang="en-US" sz="18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001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비용과 실패 위험</a:t>
            </a:r>
            <a:endParaRPr lang="en-US" sz="1950" dirty="0"/>
          </a:p>
        </p:txBody>
      </p:sp>
      <p:sp>
        <p:nvSpPr>
          <p:cNvPr id="3" name="Text 1"/>
          <p:cNvSpPr/>
          <p:nvPr/>
        </p:nvSpPr>
        <p:spPr>
          <a:xfrm>
            <a:off x="1028700" y="1285875"/>
            <a:ext cx="16973550" cy="710059"/>
          </a:xfrm>
          <a:prstGeom prst="rect">
            <a:avLst/>
          </a:prstGeom>
          <a:noFill/>
          <a:ln/>
        </p:spPr>
        <p:txBody>
          <a:bodyPr wrap="square" lIns="25400" tIns="25400" rIns="25400" bIns="25400" rtlCol="0" anchor="t">
            <a:normAutofit/>
          </a:bodyPr>
          <a:lstStyle/>
          <a:p>
            <a:pPr algn="l" indent="0" marL="0">
              <a:lnSpc>
                <a:spcPct val="87111"/>
              </a:lnSpc>
              <a:buNone/>
            </a:pPr>
            <a:r>
              <a:rPr lang="en-US" sz="4200" b="1" spc="-42" kern="0" dirty="0">
                <a:solidFill>
                  <a:srgbClr val="16202E"/>
                </a:solidFill>
                <a:latin typeface="Noto Sans KR" pitchFamily="34" charset="0"/>
                <a:ea typeface="Noto Sans KR" pitchFamily="34" charset="-122"/>
                <a:cs typeface="Noto Sans KR" pitchFamily="34" charset="-120"/>
              </a:rPr>
              <a:t>예산은 미정으로 두고, 자동화가 만든 새 위험에 대응을 붙인다</a:t>
            </a:r>
            <a:endParaRPr lang="en-US" sz="4200" dirty="0"/>
          </a:p>
        </p:txBody>
      </p:sp>
      <p:sp>
        <p:nvSpPr>
          <p:cNvPr id="4" name="Shape 2"/>
          <p:cNvSpPr/>
          <p:nvPr/>
        </p:nvSpPr>
        <p:spPr>
          <a:xfrm>
            <a:off x="1028700" y="2243584"/>
            <a:ext cx="7183934" cy="5632549"/>
          </a:xfrm>
          <a:prstGeom prst="roundRect">
            <a:avLst>
              <a:gd name="adj" fmla="val 1015"/>
            </a:avLst>
          </a:prstGeom>
          <a:solidFill>
            <a:srgbClr val="FFFFFF"/>
          </a:solidFill>
          <a:ln w="9525">
            <a:solidFill>
              <a:srgbClr val="E3DED3"/>
            </a:solidFill>
            <a:prstDash val="solid"/>
          </a:ln>
        </p:spPr>
      </p:sp>
      <p:sp>
        <p:nvSpPr>
          <p:cNvPr id="5" name="Text 3"/>
          <p:cNvSpPr/>
          <p:nvPr/>
        </p:nvSpPr>
        <p:spPr>
          <a:xfrm>
            <a:off x="1323975" y="2500759"/>
            <a:ext cx="7252722"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비용 항목 (전부 미정)</a:t>
            </a:r>
            <a:endParaRPr lang="en-US" sz="1800" dirty="0"/>
          </a:p>
        </p:txBody>
      </p:sp>
      <p:sp>
        <p:nvSpPr>
          <p:cNvPr id="6" name="Shape 4"/>
          <p:cNvSpPr/>
          <p:nvPr/>
        </p:nvSpPr>
        <p:spPr>
          <a:xfrm>
            <a:off x="1323975" y="3715048"/>
            <a:ext cx="6593384" cy="9525"/>
          </a:xfrm>
          <a:prstGeom prst="rect">
            <a:avLst/>
          </a:prstGeom>
          <a:solidFill>
            <a:srgbClr val="DCD7CC"/>
          </a:solidFill>
          <a:ln/>
        </p:spPr>
      </p:sp>
      <p:sp>
        <p:nvSpPr>
          <p:cNvPr id="7" name="Text 5"/>
          <p:cNvSpPr/>
          <p:nvPr/>
        </p:nvSpPr>
        <p:spPr>
          <a:xfrm>
            <a:off x="1323975" y="2948434"/>
            <a:ext cx="2870717" cy="709464"/>
          </a:xfrm>
          <a:prstGeom prst="rect">
            <a:avLst/>
          </a:prstGeom>
          <a:noFill/>
          <a:ln/>
        </p:spPr>
        <p:txBody>
          <a:bodyPr wrap="square" lIns="25400" tIns="25400" rIns="25400" bIns="25400" rtlCol="0" anchor="t">
            <a:normAutofit/>
          </a:bodyPr>
          <a:lstStyle/>
          <a:p>
            <a:pPr algn="l" indent="0" marL="0">
              <a:lnSpc>
                <a:spcPct val="94865"/>
              </a:lnSpc>
              <a:buNone/>
            </a:pPr>
            <a:r>
              <a:rPr lang="en-US" sz="1950" dirty="0">
                <a:solidFill>
                  <a:srgbClr val="16202E"/>
                </a:solidFill>
                <a:latin typeface="Noto Sans KR" pitchFamily="34" charset="0"/>
                <a:ea typeface="Noto Sans KR" pitchFamily="34" charset="-122"/>
                <a:cs typeface="Noto Sans KR" pitchFamily="34" charset="-120"/>
              </a:rPr>
              <a:t>자가 라벨링 20,000건 호출 </a:t>
            </a:r>
            <a:pPr algn="l" indent="0" marL="0">
              <a:lnSpc>
                <a:spcPct val="94865"/>
              </a:lnSpc>
              <a:buNone/>
            </a:pPr>
            <a:r>
              <a:rPr lang="en-US" sz="1800" dirty="0">
                <a:solidFill>
                  <a:srgbClr val="7C8492"/>
                </a:solidFill>
                <a:latin typeface="Noto Sans KR" pitchFamily="34" charset="0"/>
                <a:ea typeface="Noto Sans KR" pitchFamily="34" charset="-122"/>
                <a:cs typeface="Noto Sans KR" pitchFamily="34" charset="-120"/>
              </a:rPr>
              <a:t>가장 큰 덩어리</a:t>
            </a:r>
            <a:endParaRPr lang="en-US" sz="1950" dirty="0"/>
          </a:p>
        </p:txBody>
      </p:sp>
      <p:sp>
        <p:nvSpPr>
          <p:cNvPr id="8" name="Text 6"/>
          <p:cNvSpPr/>
          <p:nvPr/>
        </p:nvSpPr>
        <p:spPr>
          <a:xfrm>
            <a:off x="7479209" y="2948434"/>
            <a:ext cx="514350" cy="709464"/>
          </a:xfrm>
          <a:prstGeom prst="rect">
            <a:avLst/>
          </a:prstGeom>
          <a:noFill/>
          <a:ln/>
        </p:spPr>
        <p:txBody>
          <a:bodyPr wrap="square" lIns="25400" tIns="25400" rIns="25400" bIns="25400" rtlCol="0" anchor="t">
            <a:normAutofit/>
          </a:bodyPr>
          <a:lstStyle/>
          <a:p>
            <a:pPr algn="l" indent="0" marL="0">
              <a:buNone/>
            </a:pPr>
            <a:r>
              <a:rPr lang="en-US" sz="1875" b="1" dirty="0">
                <a:solidFill>
                  <a:srgbClr val="A4402E"/>
                </a:solidFill>
                <a:latin typeface="Noto Sans KR" pitchFamily="34" charset="0"/>
                <a:ea typeface="Noto Sans KR" pitchFamily="34" charset="-122"/>
                <a:cs typeface="Noto Sans KR" pitchFamily="34" charset="-120"/>
              </a:rPr>
              <a:t>미정</a:t>
            </a:r>
            <a:endParaRPr lang="en-US" sz="1875" dirty="0"/>
          </a:p>
        </p:txBody>
      </p:sp>
      <p:sp>
        <p:nvSpPr>
          <p:cNvPr id="9" name="Shape 7"/>
          <p:cNvSpPr/>
          <p:nvPr/>
        </p:nvSpPr>
        <p:spPr>
          <a:xfrm>
            <a:off x="1323975" y="4605486"/>
            <a:ext cx="6593384" cy="9525"/>
          </a:xfrm>
          <a:prstGeom prst="rect">
            <a:avLst/>
          </a:prstGeom>
          <a:solidFill>
            <a:srgbClr val="DCD7CC"/>
          </a:solidFill>
          <a:ln/>
        </p:spPr>
      </p:sp>
      <p:sp>
        <p:nvSpPr>
          <p:cNvPr id="10" name="Text 8"/>
          <p:cNvSpPr/>
          <p:nvPr/>
        </p:nvSpPr>
        <p:spPr>
          <a:xfrm>
            <a:off x="1323975" y="3838873"/>
            <a:ext cx="3244906" cy="709464"/>
          </a:xfrm>
          <a:prstGeom prst="rect">
            <a:avLst/>
          </a:prstGeom>
          <a:noFill/>
          <a:ln/>
        </p:spPr>
        <p:txBody>
          <a:bodyPr wrap="square" lIns="25400" tIns="25400" rIns="25400" bIns="25400" rtlCol="0" anchor="t">
            <a:normAutofit/>
          </a:bodyPr>
          <a:lstStyle/>
          <a:p>
            <a:pPr algn="l" indent="0" marL="0">
              <a:lnSpc>
                <a:spcPct val="94865"/>
              </a:lnSpc>
              <a:buNone/>
            </a:pPr>
            <a:r>
              <a:rPr lang="en-US" sz="1950" dirty="0">
                <a:solidFill>
                  <a:srgbClr val="16202E"/>
                </a:solidFill>
                <a:latin typeface="Noto Sans KR" pitchFamily="34" charset="0"/>
                <a:ea typeface="Noto Sans KR" pitchFamily="34" charset="-122"/>
                <a:cs typeface="Noto Sans KR" pitchFamily="34" charset="-120"/>
              </a:rPr>
              <a:t>명세 생성·오답 분류 반복 호출 </a:t>
            </a:r>
            <a:pPr algn="l" indent="0" marL="0">
              <a:lnSpc>
                <a:spcPct val="94865"/>
              </a:lnSpc>
              <a:buNone/>
            </a:pPr>
            <a:r>
              <a:rPr lang="en-US" sz="1800" dirty="0">
                <a:solidFill>
                  <a:srgbClr val="7C8492"/>
                </a:solidFill>
                <a:latin typeface="Noto Sans KR" pitchFamily="34" charset="0"/>
                <a:ea typeface="Noto Sans KR" pitchFamily="34" charset="-122"/>
                <a:cs typeface="Noto Sans KR" pitchFamily="34" charset="-120"/>
              </a:rPr>
              <a:t>바퀴마다 누적</a:t>
            </a:r>
            <a:endParaRPr lang="en-US" sz="1950" dirty="0"/>
          </a:p>
        </p:txBody>
      </p:sp>
      <p:sp>
        <p:nvSpPr>
          <p:cNvPr id="11" name="Text 9"/>
          <p:cNvSpPr/>
          <p:nvPr/>
        </p:nvSpPr>
        <p:spPr>
          <a:xfrm>
            <a:off x="7479209" y="3838873"/>
            <a:ext cx="514350" cy="709464"/>
          </a:xfrm>
          <a:prstGeom prst="rect">
            <a:avLst/>
          </a:prstGeom>
          <a:noFill/>
          <a:ln/>
        </p:spPr>
        <p:txBody>
          <a:bodyPr wrap="square" lIns="25400" tIns="25400" rIns="25400" bIns="25400" rtlCol="0" anchor="t">
            <a:normAutofit/>
          </a:bodyPr>
          <a:lstStyle/>
          <a:p>
            <a:pPr algn="l" indent="0" marL="0">
              <a:buNone/>
            </a:pPr>
            <a:r>
              <a:rPr lang="en-US" sz="1875" b="1" dirty="0">
                <a:solidFill>
                  <a:srgbClr val="A4402E"/>
                </a:solidFill>
                <a:latin typeface="Noto Sans KR" pitchFamily="34" charset="0"/>
                <a:ea typeface="Noto Sans KR" pitchFamily="34" charset="-122"/>
                <a:cs typeface="Noto Sans KR" pitchFamily="34" charset="-120"/>
              </a:rPr>
              <a:t>미정</a:t>
            </a:r>
            <a:endParaRPr lang="en-US" sz="1875" dirty="0"/>
          </a:p>
        </p:txBody>
      </p:sp>
      <p:sp>
        <p:nvSpPr>
          <p:cNvPr id="12" name="Shape 10"/>
          <p:cNvSpPr/>
          <p:nvPr/>
        </p:nvSpPr>
        <p:spPr>
          <a:xfrm>
            <a:off x="1323975" y="5167461"/>
            <a:ext cx="6593384" cy="9525"/>
          </a:xfrm>
          <a:prstGeom prst="rect">
            <a:avLst/>
          </a:prstGeom>
          <a:solidFill>
            <a:srgbClr val="DCD7CC"/>
          </a:solidFill>
          <a:ln/>
        </p:spPr>
      </p:sp>
      <p:sp>
        <p:nvSpPr>
          <p:cNvPr id="13" name="Text 11"/>
          <p:cNvSpPr/>
          <p:nvPr/>
        </p:nvSpPr>
        <p:spPr>
          <a:xfrm>
            <a:off x="1323975" y="4729311"/>
            <a:ext cx="2728570" cy="381000"/>
          </a:xfrm>
          <a:prstGeom prst="rect">
            <a:avLst/>
          </a:prstGeom>
          <a:noFill/>
          <a:ln/>
        </p:spPr>
        <p:txBody>
          <a:bodyPr wrap="square" lIns="25400" tIns="25400" rIns="25400" bIns="25400" rtlCol="0" anchor="t">
            <a:normAutofit/>
          </a:bodyPr>
          <a:lstStyle/>
          <a:p>
            <a:pPr algn="l" indent="0" marL="0">
              <a:lnSpc>
                <a:spcPct val="94865"/>
              </a:lnSpc>
              <a:buNone/>
            </a:pPr>
            <a:r>
              <a:rPr lang="en-US" sz="1950" dirty="0">
                <a:solidFill>
                  <a:srgbClr val="16202E"/>
                </a:solidFill>
                <a:latin typeface="Noto Sans KR" pitchFamily="34" charset="0"/>
                <a:ea typeface="Noto Sans KR" pitchFamily="34" charset="-122"/>
                <a:cs typeface="Noto Sans KR" pitchFamily="34" charset="-120"/>
              </a:rPr>
              <a:t>AI 코딩 도구 구독 ×5인</a:t>
            </a:r>
            <a:endParaRPr lang="en-US" sz="1950" dirty="0"/>
          </a:p>
        </p:txBody>
      </p:sp>
      <p:sp>
        <p:nvSpPr>
          <p:cNvPr id="14" name="Text 12"/>
          <p:cNvSpPr/>
          <p:nvPr/>
        </p:nvSpPr>
        <p:spPr>
          <a:xfrm>
            <a:off x="7479209" y="4729311"/>
            <a:ext cx="514350"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A4402E"/>
                </a:solidFill>
                <a:latin typeface="Noto Sans KR" pitchFamily="34" charset="0"/>
                <a:ea typeface="Noto Sans KR" pitchFamily="34" charset="-122"/>
                <a:cs typeface="Noto Sans KR" pitchFamily="34" charset="-120"/>
              </a:rPr>
              <a:t>미정</a:t>
            </a:r>
            <a:endParaRPr lang="en-US" sz="1875" dirty="0"/>
          </a:p>
        </p:txBody>
      </p:sp>
      <p:sp>
        <p:nvSpPr>
          <p:cNvPr id="15" name="Text 13"/>
          <p:cNvSpPr/>
          <p:nvPr/>
        </p:nvSpPr>
        <p:spPr>
          <a:xfrm>
            <a:off x="1323975" y="5291286"/>
            <a:ext cx="2539811" cy="381000"/>
          </a:xfrm>
          <a:prstGeom prst="rect">
            <a:avLst/>
          </a:prstGeom>
          <a:noFill/>
          <a:ln/>
        </p:spPr>
        <p:txBody>
          <a:bodyPr wrap="square" lIns="25400" tIns="25400" rIns="25400" bIns="25400" rtlCol="0" anchor="t">
            <a:normAutofit/>
          </a:bodyPr>
          <a:lstStyle/>
          <a:p>
            <a:pPr algn="l" indent="0" marL="0">
              <a:lnSpc>
                <a:spcPct val="94865"/>
              </a:lnSpc>
              <a:buNone/>
            </a:pPr>
            <a:r>
              <a:rPr lang="en-US" sz="1950" dirty="0">
                <a:solidFill>
                  <a:srgbClr val="16202E"/>
                </a:solidFill>
                <a:latin typeface="Noto Sans KR" pitchFamily="34" charset="0"/>
                <a:ea typeface="Noto Sans KR" pitchFamily="34" charset="-122"/>
                <a:cs typeface="Noto Sans KR" pitchFamily="34" charset="-120"/>
              </a:rPr>
              <a:t>로컬 검증용 GPU 임대</a:t>
            </a:r>
            <a:endParaRPr lang="en-US" sz="1950" dirty="0"/>
          </a:p>
        </p:txBody>
      </p:sp>
      <p:sp>
        <p:nvSpPr>
          <p:cNvPr id="16" name="Text 14"/>
          <p:cNvSpPr/>
          <p:nvPr/>
        </p:nvSpPr>
        <p:spPr>
          <a:xfrm>
            <a:off x="7479209" y="5291286"/>
            <a:ext cx="514350" cy="381000"/>
          </a:xfrm>
          <a:prstGeom prst="rect">
            <a:avLst/>
          </a:prstGeom>
          <a:noFill/>
          <a:ln/>
        </p:spPr>
        <p:txBody>
          <a:bodyPr wrap="square" lIns="25400" tIns="25400" rIns="25400" bIns="25400" rtlCol="0" anchor="t">
            <a:normAutofit/>
          </a:bodyPr>
          <a:lstStyle/>
          <a:p>
            <a:pPr algn="l" indent="0" marL="0">
              <a:buNone/>
            </a:pPr>
            <a:r>
              <a:rPr lang="en-US" sz="1875" b="1" dirty="0">
                <a:solidFill>
                  <a:srgbClr val="A4402E"/>
                </a:solidFill>
                <a:latin typeface="Noto Sans KR" pitchFamily="34" charset="0"/>
                <a:ea typeface="Noto Sans KR" pitchFamily="34" charset="-122"/>
                <a:cs typeface="Noto Sans KR" pitchFamily="34" charset="-120"/>
              </a:rPr>
              <a:t>미정</a:t>
            </a:r>
            <a:endParaRPr lang="en-US" sz="1875" dirty="0"/>
          </a:p>
        </p:txBody>
      </p:sp>
      <p:sp>
        <p:nvSpPr>
          <p:cNvPr id="17" name="Shape 15"/>
          <p:cNvSpPr/>
          <p:nvPr/>
        </p:nvSpPr>
        <p:spPr>
          <a:xfrm>
            <a:off x="1323975" y="5748486"/>
            <a:ext cx="6593384" cy="9525"/>
          </a:xfrm>
          <a:prstGeom prst="rect">
            <a:avLst/>
          </a:prstGeom>
          <a:solidFill>
            <a:srgbClr val="DCD7CC"/>
          </a:solidFill>
          <a:ln/>
        </p:spPr>
      </p:sp>
      <p:sp>
        <p:nvSpPr>
          <p:cNvPr id="18" name="Text 16"/>
          <p:cNvSpPr/>
          <p:nvPr/>
        </p:nvSpPr>
        <p:spPr>
          <a:xfrm>
            <a:off x="1323975" y="5862786"/>
            <a:ext cx="6791185" cy="678061"/>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7C8492"/>
                </a:solidFill>
                <a:latin typeface="Noto Sans KR" pitchFamily="34" charset="0"/>
                <a:ea typeface="Noto Sans KR" pitchFamily="34" charset="-122"/>
                <a:cs typeface="Noto Sans KR" pitchFamily="34" charset="-120"/>
              </a:rPr>
              <a:t>추정이 필요하면 건수·토큰 수·단가를 가정으로 명시한다. 실행 제한 2시간을 실제 소요시간으로 쓰지 않는다.</a:t>
            </a:r>
            <a:endParaRPr lang="en-US" sz="1800" dirty="0"/>
          </a:p>
        </p:txBody>
      </p:sp>
      <p:sp>
        <p:nvSpPr>
          <p:cNvPr id="19" name="Text 17"/>
          <p:cNvSpPr/>
          <p:nvPr/>
        </p:nvSpPr>
        <p:spPr>
          <a:xfrm>
            <a:off x="1323975" y="6617047"/>
            <a:ext cx="6791185" cy="678061"/>
          </a:xfrm>
          <a:prstGeom prst="rect">
            <a:avLst/>
          </a:prstGeom>
          <a:noFill/>
          <a:ln/>
        </p:spPr>
        <p:txBody>
          <a:bodyPr wrap="square" lIns="25400" tIns="25400" rIns="25400" bIns="25400" rtlCol="0" anchor="t">
            <a:normAutofit/>
          </a:bodyPr>
          <a:lstStyle/>
          <a:p>
            <a:pPr algn="l" indent="0" marL="0">
              <a:lnSpc>
                <a:spcPct val="96000"/>
              </a:lnSpc>
              <a:buNone/>
            </a:pPr>
            <a:r>
              <a:rPr lang="en-US" sz="1800" b="1" dirty="0">
                <a:solidFill>
                  <a:srgbClr val="0F6B5E"/>
                </a:solidFill>
                <a:latin typeface="Noto Sans KR" pitchFamily="34" charset="0"/>
                <a:ea typeface="Noto Sans KR" pitchFamily="34" charset="-122"/>
                <a:cs typeface="Noto Sans KR" pitchFamily="34" charset="-120"/>
              </a:rPr>
              <a:t>로컬 GPU가 없어도 참가 가능 — 채점용 모델·GPU는 평가 서버가 제공</a:t>
            </a:r>
            <a:endParaRPr lang="en-US" sz="1800" dirty="0"/>
          </a:p>
        </p:txBody>
      </p:sp>
      <p:sp>
        <p:nvSpPr>
          <p:cNvPr id="20" name="Text 18"/>
          <p:cNvSpPr/>
          <p:nvPr/>
        </p:nvSpPr>
        <p:spPr>
          <a:xfrm>
            <a:off x="8498384" y="2243584"/>
            <a:ext cx="963700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A4402E"/>
                </a:solidFill>
                <a:latin typeface="Noto Sans KR" pitchFamily="34" charset="0"/>
                <a:ea typeface="Noto Sans KR" pitchFamily="34" charset="-122"/>
                <a:cs typeface="Noto Sans KR" pitchFamily="34" charset="-120"/>
              </a:rPr>
              <a:t>자동화가 만든 새 위험</a:t>
            </a:r>
            <a:endParaRPr lang="en-US" sz="1800" dirty="0"/>
          </a:p>
        </p:txBody>
      </p:sp>
      <p:sp>
        <p:nvSpPr>
          <p:cNvPr id="21" name="Shape 19"/>
          <p:cNvSpPr/>
          <p:nvPr/>
        </p:nvSpPr>
        <p:spPr>
          <a:xfrm>
            <a:off x="8498384" y="2691259"/>
            <a:ext cx="8760916" cy="2651224"/>
          </a:xfrm>
          <a:prstGeom prst="roundRect">
            <a:avLst>
              <a:gd name="adj" fmla="val 2156"/>
            </a:avLst>
          </a:prstGeom>
          <a:solidFill>
            <a:srgbClr val="FFFFFF"/>
          </a:solidFill>
          <a:ln w="9525">
            <a:solidFill>
              <a:srgbClr val="E1B9B1"/>
            </a:solidFill>
            <a:prstDash val="solid"/>
          </a:ln>
        </p:spPr>
      </p:sp>
      <p:sp>
        <p:nvSpPr>
          <p:cNvPr id="22" name="Text 20"/>
          <p:cNvSpPr/>
          <p:nvPr/>
        </p:nvSpPr>
        <p:spPr>
          <a:xfrm>
            <a:off x="8755559" y="2891284"/>
            <a:ext cx="8493963" cy="731341"/>
          </a:xfrm>
          <a:prstGeom prst="rect">
            <a:avLst/>
          </a:prstGeom>
          <a:noFill/>
          <a:ln/>
        </p:spPr>
        <p:txBody>
          <a:bodyPr wrap="square" lIns="25400" tIns="25400" rIns="25400" bIns="25400" rtlCol="0" anchor="t">
            <a:normAutofit/>
          </a:bodyPr>
          <a:lstStyle/>
          <a:p>
            <a:pPr algn="l" indent="0" marL="0">
              <a:lnSpc>
                <a:spcPct val="98378"/>
              </a:lnSpc>
              <a:buNone/>
            </a:pPr>
            <a:r>
              <a:rPr lang="en-US" sz="1950" b="1" dirty="0">
                <a:solidFill>
                  <a:srgbClr val="A4402E"/>
                </a:solidFill>
                <a:latin typeface="Noto Sans KR" pitchFamily="34" charset="0"/>
                <a:ea typeface="Noto Sans KR" pitchFamily="34" charset="-122"/>
                <a:cs typeface="Noto Sans KR" pitchFamily="34" charset="-120"/>
              </a:rPr>
              <a:t>잘못된 산출물 증폭 </a:t>
            </a:r>
            <a:pPr algn="l" indent="0" marL="0">
              <a:lnSpc>
                <a:spcPct val="98378"/>
              </a:lnSpc>
              <a:buNone/>
            </a:pPr>
            <a:r>
              <a:rPr lang="en-US" sz="1950" dirty="0">
                <a:solidFill>
                  <a:srgbClr val="16202E"/>
                </a:solidFill>
                <a:latin typeface="Noto Sans KR" pitchFamily="34" charset="0"/>
                <a:ea typeface="Noto Sans KR" pitchFamily="34" charset="-122"/>
                <a:cs typeface="Noto Sans KR" pitchFamily="34" charset="-120"/>
              </a:rPr>
              <a:t>— 틀린 명세가 라벨·프롬프트·사례로 번진다 → </a:t>
            </a:r>
            <a:pPr algn="l" indent="0" marL="0">
              <a:lnSpc>
                <a:spcPct val="98378"/>
              </a:lnSpc>
              <a:buNone/>
            </a:pPr>
            <a:r>
              <a:rPr lang="en-US" sz="1950" b="1" dirty="0">
                <a:solidFill>
                  <a:srgbClr val="16202E"/>
                </a:solidFill>
                <a:latin typeface="Noto Sans KR" pitchFamily="34" charset="0"/>
                <a:ea typeface="Noto Sans KR" pitchFamily="34" charset="-122"/>
                <a:cs typeface="Noto Sans KR" pitchFamily="34" charset="-120"/>
              </a:rPr>
              <a:t>기준선 측정과 라인별 통과 조건</a:t>
            </a:r>
            <a:endParaRPr lang="en-US" sz="1950" dirty="0"/>
          </a:p>
        </p:txBody>
      </p:sp>
      <p:sp>
        <p:nvSpPr>
          <p:cNvPr id="23" name="Text 21"/>
          <p:cNvSpPr/>
          <p:nvPr/>
        </p:nvSpPr>
        <p:spPr>
          <a:xfrm>
            <a:off x="8755559" y="3670250"/>
            <a:ext cx="8493963" cy="731341"/>
          </a:xfrm>
          <a:prstGeom prst="rect">
            <a:avLst/>
          </a:prstGeom>
          <a:noFill/>
          <a:ln/>
        </p:spPr>
        <p:txBody>
          <a:bodyPr wrap="square" lIns="25400" tIns="25400" rIns="25400" bIns="25400" rtlCol="0" anchor="t">
            <a:normAutofit/>
          </a:bodyPr>
          <a:lstStyle/>
          <a:p>
            <a:pPr algn="l" indent="0" marL="0">
              <a:lnSpc>
                <a:spcPct val="98378"/>
              </a:lnSpc>
              <a:buNone/>
            </a:pPr>
            <a:r>
              <a:rPr lang="en-US" sz="1950" b="1" dirty="0">
                <a:solidFill>
                  <a:srgbClr val="A4402E"/>
                </a:solidFill>
                <a:latin typeface="Noto Sans KR" pitchFamily="34" charset="0"/>
                <a:ea typeface="Noto Sans KR" pitchFamily="34" charset="-122"/>
                <a:cs typeface="Noto Sans KR" pitchFamily="34" charset="-120"/>
              </a:rPr>
              <a:t>형식적 검토 </a:t>
            </a:r>
            <a:pPr algn="l" indent="0" marL="0">
              <a:lnSpc>
                <a:spcPct val="98378"/>
              </a:lnSpc>
              <a:buNone/>
            </a:pPr>
            <a:r>
              <a:rPr lang="en-US" sz="1950" dirty="0">
                <a:solidFill>
                  <a:srgbClr val="16202E"/>
                </a:solidFill>
                <a:latin typeface="Noto Sans KR" pitchFamily="34" charset="0"/>
                <a:ea typeface="Noto Sans KR" pitchFamily="34" charset="-122"/>
                <a:cs typeface="Noto Sans KR" pitchFamily="34" charset="-120"/>
              </a:rPr>
              <a:t>— 대충 통과시키면 자동 오류 생산 → </a:t>
            </a:r>
            <a:pPr algn="l" indent="0" marL="0">
              <a:lnSpc>
                <a:spcPct val="98378"/>
              </a:lnSpc>
              <a:buNone/>
            </a:pPr>
            <a:r>
              <a:rPr lang="en-US" sz="1950" b="1" dirty="0">
                <a:solidFill>
                  <a:srgbClr val="16202E"/>
                </a:solidFill>
                <a:latin typeface="Noto Sans KR" pitchFamily="34" charset="0"/>
                <a:ea typeface="Noto Sans KR" pitchFamily="34" charset="-122"/>
                <a:cs typeface="Noto Sans KR" pitchFamily="34" charset="-120"/>
              </a:rPr>
              <a:t>승인본에 검토자 이름 + 5칸 체크리스트</a:t>
            </a:r>
            <a:endParaRPr lang="en-US" sz="1950" dirty="0"/>
          </a:p>
        </p:txBody>
      </p:sp>
      <p:sp>
        <p:nvSpPr>
          <p:cNvPr id="24" name="Text 22"/>
          <p:cNvSpPr/>
          <p:nvPr/>
        </p:nvSpPr>
        <p:spPr>
          <a:xfrm>
            <a:off x="8755559" y="4449217"/>
            <a:ext cx="8493963" cy="731341"/>
          </a:xfrm>
          <a:prstGeom prst="rect">
            <a:avLst/>
          </a:prstGeom>
          <a:noFill/>
          <a:ln/>
        </p:spPr>
        <p:txBody>
          <a:bodyPr wrap="square" lIns="25400" tIns="25400" rIns="25400" bIns="25400" rtlCol="0" anchor="t">
            <a:normAutofit/>
          </a:bodyPr>
          <a:lstStyle/>
          <a:p>
            <a:pPr algn="l" indent="0" marL="0">
              <a:lnSpc>
                <a:spcPct val="98378"/>
              </a:lnSpc>
              <a:buNone/>
            </a:pPr>
            <a:r>
              <a:rPr lang="en-US" sz="1950" b="1" dirty="0">
                <a:solidFill>
                  <a:srgbClr val="A4402E"/>
                </a:solidFill>
                <a:latin typeface="Noto Sans KR" pitchFamily="34" charset="0"/>
                <a:ea typeface="Noto Sans KR" pitchFamily="34" charset="-122"/>
                <a:cs typeface="Noto Sans KR" pitchFamily="34" charset="-120"/>
              </a:rPr>
              <a:t>규칙 경계 착오 </a:t>
            </a:r>
            <a:pPr algn="l" indent="0" marL="0">
              <a:lnSpc>
                <a:spcPct val="98378"/>
              </a:lnSpc>
              <a:buNone/>
            </a:pPr>
            <a:r>
              <a:rPr lang="en-US" sz="1950" dirty="0">
                <a:solidFill>
                  <a:srgbClr val="16202E"/>
                </a:solidFill>
                <a:latin typeface="Noto Sans KR" pitchFamily="34" charset="0"/>
                <a:ea typeface="Noto Sans KR" pitchFamily="34" charset="-122"/>
                <a:cs typeface="Noto Sans KR" pitchFamily="34" charset="-120"/>
              </a:rPr>
              <a:t>— 제출 코드에 API 호출이 남으면 무효 → </a:t>
            </a:r>
            <a:pPr algn="l" indent="0" marL="0">
              <a:lnSpc>
                <a:spcPct val="98378"/>
              </a:lnSpc>
              <a:buNone/>
            </a:pPr>
            <a:r>
              <a:rPr lang="en-US" sz="1950" b="1" dirty="0">
                <a:solidFill>
                  <a:srgbClr val="16202E"/>
                </a:solidFill>
                <a:latin typeface="Noto Sans KR" pitchFamily="34" charset="0"/>
                <a:ea typeface="Noto Sans KR" pitchFamily="34" charset="-122"/>
                <a:cs typeface="Noto Sans KR" pitchFamily="34" charset="-120"/>
              </a:rPr>
              <a:t>제출 전 규칙 체크리스트</a:t>
            </a:r>
            <a:endParaRPr lang="en-US" sz="1950" dirty="0"/>
          </a:p>
        </p:txBody>
      </p:sp>
      <p:sp>
        <p:nvSpPr>
          <p:cNvPr id="25" name="Text 23"/>
          <p:cNvSpPr/>
          <p:nvPr/>
        </p:nvSpPr>
        <p:spPr>
          <a:xfrm>
            <a:off x="8498384" y="5456783"/>
            <a:ext cx="9637008"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원래 있던 위험</a:t>
            </a:r>
            <a:endParaRPr lang="en-US" sz="1800" dirty="0"/>
          </a:p>
        </p:txBody>
      </p:sp>
      <p:sp>
        <p:nvSpPr>
          <p:cNvPr id="26" name="Shape 24"/>
          <p:cNvSpPr/>
          <p:nvPr/>
        </p:nvSpPr>
        <p:spPr>
          <a:xfrm>
            <a:off x="8498384" y="5904458"/>
            <a:ext cx="8760916" cy="1971675"/>
          </a:xfrm>
          <a:prstGeom prst="roundRect">
            <a:avLst>
              <a:gd name="adj" fmla="val 2899"/>
            </a:avLst>
          </a:prstGeom>
          <a:solidFill>
            <a:srgbClr val="16202E"/>
          </a:solidFill>
          <a:ln/>
        </p:spPr>
      </p:sp>
      <p:sp>
        <p:nvSpPr>
          <p:cNvPr id="27" name="Text 25"/>
          <p:cNvSpPr/>
          <p:nvPr/>
        </p:nvSpPr>
        <p:spPr>
          <a:xfrm>
            <a:off x="8746034" y="6094958"/>
            <a:ext cx="9092178"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F6F4EF"/>
                </a:solidFill>
                <a:latin typeface="Noto Sans KR" pitchFamily="34" charset="0"/>
                <a:ea typeface="Noto Sans KR" pitchFamily="34" charset="-122"/>
                <a:cs typeface="Noto Sans KR" pitchFamily="34" charset="-120"/>
              </a:rPr>
              <a:t>마감 직전 실행 실패 </a:t>
            </a:r>
            <a:pPr algn="l" indent="0" marL="0">
              <a:lnSpc>
                <a:spcPct val="97222"/>
              </a:lnSpc>
              <a:buNone/>
            </a:pPr>
            <a:r>
              <a:rPr lang="en-US" sz="1875" dirty="0">
                <a:solidFill>
                  <a:srgbClr val="F6F4EF"/>
                </a:solidFill>
                <a:latin typeface="Noto Sans KR" pitchFamily="34" charset="0"/>
                <a:ea typeface="Noto Sans KR" pitchFamily="34" charset="-122"/>
                <a:cs typeface="Noto Sans KR" pitchFamily="34" charset="-120"/>
              </a:rPr>
              <a:t>— 내부 마감 9/28, 검증된 버전 항상 보관</a:t>
            </a:r>
            <a:endParaRPr lang="en-US" sz="1875" dirty="0"/>
          </a:p>
        </p:txBody>
      </p:sp>
      <p:sp>
        <p:nvSpPr>
          <p:cNvPr id="28" name="Text 26"/>
          <p:cNvSpPr/>
          <p:nvPr/>
        </p:nvSpPr>
        <p:spPr>
          <a:xfrm>
            <a:off x="8746034" y="6514058"/>
            <a:ext cx="9092178"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F6F4EF"/>
                </a:solidFill>
                <a:latin typeface="Noto Sans KR" pitchFamily="34" charset="0"/>
                <a:ea typeface="Noto Sans KR" pitchFamily="34" charset="-122"/>
                <a:cs typeface="Noto Sans KR" pitchFamily="34" charset="-120"/>
              </a:rPr>
              <a:t>실행시간 초과 </a:t>
            </a:r>
            <a:pPr algn="l" indent="0" marL="0">
              <a:lnSpc>
                <a:spcPct val="97222"/>
              </a:lnSpc>
              <a:buNone/>
            </a:pPr>
            <a:r>
              <a:rPr lang="en-US" sz="1875" dirty="0">
                <a:solidFill>
                  <a:srgbClr val="F6F4EF"/>
                </a:solidFill>
                <a:latin typeface="Noto Sans KR" pitchFamily="34" charset="0"/>
                <a:ea typeface="Noto Sans KR" pitchFamily="34" charset="-122"/>
                <a:cs typeface="Noto Sans KR" pitchFamily="34" charset="-120"/>
              </a:rPr>
              <a:t>— 변경마다 실행시간 기록, 2시간 대비 여유 확인</a:t>
            </a:r>
            <a:endParaRPr lang="en-US" sz="1875" dirty="0"/>
          </a:p>
        </p:txBody>
      </p:sp>
      <p:sp>
        <p:nvSpPr>
          <p:cNvPr id="29" name="Text 27"/>
          <p:cNvSpPr/>
          <p:nvPr/>
        </p:nvSpPr>
        <p:spPr>
          <a:xfrm>
            <a:off x="8746034" y="6933158"/>
            <a:ext cx="9092178"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F6F4EF"/>
                </a:solidFill>
                <a:latin typeface="Noto Sans KR" pitchFamily="34" charset="0"/>
                <a:ea typeface="Noto Sans KR" pitchFamily="34" charset="-122"/>
                <a:cs typeface="Noto Sans KR" pitchFamily="34" charset="-120"/>
              </a:rPr>
              <a:t>dev 과적합 </a:t>
            </a:r>
            <a:pPr algn="l" indent="0" marL="0">
              <a:lnSpc>
                <a:spcPct val="97222"/>
              </a:lnSpc>
              <a:buNone/>
            </a:pPr>
            <a:r>
              <a:rPr lang="en-US" sz="1875" dirty="0">
                <a:solidFill>
                  <a:srgbClr val="F6F4EF"/>
                </a:solidFill>
                <a:latin typeface="Noto Sans KR" pitchFamily="34" charset="0"/>
                <a:ea typeface="Noto Sans KR" pitchFamily="34" charset="-122"/>
                <a:cs typeface="Noto Sans KR" pitchFamily="34" charset="-120"/>
              </a:rPr>
              <a:t>— 항목별 점수로 판단, 예외 규칙 누적 금지</a:t>
            </a:r>
            <a:endParaRPr lang="en-US" sz="1875" dirty="0"/>
          </a:p>
        </p:txBody>
      </p:sp>
      <p:sp>
        <p:nvSpPr>
          <p:cNvPr id="30" name="Text 28"/>
          <p:cNvSpPr/>
          <p:nvPr/>
        </p:nvSpPr>
        <p:spPr>
          <a:xfrm>
            <a:off x="8746034" y="7352258"/>
            <a:ext cx="9092178" cy="371475"/>
          </a:xfrm>
          <a:prstGeom prst="rect">
            <a:avLst/>
          </a:prstGeom>
          <a:noFill/>
          <a:ln/>
        </p:spPr>
        <p:txBody>
          <a:bodyPr wrap="square" lIns="25400" tIns="25400" rIns="25400" bIns="25400" rtlCol="0" anchor="t">
            <a:normAutofit/>
          </a:bodyPr>
          <a:lstStyle/>
          <a:p>
            <a:pPr algn="l" indent="0" marL="0">
              <a:lnSpc>
                <a:spcPct val="97222"/>
              </a:lnSpc>
              <a:buNone/>
            </a:pPr>
            <a:r>
              <a:rPr lang="en-US" sz="1875" b="1" dirty="0">
                <a:solidFill>
                  <a:srgbClr val="F6F4EF"/>
                </a:solidFill>
                <a:latin typeface="Noto Sans KR" pitchFamily="34" charset="0"/>
                <a:ea typeface="Noto Sans KR" pitchFamily="34" charset="-122"/>
                <a:cs typeface="Noto Sans KR" pitchFamily="34" charset="-120"/>
              </a:rPr>
              <a:t>2차 평가 자료 부족 </a:t>
            </a:r>
            <a:pPr algn="l" indent="0" marL="0">
              <a:lnSpc>
                <a:spcPct val="97222"/>
              </a:lnSpc>
              <a:buNone/>
            </a:pPr>
            <a:r>
              <a:rPr lang="en-US" sz="1875" dirty="0">
                <a:solidFill>
                  <a:srgbClr val="F6F4EF"/>
                </a:solidFill>
                <a:latin typeface="Noto Sans KR" pitchFamily="34" charset="0"/>
                <a:ea typeface="Noto Sans KR" pitchFamily="34" charset="-122"/>
                <a:cs typeface="Noto Sans KR" pitchFamily="34" charset="-120"/>
              </a:rPr>
              <a:t>— 라인 ⑧이 매일 자동 정리</a:t>
            </a:r>
            <a:endParaRPr lang="en-US" sz="18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1028700" y="81915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6FC3B2"/>
                </a:solidFill>
                <a:latin typeface="Noto Sans KR" pitchFamily="34" charset="0"/>
                <a:ea typeface="Noto Sans KR" pitchFamily="34" charset="-122"/>
                <a:cs typeface="Noto Sans KR" pitchFamily="34" charset="-120"/>
              </a:rPr>
              <a:t>오늘 결정할 것</a:t>
            </a:r>
            <a:endParaRPr lang="en-US" sz="1950" dirty="0"/>
          </a:p>
        </p:txBody>
      </p:sp>
      <p:sp>
        <p:nvSpPr>
          <p:cNvPr id="3" name="Text 1"/>
          <p:cNvSpPr/>
          <p:nvPr/>
        </p:nvSpPr>
        <p:spPr>
          <a:xfrm>
            <a:off x="1028700" y="1304925"/>
            <a:ext cx="16973550" cy="710059"/>
          </a:xfrm>
          <a:prstGeom prst="rect">
            <a:avLst/>
          </a:prstGeom>
          <a:noFill/>
          <a:ln/>
        </p:spPr>
        <p:txBody>
          <a:bodyPr wrap="square" lIns="25400" tIns="25400" rIns="25400" bIns="25400" rtlCol="0" anchor="t">
            <a:normAutofit/>
          </a:bodyPr>
          <a:lstStyle/>
          <a:p>
            <a:pPr algn="l" indent="0" marL="0">
              <a:lnSpc>
                <a:spcPct val="87111"/>
              </a:lnSpc>
              <a:buNone/>
            </a:pPr>
            <a:r>
              <a:rPr lang="en-US" sz="4200" b="1" spc="-42" kern="0" dirty="0">
                <a:solidFill>
                  <a:srgbClr val="F6F4EF"/>
                </a:solidFill>
                <a:latin typeface="Noto Sans KR" pitchFamily="34" charset="0"/>
                <a:ea typeface="Noto Sans KR" pitchFamily="34" charset="-122"/>
                <a:cs typeface="Noto Sans KR" pitchFamily="34" charset="-120"/>
              </a:rPr>
              <a:t>이 자리에서 세 가지를 정하고 각자 첫 작업을 들고 나간다</a:t>
            </a:r>
            <a:endParaRPr lang="en-US" sz="4200" dirty="0"/>
          </a:p>
        </p:txBody>
      </p:sp>
      <p:sp>
        <p:nvSpPr>
          <p:cNvPr id="4" name="Shape 2"/>
          <p:cNvSpPr/>
          <p:nvPr/>
        </p:nvSpPr>
        <p:spPr>
          <a:xfrm>
            <a:off x="1028700" y="2300734"/>
            <a:ext cx="5270450" cy="2822228"/>
          </a:xfrm>
          <a:prstGeom prst="roundRect">
            <a:avLst>
              <a:gd name="adj" fmla="val 2025"/>
            </a:avLst>
          </a:prstGeom>
          <a:solidFill>
            <a:srgbClr val="1E2B3B"/>
          </a:solidFill>
          <a:ln w="9525">
            <a:solidFill>
              <a:srgbClr val="33404F"/>
            </a:solidFill>
            <a:prstDash val="solid"/>
          </a:ln>
        </p:spPr>
      </p:sp>
      <p:sp>
        <p:nvSpPr>
          <p:cNvPr id="5" name="Text 3"/>
          <p:cNvSpPr/>
          <p:nvPr/>
        </p:nvSpPr>
        <p:spPr>
          <a:xfrm>
            <a:off x="1304925" y="2557909"/>
            <a:ext cx="518980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1 · 공정 오너 배정</a:t>
            </a:r>
            <a:endParaRPr lang="en-US" sz="1800" dirty="0"/>
          </a:p>
        </p:txBody>
      </p:sp>
      <p:sp>
        <p:nvSpPr>
          <p:cNvPr id="6" name="Text 4"/>
          <p:cNvSpPr/>
          <p:nvPr/>
        </p:nvSpPr>
        <p:spPr>
          <a:xfrm>
            <a:off x="1304925" y="2996059"/>
            <a:ext cx="5189800" cy="421928"/>
          </a:xfrm>
          <a:prstGeom prst="rect">
            <a:avLst/>
          </a:prstGeom>
          <a:noFill/>
          <a:ln/>
        </p:spPr>
        <p:txBody>
          <a:bodyPr wrap="square" lIns="25400" tIns="25400" rIns="25400" bIns="25400" rtlCol="0" anchor="t">
            <a:normAutofit/>
          </a:bodyPr>
          <a:lstStyle/>
          <a:p>
            <a:pPr algn="l" indent="0" marL="0">
              <a:lnSpc>
                <a:spcPct val="89556"/>
              </a:lnSpc>
              <a:buNone/>
            </a:pPr>
            <a:r>
              <a:rPr lang="en-US" sz="2325" b="1" dirty="0">
                <a:solidFill>
                  <a:srgbClr val="F6F4EF"/>
                </a:solidFill>
                <a:latin typeface="Noto Sans KR" pitchFamily="34" charset="0"/>
                <a:ea typeface="Noto Sans KR" pitchFamily="34" charset="-122"/>
                <a:cs typeface="Noto Sans KR" pitchFamily="34" charset="-120"/>
              </a:rPr>
              <a:t>누가 어느 라인을 맡는가</a:t>
            </a:r>
            <a:endParaRPr lang="en-US" sz="2325" dirty="0"/>
          </a:p>
        </p:txBody>
      </p:sp>
      <p:sp>
        <p:nvSpPr>
          <p:cNvPr id="7" name="Text 5"/>
          <p:cNvSpPr/>
          <p:nvPr/>
        </p:nvSpPr>
        <p:spPr>
          <a:xfrm>
            <a:off x="1304925" y="3484662"/>
            <a:ext cx="4859540" cy="1073944"/>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통합(리더) · 명세 ①② · 라벨 ③④ · 프롬프트 ⑤⑥ · 실험 ⑦⑧. 오너는 자기 라인의 승인권을 가진다.</a:t>
            </a:r>
            <a:endParaRPr lang="en-US" sz="1875" dirty="0"/>
          </a:p>
        </p:txBody>
      </p:sp>
      <p:sp>
        <p:nvSpPr>
          <p:cNvPr id="8" name="Shape 6"/>
          <p:cNvSpPr/>
          <p:nvPr/>
        </p:nvSpPr>
        <p:spPr>
          <a:xfrm>
            <a:off x="6508700" y="2300734"/>
            <a:ext cx="5270450" cy="2822228"/>
          </a:xfrm>
          <a:prstGeom prst="roundRect">
            <a:avLst>
              <a:gd name="adj" fmla="val 2025"/>
            </a:avLst>
          </a:prstGeom>
          <a:solidFill>
            <a:srgbClr val="1E2B3B"/>
          </a:solidFill>
          <a:ln w="9525">
            <a:solidFill>
              <a:srgbClr val="33404F"/>
            </a:solidFill>
            <a:prstDash val="solid"/>
          </a:ln>
        </p:spPr>
      </p:sp>
      <p:sp>
        <p:nvSpPr>
          <p:cNvPr id="9" name="Text 7"/>
          <p:cNvSpPr/>
          <p:nvPr/>
        </p:nvSpPr>
        <p:spPr>
          <a:xfrm>
            <a:off x="6784925" y="2557909"/>
            <a:ext cx="518980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2 · 작업 공간과 API 접근</a:t>
            </a:r>
            <a:endParaRPr lang="en-US" sz="1800" dirty="0"/>
          </a:p>
        </p:txBody>
      </p:sp>
      <p:sp>
        <p:nvSpPr>
          <p:cNvPr id="10" name="Text 8"/>
          <p:cNvSpPr/>
          <p:nvPr/>
        </p:nvSpPr>
        <p:spPr>
          <a:xfrm>
            <a:off x="6784925" y="2996059"/>
            <a:ext cx="5189800" cy="421928"/>
          </a:xfrm>
          <a:prstGeom prst="rect">
            <a:avLst/>
          </a:prstGeom>
          <a:noFill/>
          <a:ln/>
        </p:spPr>
        <p:txBody>
          <a:bodyPr wrap="square" lIns="25400" tIns="25400" rIns="25400" bIns="25400" rtlCol="0" anchor="t">
            <a:normAutofit/>
          </a:bodyPr>
          <a:lstStyle/>
          <a:p>
            <a:pPr algn="l" indent="0" marL="0">
              <a:lnSpc>
                <a:spcPct val="89556"/>
              </a:lnSpc>
              <a:buNone/>
            </a:pPr>
            <a:r>
              <a:rPr lang="en-US" sz="2325" b="1" dirty="0">
                <a:solidFill>
                  <a:srgbClr val="F6F4EF"/>
                </a:solidFill>
                <a:latin typeface="Noto Sans KR" pitchFamily="34" charset="0"/>
                <a:ea typeface="Noto Sans KR" pitchFamily="34" charset="-122"/>
                <a:cs typeface="Noto Sans KR" pitchFamily="34" charset="-120"/>
              </a:rPr>
              <a:t>저장소 1개 + API 키</a:t>
            </a:r>
            <a:endParaRPr lang="en-US" sz="2325" dirty="0"/>
          </a:p>
        </p:txBody>
      </p:sp>
      <p:sp>
        <p:nvSpPr>
          <p:cNvPr id="11" name="Text 9"/>
          <p:cNvSpPr/>
          <p:nvPr/>
        </p:nvSpPr>
        <p:spPr>
          <a:xfrm>
            <a:off x="6784925" y="3484662"/>
            <a:ext cx="4859540" cy="1073944"/>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전원 권한 오늘 부여 · API 키 발급과 사용 한도 정리 · </a:t>
            </a:r>
            <a:pPr algn="l" indent="0" marL="0">
              <a:lnSpc>
                <a:spcPct val="100694"/>
              </a:lnSpc>
              <a:buNone/>
            </a:pPr>
            <a:r>
              <a:rPr lang="en-US" sz="1875" b="1" dirty="0">
                <a:solidFill>
                  <a:srgbClr val="6FC3B2"/>
                </a:solidFill>
                <a:latin typeface="Noto Sans KR" pitchFamily="34" charset="0"/>
                <a:ea typeface="Noto Sans KR" pitchFamily="34" charset="-122"/>
                <a:cs typeface="Noto Sans KR" pitchFamily="34" charset="-120"/>
              </a:rPr>
              <a:t>키는 저장소에 올리지 않는다 </a:t>
            </a:r>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 소유권 지도는 리더가 오늘 올린다</a:t>
            </a:r>
            <a:endParaRPr lang="en-US" sz="1875" dirty="0"/>
          </a:p>
        </p:txBody>
      </p:sp>
      <p:sp>
        <p:nvSpPr>
          <p:cNvPr id="12" name="Shape 10"/>
          <p:cNvSpPr/>
          <p:nvPr/>
        </p:nvSpPr>
        <p:spPr>
          <a:xfrm>
            <a:off x="11988701" y="2300734"/>
            <a:ext cx="5270450" cy="2822228"/>
          </a:xfrm>
          <a:prstGeom prst="roundRect">
            <a:avLst>
              <a:gd name="adj" fmla="val 2025"/>
            </a:avLst>
          </a:prstGeom>
          <a:solidFill>
            <a:srgbClr val="1E2B3B"/>
          </a:solidFill>
          <a:ln w="9525">
            <a:solidFill>
              <a:srgbClr val="33404F"/>
            </a:solidFill>
            <a:prstDash val="solid"/>
          </a:ln>
        </p:spPr>
      </p:sp>
      <p:sp>
        <p:nvSpPr>
          <p:cNvPr id="13" name="Text 11"/>
          <p:cNvSpPr/>
          <p:nvPr/>
        </p:nvSpPr>
        <p:spPr>
          <a:xfrm>
            <a:off x="12264926" y="2557909"/>
            <a:ext cx="5189800"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6FC3B2"/>
                </a:solidFill>
                <a:latin typeface="Noto Sans KR" pitchFamily="34" charset="0"/>
                <a:ea typeface="Noto Sans KR" pitchFamily="34" charset="-122"/>
                <a:cs typeface="Noto Sans KR" pitchFamily="34" charset="-120"/>
              </a:rPr>
              <a:t>3 · 첫 산출물과 기한</a:t>
            </a:r>
            <a:endParaRPr lang="en-US" sz="1800" dirty="0"/>
          </a:p>
        </p:txBody>
      </p:sp>
      <p:sp>
        <p:nvSpPr>
          <p:cNvPr id="14" name="Text 12"/>
          <p:cNvSpPr/>
          <p:nvPr/>
        </p:nvSpPr>
        <p:spPr>
          <a:xfrm>
            <a:off x="12264926" y="2996059"/>
            <a:ext cx="5189800" cy="421928"/>
          </a:xfrm>
          <a:prstGeom prst="rect">
            <a:avLst/>
          </a:prstGeom>
          <a:noFill/>
          <a:ln/>
        </p:spPr>
        <p:txBody>
          <a:bodyPr wrap="square" lIns="25400" tIns="25400" rIns="25400" bIns="25400" rtlCol="0" anchor="t">
            <a:normAutofit/>
          </a:bodyPr>
          <a:lstStyle/>
          <a:p>
            <a:pPr algn="l" indent="0" marL="0">
              <a:lnSpc>
                <a:spcPct val="89556"/>
              </a:lnSpc>
              <a:buNone/>
            </a:pPr>
            <a:r>
              <a:rPr lang="en-US" sz="2325" b="1" dirty="0">
                <a:solidFill>
                  <a:srgbClr val="F6F4EF"/>
                </a:solidFill>
                <a:latin typeface="Noto Sans KR" pitchFamily="34" charset="0"/>
                <a:ea typeface="Noto Sans KR" pitchFamily="34" charset="-122"/>
                <a:cs typeface="Noto Sans KR" pitchFamily="34" charset="-120"/>
              </a:rPr>
              <a:t>전원 9월 17일까지</a:t>
            </a:r>
            <a:endParaRPr lang="en-US" sz="2325" dirty="0"/>
          </a:p>
        </p:txBody>
      </p:sp>
      <p:sp>
        <p:nvSpPr>
          <p:cNvPr id="15" name="Text 13"/>
          <p:cNvSpPr/>
          <p:nvPr/>
        </p:nvSpPr>
        <p:spPr>
          <a:xfrm>
            <a:off x="12264926" y="3484662"/>
            <a:ext cx="4859540" cy="1419225"/>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명세 — 3개 항목으로 생성 파이프라인 시험 / </a:t>
            </a:r>
            <a:pPr algn="l" indent="0" marL="0">
              <a:lnSpc>
                <a:spcPct val="100694"/>
              </a:lnSpc>
              <a:buNone/>
            </a:pPr>
            <a:r>
              <a:rPr lang="en-US" sz="1875" b="1" dirty="0">
                <a:solidFill>
                  <a:srgbClr val="6FC3B2"/>
                </a:solidFill>
                <a:latin typeface="Noto Sans KR" pitchFamily="34" charset="0"/>
                <a:ea typeface="Noto Sans KR" pitchFamily="34" charset="-122"/>
                <a:cs typeface="Noto Sans KR" pitchFamily="34" charset="-120"/>
              </a:rPr>
              <a:t>라벨 — dev 200건 기준선 숫자 </a:t>
            </a:r>
            <a:pPr algn="l" indent="0" marL="0">
              <a:lnSpc>
                <a:spcPct val="100694"/>
              </a:lnSpc>
              <a:buNone/>
            </a:pPr>
            <a:r>
              <a:rPr lang="en-US" sz="1875" dirty="0">
                <a:solidFill>
                  <a:srgbClr val="C6CEDA"/>
                </a:solidFill>
                <a:latin typeface="Noto Sans KR" pitchFamily="34" charset="0"/>
                <a:ea typeface="Noto Sans KR" pitchFamily="34" charset="-122"/>
                <a:cs typeface="Noto Sans KR" pitchFamily="34" charset="-120"/>
              </a:rPr>
              <a:t>/ 프롬프트 — 명세→지시문 변환 경로 / 실험 — dev 채점 실행 / 통합 — 초기 제출 성공</a:t>
            </a:r>
            <a:endParaRPr lang="en-US" sz="1875" dirty="0"/>
          </a:p>
        </p:txBody>
      </p:sp>
      <p:sp>
        <p:nvSpPr>
          <p:cNvPr id="16" name="Shape 14"/>
          <p:cNvSpPr/>
          <p:nvPr/>
        </p:nvSpPr>
        <p:spPr>
          <a:xfrm>
            <a:off x="1028700" y="5446812"/>
            <a:ext cx="16230600" cy="9525"/>
          </a:xfrm>
          <a:prstGeom prst="rect">
            <a:avLst/>
          </a:prstGeom>
          <a:solidFill>
            <a:srgbClr val="33404F"/>
          </a:solidFill>
          <a:ln/>
        </p:spPr>
      </p:sp>
      <p:sp>
        <p:nvSpPr>
          <p:cNvPr id="17" name="Text 15"/>
          <p:cNvSpPr/>
          <p:nvPr/>
        </p:nvSpPr>
        <p:spPr>
          <a:xfrm>
            <a:off x="1028700" y="5723037"/>
            <a:ext cx="1911161" cy="371475"/>
          </a:xfrm>
          <a:prstGeom prst="rect">
            <a:avLst/>
          </a:prstGeom>
          <a:noFill/>
          <a:ln/>
        </p:spPr>
        <p:txBody>
          <a:bodyPr wrap="square" lIns="25400" tIns="25400" rIns="25400" bIns="25400" rtlCol="0" anchor="t">
            <a:normAutofit/>
          </a:bodyPr>
          <a:lstStyle/>
          <a:p>
            <a:pPr algn="l" indent="0" marL="0">
              <a:buNone/>
            </a:pPr>
            <a:r>
              <a:rPr lang="en-US" sz="1800" dirty="0">
                <a:solidFill>
                  <a:srgbClr val="8A97A6"/>
                </a:solidFill>
                <a:latin typeface="Noto Sans KR" pitchFamily="34" charset="0"/>
                <a:ea typeface="Noto Sans KR" pitchFamily="34" charset="-122"/>
                <a:cs typeface="Noto Sans KR" pitchFamily="34" charset="-120"/>
              </a:rPr>
              <a:t>함께 확인</a:t>
            </a:r>
            <a:endParaRPr lang="en-US" sz="1800" dirty="0"/>
          </a:p>
        </p:txBody>
      </p:sp>
      <p:sp>
        <p:nvSpPr>
          <p:cNvPr id="18" name="Text 16"/>
          <p:cNvSpPr/>
          <p:nvPr/>
        </p:nvSpPr>
        <p:spPr>
          <a:xfrm>
            <a:off x="1028700" y="6123087"/>
            <a:ext cx="1911161" cy="457200"/>
          </a:xfrm>
          <a:prstGeom prst="rect">
            <a:avLst/>
          </a:prstGeom>
          <a:noFill/>
          <a:ln/>
        </p:spPr>
        <p:txBody>
          <a:bodyPr wrap="square" lIns="25400" tIns="25400" rIns="25400" bIns="25400" rtlCol="0" anchor="t">
            <a:normAutofit/>
          </a:bodyPr>
          <a:lstStyle/>
          <a:p>
            <a:pPr algn="l" indent="0" marL="0">
              <a:buNone/>
            </a:pPr>
            <a:r>
              <a:rPr lang="en-US" sz="2250" b="1" dirty="0">
                <a:solidFill>
                  <a:srgbClr val="F6F4EF"/>
                </a:solidFill>
                <a:latin typeface="Noto Sans KR" pitchFamily="34" charset="0"/>
                <a:ea typeface="Noto Sans KR" pitchFamily="34" charset="-122"/>
                <a:cs typeface="Noto Sans KR" pitchFamily="34" charset="-120"/>
              </a:rPr>
              <a:t>하루 투입 시간</a:t>
            </a:r>
            <a:endParaRPr lang="en-US" sz="2250" dirty="0"/>
          </a:p>
        </p:txBody>
      </p:sp>
      <p:sp>
        <p:nvSpPr>
          <p:cNvPr id="19" name="Text 17"/>
          <p:cNvSpPr/>
          <p:nvPr/>
        </p:nvSpPr>
        <p:spPr>
          <a:xfrm>
            <a:off x="3261420" y="5723037"/>
            <a:ext cx="2422267" cy="371475"/>
          </a:xfrm>
          <a:prstGeom prst="rect">
            <a:avLst/>
          </a:prstGeom>
          <a:noFill/>
          <a:ln/>
        </p:spPr>
        <p:txBody>
          <a:bodyPr wrap="square" lIns="25400" tIns="25400" rIns="25400" bIns="25400" rtlCol="0" anchor="t">
            <a:normAutofit/>
          </a:bodyPr>
          <a:lstStyle/>
          <a:p>
            <a:pPr algn="l" indent="0" marL="0">
              <a:buNone/>
            </a:pPr>
            <a:r>
              <a:rPr lang="en-US" sz="1800" dirty="0">
                <a:solidFill>
                  <a:srgbClr val="8A97A6"/>
                </a:solidFill>
                <a:latin typeface="Noto Sans KR" pitchFamily="34" charset="0"/>
                <a:ea typeface="Noto Sans KR" pitchFamily="34" charset="-122"/>
                <a:cs typeface="Noto Sans KR" pitchFamily="34" charset="-120"/>
              </a:rPr>
              <a:t>9/23 전까지</a:t>
            </a:r>
            <a:endParaRPr lang="en-US" sz="1800" dirty="0"/>
          </a:p>
        </p:txBody>
      </p:sp>
      <p:sp>
        <p:nvSpPr>
          <p:cNvPr id="20" name="Text 18"/>
          <p:cNvSpPr/>
          <p:nvPr/>
        </p:nvSpPr>
        <p:spPr>
          <a:xfrm>
            <a:off x="3261420" y="6123087"/>
            <a:ext cx="2422267" cy="457200"/>
          </a:xfrm>
          <a:prstGeom prst="rect">
            <a:avLst/>
          </a:prstGeom>
          <a:noFill/>
          <a:ln/>
        </p:spPr>
        <p:txBody>
          <a:bodyPr wrap="square" lIns="25400" tIns="25400" rIns="25400" bIns="25400" rtlCol="0" anchor="t">
            <a:normAutofit/>
          </a:bodyPr>
          <a:lstStyle/>
          <a:p>
            <a:pPr algn="l" indent="0" marL="0">
              <a:buNone/>
            </a:pPr>
            <a:r>
              <a:rPr lang="en-US" sz="2250" b="1" dirty="0">
                <a:solidFill>
                  <a:srgbClr val="F6F4EF"/>
                </a:solidFill>
                <a:latin typeface="Noto Sans KR" pitchFamily="34" charset="0"/>
                <a:ea typeface="Noto Sans KR" pitchFamily="34" charset="-122"/>
                <a:cs typeface="Noto Sans KR" pitchFamily="34" charset="-120"/>
              </a:rPr>
              <a:t>팀 병합 신청 (5명)</a:t>
            </a:r>
            <a:endParaRPr lang="en-US" sz="2250" dirty="0"/>
          </a:p>
        </p:txBody>
      </p:sp>
      <p:sp>
        <p:nvSpPr>
          <p:cNvPr id="21" name="Text 19"/>
          <p:cNvSpPr/>
          <p:nvPr/>
        </p:nvSpPr>
        <p:spPr>
          <a:xfrm>
            <a:off x="5958780" y="5723037"/>
            <a:ext cx="1847642" cy="371475"/>
          </a:xfrm>
          <a:prstGeom prst="rect">
            <a:avLst/>
          </a:prstGeom>
          <a:noFill/>
          <a:ln/>
        </p:spPr>
        <p:txBody>
          <a:bodyPr wrap="square" lIns="25400" tIns="25400" rIns="25400" bIns="25400" rtlCol="0" anchor="t">
            <a:normAutofit/>
          </a:bodyPr>
          <a:lstStyle/>
          <a:p>
            <a:pPr algn="l" indent="0" marL="0">
              <a:buNone/>
            </a:pPr>
            <a:r>
              <a:rPr lang="en-US" sz="1800" dirty="0">
                <a:solidFill>
                  <a:srgbClr val="8A97A6"/>
                </a:solidFill>
                <a:latin typeface="Noto Sans KR" pitchFamily="34" charset="0"/>
                <a:ea typeface="Noto Sans KR" pitchFamily="34" charset="-122"/>
                <a:cs typeface="Noto Sans KR" pitchFamily="34" charset="-120"/>
              </a:rPr>
              <a:t>오늘 승인</a:t>
            </a:r>
            <a:endParaRPr lang="en-US" sz="1800" dirty="0"/>
          </a:p>
        </p:txBody>
      </p:sp>
      <p:sp>
        <p:nvSpPr>
          <p:cNvPr id="22" name="Text 20"/>
          <p:cNvSpPr/>
          <p:nvPr/>
        </p:nvSpPr>
        <p:spPr>
          <a:xfrm>
            <a:off x="5958780" y="6123087"/>
            <a:ext cx="1847642" cy="457200"/>
          </a:xfrm>
          <a:prstGeom prst="rect">
            <a:avLst/>
          </a:prstGeom>
          <a:noFill/>
          <a:ln/>
        </p:spPr>
        <p:txBody>
          <a:bodyPr wrap="square" lIns="25400" tIns="25400" rIns="25400" bIns="25400" rtlCol="0" anchor="t">
            <a:normAutofit/>
          </a:bodyPr>
          <a:lstStyle/>
          <a:p>
            <a:pPr algn="l" indent="0" marL="0">
              <a:buNone/>
            </a:pPr>
            <a:r>
              <a:rPr lang="en-US" sz="2250" b="1" dirty="0">
                <a:solidFill>
                  <a:srgbClr val="F6F4EF"/>
                </a:solidFill>
                <a:latin typeface="Noto Sans KR" pitchFamily="34" charset="0"/>
                <a:ea typeface="Noto Sans KR" pitchFamily="34" charset="-122"/>
                <a:cs typeface="Noto Sans KR" pitchFamily="34" charset="-120"/>
              </a:rPr>
              <a:t>API 예산 한도</a:t>
            </a:r>
            <a:endParaRPr lang="en-US" sz="2250" dirty="0"/>
          </a:p>
        </p:txBody>
      </p:sp>
      <p:sp>
        <p:nvSpPr>
          <p:cNvPr id="23" name="Text 21"/>
          <p:cNvSpPr/>
          <p:nvPr/>
        </p:nvSpPr>
        <p:spPr>
          <a:xfrm>
            <a:off x="8133755" y="5723037"/>
            <a:ext cx="2093535" cy="371475"/>
          </a:xfrm>
          <a:prstGeom prst="rect">
            <a:avLst/>
          </a:prstGeom>
          <a:noFill/>
          <a:ln/>
        </p:spPr>
        <p:txBody>
          <a:bodyPr wrap="square" lIns="25400" tIns="25400" rIns="25400" bIns="25400" rtlCol="0" anchor="t">
            <a:normAutofit/>
          </a:bodyPr>
          <a:lstStyle/>
          <a:p>
            <a:pPr algn="l" indent="0" marL="0">
              <a:buNone/>
            </a:pPr>
            <a:r>
              <a:rPr lang="en-US" sz="1800" dirty="0">
                <a:solidFill>
                  <a:srgbClr val="8A97A6"/>
                </a:solidFill>
                <a:latin typeface="Noto Sans KR" pitchFamily="34" charset="0"/>
                <a:ea typeface="Noto Sans KR" pitchFamily="34" charset="-122"/>
                <a:cs typeface="Noto Sans KR" pitchFamily="34" charset="-120"/>
              </a:rPr>
              <a:t>다음 점검</a:t>
            </a:r>
            <a:endParaRPr lang="en-US" sz="1800" dirty="0"/>
          </a:p>
        </p:txBody>
      </p:sp>
      <p:sp>
        <p:nvSpPr>
          <p:cNvPr id="24" name="Text 22"/>
          <p:cNvSpPr/>
          <p:nvPr/>
        </p:nvSpPr>
        <p:spPr>
          <a:xfrm>
            <a:off x="8133755" y="6123087"/>
            <a:ext cx="2093535" cy="457200"/>
          </a:xfrm>
          <a:prstGeom prst="rect">
            <a:avLst/>
          </a:prstGeom>
          <a:noFill/>
          <a:ln/>
        </p:spPr>
        <p:txBody>
          <a:bodyPr wrap="square" lIns="25400" tIns="25400" rIns="25400" bIns="25400" rtlCol="0" anchor="t">
            <a:normAutofit/>
          </a:bodyPr>
          <a:lstStyle/>
          <a:p>
            <a:pPr algn="l" indent="0" marL="0">
              <a:buNone/>
            </a:pPr>
            <a:r>
              <a:rPr lang="en-US" sz="2250" b="1" dirty="0">
                <a:solidFill>
                  <a:srgbClr val="F6F4EF"/>
                </a:solidFill>
                <a:latin typeface="Noto Sans KR" pitchFamily="34" charset="0"/>
                <a:ea typeface="Noto Sans KR" pitchFamily="34" charset="-122"/>
                <a:cs typeface="Noto Sans KR" pitchFamily="34" charset="-120"/>
              </a:rPr>
              <a:t>9/18 저녁 30분</a:t>
            </a:r>
            <a:endParaRPr lang="en-US" sz="2250" dirty="0"/>
          </a:p>
        </p:txBody>
      </p:sp>
      <p:sp>
        <p:nvSpPr>
          <p:cNvPr id="25" name="Text 23"/>
          <p:cNvSpPr/>
          <p:nvPr/>
        </p:nvSpPr>
        <p:spPr>
          <a:xfrm>
            <a:off x="10532269" y="5723037"/>
            <a:ext cx="1992853" cy="371475"/>
          </a:xfrm>
          <a:prstGeom prst="rect">
            <a:avLst/>
          </a:prstGeom>
          <a:noFill/>
          <a:ln/>
        </p:spPr>
        <p:txBody>
          <a:bodyPr wrap="square" lIns="25400" tIns="25400" rIns="25400" bIns="25400" rtlCol="0" anchor="t">
            <a:normAutofit/>
          </a:bodyPr>
          <a:lstStyle/>
          <a:p>
            <a:pPr algn="l" indent="0" marL="0">
              <a:buNone/>
            </a:pPr>
            <a:r>
              <a:rPr lang="en-US" sz="1800" dirty="0">
                <a:solidFill>
                  <a:srgbClr val="8A97A6"/>
                </a:solidFill>
                <a:latin typeface="Noto Sans KR" pitchFamily="34" charset="0"/>
                <a:ea typeface="Noto Sans KR" pitchFamily="34" charset="-122"/>
                <a:cs typeface="Noto Sans KR" pitchFamily="34" charset="-120"/>
              </a:rPr>
              <a:t>발표 직후</a:t>
            </a:r>
            <a:endParaRPr lang="en-US" sz="1800" dirty="0"/>
          </a:p>
        </p:txBody>
      </p:sp>
      <p:sp>
        <p:nvSpPr>
          <p:cNvPr id="26" name="Text 24"/>
          <p:cNvSpPr/>
          <p:nvPr/>
        </p:nvSpPr>
        <p:spPr>
          <a:xfrm>
            <a:off x="10532269" y="6123087"/>
            <a:ext cx="1992853" cy="457200"/>
          </a:xfrm>
          <a:prstGeom prst="rect">
            <a:avLst/>
          </a:prstGeom>
          <a:noFill/>
          <a:ln/>
        </p:spPr>
        <p:txBody>
          <a:bodyPr wrap="square" lIns="25400" tIns="25400" rIns="25400" bIns="25400" rtlCol="0" anchor="t">
            <a:normAutofit/>
          </a:bodyPr>
          <a:lstStyle/>
          <a:p>
            <a:pPr algn="l" indent="0" marL="0">
              <a:buNone/>
            </a:pPr>
            <a:r>
              <a:rPr lang="en-US" sz="2250" b="1" dirty="0">
                <a:solidFill>
                  <a:srgbClr val="F6F4EF"/>
                </a:solidFill>
                <a:latin typeface="Noto Sans KR" pitchFamily="34" charset="0"/>
                <a:ea typeface="Noto Sans KR" pitchFamily="34" charset="-122"/>
                <a:cs typeface="Noto Sans KR" pitchFamily="34" charset="-120"/>
              </a:rPr>
              <a:t>도구 실습 30분</a:t>
            </a:r>
            <a:endParaRPr lang="en-US" sz="2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7239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부록</a:t>
            </a:r>
            <a:endParaRPr lang="en-US" sz="1950" dirty="0"/>
          </a:p>
        </p:txBody>
      </p:sp>
      <p:sp>
        <p:nvSpPr>
          <p:cNvPr id="3" name="Text 1"/>
          <p:cNvSpPr/>
          <p:nvPr/>
        </p:nvSpPr>
        <p:spPr>
          <a:xfrm>
            <a:off x="1028700" y="1190625"/>
            <a:ext cx="17853660" cy="638175"/>
          </a:xfrm>
          <a:prstGeom prst="rect">
            <a:avLst/>
          </a:prstGeom>
          <a:noFill/>
          <a:ln/>
        </p:spPr>
        <p:txBody>
          <a:bodyPr wrap="square" lIns="25400" tIns="25400" rIns="25400" bIns="25400" rtlCol="0" anchor="t">
            <a:normAutofit/>
          </a:bodyPr>
          <a:lstStyle/>
          <a:p>
            <a:pPr algn="l" indent="0" marL="0">
              <a:lnSpc>
                <a:spcPct val="87500"/>
              </a:lnSpc>
              <a:buNone/>
            </a:pPr>
            <a:r>
              <a:rPr lang="en-US" sz="3750" b="1" spc="-37" kern="0" dirty="0">
                <a:solidFill>
                  <a:srgbClr val="16202E"/>
                </a:solidFill>
                <a:latin typeface="Noto Sans KR" pitchFamily="34" charset="0"/>
                <a:ea typeface="Noto Sans KR" pitchFamily="34" charset="-122"/>
                <a:cs typeface="Noto Sans KR" pitchFamily="34" charset="-120"/>
              </a:rPr>
              <a:t>24개 검토 항목</a:t>
            </a:r>
            <a:endParaRPr lang="en-US" sz="3750" dirty="0"/>
          </a:p>
        </p:txBody>
      </p:sp>
      <p:sp>
        <p:nvSpPr>
          <p:cNvPr id="4" name="Text 2"/>
          <p:cNvSpPr/>
          <p:nvPr/>
        </p:nvSpPr>
        <p:spPr>
          <a:xfrm>
            <a:off x="1028700" y="20193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v1</a:t>
            </a:r>
            <a:endParaRPr lang="en-US" sz="1950" dirty="0"/>
          </a:p>
        </p:txBody>
      </p:sp>
      <p:sp>
        <p:nvSpPr>
          <p:cNvPr id="5" name="Text 3"/>
          <p:cNvSpPr/>
          <p:nvPr/>
        </p:nvSpPr>
        <p:spPr>
          <a:xfrm>
            <a:off x="1771650" y="2019300"/>
            <a:ext cx="2658829"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참가자격 특정기관 제한</a:t>
            </a:r>
            <a:endParaRPr lang="en-US" sz="1950" dirty="0"/>
          </a:p>
        </p:txBody>
      </p:sp>
      <p:sp>
        <p:nvSpPr>
          <p:cNvPr id="6" name="Text 4"/>
          <p:cNvSpPr/>
          <p:nvPr/>
        </p:nvSpPr>
        <p:spPr>
          <a:xfrm>
            <a:off x="9353550" y="20193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v13</a:t>
            </a:r>
            <a:endParaRPr lang="en-US" sz="1950" dirty="0"/>
          </a:p>
        </p:txBody>
      </p:sp>
      <p:sp>
        <p:nvSpPr>
          <p:cNvPr id="7" name="Text 5"/>
          <p:cNvSpPr/>
          <p:nvPr/>
        </p:nvSpPr>
        <p:spPr>
          <a:xfrm>
            <a:off x="10096500" y="2019300"/>
            <a:ext cx="4391710"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중기간 경쟁제품 소기업·소상공인 제한</a:t>
            </a:r>
            <a:endParaRPr lang="en-US" sz="1950" dirty="0"/>
          </a:p>
        </p:txBody>
      </p:sp>
      <p:sp>
        <p:nvSpPr>
          <p:cNvPr id="8" name="Text 6"/>
          <p:cNvSpPr/>
          <p:nvPr/>
        </p:nvSpPr>
        <p:spPr>
          <a:xfrm>
            <a:off x="1028700" y="24765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v2</a:t>
            </a:r>
            <a:endParaRPr lang="en-US" sz="1950" dirty="0"/>
          </a:p>
        </p:txBody>
      </p:sp>
      <p:sp>
        <p:nvSpPr>
          <p:cNvPr id="9" name="Text 7"/>
          <p:cNvSpPr/>
          <p:nvPr/>
        </p:nvSpPr>
        <p:spPr>
          <a:xfrm>
            <a:off x="1771650" y="2476500"/>
            <a:ext cx="2658829"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고시금액 미만 실적제한</a:t>
            </a:r>
            <a:endParaRPr lang="en-US" sz="1950" dirty="0"/>
          </a:p>
        </p:txBody>
      </p:sp>
      <p:sp>
        <p:nvSpPr>
          <p:cNvPr id="10" name="Text 8"/>
          <p:cNvSpPr/>
          <p:nvPr/>
        </p:nvSpPr>
        <p:spPr>
          <a:xfrm>
            <a:off x="9353550" y="24765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v14</a:t>
            </a:r>
            <a:endParaRPr lang="en-US" sz="1950" dirty="0"/>
          </a:p>
        </p:txBody>
      </p:sp>
      <p:sp>
        <p:nvSpPr>
          <p:cNvPr id="11" name="Text 9"/>
          <p:cNvSpPr/>
          <p:nvPr/>
        </p:nvSpPr>
        <p:spPr>
          <a:xfrm>
            <a:off x="10096500" y="2476500"/>
            <a:ext cx="4315093"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고시금액 이상 일반물품 중소기업 제한</a:t>
            </a:r>
            <a:endParaRPr lang="en-US" sz="1950" dirty="0"/>
          </a:p>
        </p:txBody>
      </p:sp>
      <p:sp>
        <p:nvSpPr>
          <p:cNvPr id="12" name="Text 10"/>
          <p:cNvSpPr/>
          <p:nvPr/>
        </p:nvSpPr>
        <p:spPr>
          <a:xfrm>
            <a:off x="1028700" y="29337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v3</a:t>
            </a:r>
            <a:endParaRPr lang="en-US" sz="1950" dirty="0"/>
          </a:p>
        </p:txBody>
      </p:sp>
      <p:sp>
        <p:nvSpPr>
          <p:cNvPr id="13" name="Text 11"/>
          <p:cNvSpPr/>
          <p:nvPr/>
        </p:nvSpPr>
        <p:spPr>
          <a:xfrm>
            <a:off x="1771650" y="2933700"/>
            <a:ext cx="2308815"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실적제한 1배수 이상</a:t>
            </a:r>
            <a:endParaRPr lang="en-US" sz="1950" dirty="0"/>
          </a:p>
        </p:txBody>
      </p:sp>
      <p:sp>
        <p:nvSpPr>
          <p:cNvPr id="14" name="Text 12"/>
          <p:cNvSpPr/>
          <p:nvPr/>
        </p:nvSpPr>
        <p:spPr>
          <a:xfrm>
            <a:off x="9353550" y="29337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v15</a:t>
            </a:r>
            <a:endParaRPr lang="en-US" sz="1950" dirty="0"/>
          </a:p>
        </p:txBody>
      </p:sp>
      <p:sp>
        <p:nvSpPr>
          <p:cNvPr id="15" name="Text 13"/>
          <p:cNvSpPr/>
          <p:nvPr/>
        </p:nvSpPr>
        <p:spPr>
          <a:xfrm>
            <a:off x="10096500" y="2933700"/>
            <a:ext cx="4116512"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1억 이상~고시금액 미만 소기업 제한</a:t>
            </a:r>
            <a:endParaRPr lang="en-US" sz="1950" dirty="0"/>
          </a:p>
        </p:txBody>
      </p:sp>
      <p:sp>
        <p:nvSpPr>
          <p:cNvPr id="16" name="Text 14"/>
          <p:cNvSpPr/>
          <p:nvPr/>
        </p:nvSpPr>
        <p:spPr>
          <a:xfrm>
            <a:off x="1028700" y="33909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v4</a:t>
            </a:r>
            <a:endParaRPr lang="en-US" sz="1950" dirty="0"/>
          </a:p>
        </p:txBody>
      </p:sp>
      <p:sp>
        <p:nvSpPr>
          <p:cNvPr id="17" name="Text 15"/>
          <p:cNvSpPr/>
          <p:nvPr/>
        </p:nvSpPr>
        <p:spPr>
          <a:xfrm>
            <a:off x="1771650" y="3390900"/>
            <a:ext cx="3814137"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고시금액 이상 특정기관·특정실적</a:t>
            </a:r>
            <a:endParaRPr lang="en-US" sz="1950" dirty="0"/>
          </a:p>
        </p:txBody>
      </p:sp>
      <p:sp>
        <p:nvSpPr>
          <p:cNvPr id="18" name="Text 16"/>
          <p:cNvSpPr/>
          <p:nvPr/>
        </p:nvSpPr>
        <p:spPr>
          <a:xfrm>
            <a:off x="9353550" y="3390900"/>
            <a:ext cx="82808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v16 ◇</a:t>
            </a:r>
            <a:endParaRPr lang="en-US" sz="1950" dirty="0"/>
          </a:p>
        </p:txBody>
      </p:sp>
      <p:sp>
        <p:nvSpPr>
          <p:cNvPr id="19" name="Text 17"/>
          <p:cNvSpPr/>
          <p:nvPr/>
        </p:nvSpPr>
        <p:spPr>
          <a:xfrm>
            <a:off x="10257830" y="3390900"/>
            <a:ext cx="4944725"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1억 이상~고시금액 미만 중소기업 제한 없음</a:t>
            </a:r>
            <a:endParaRPr lang="en-US" sz="1950" dirty="0"/>
          </a:p>
        </p:txBody>
      </p:sp>
      <p:sp>
        <p:nvSpPr>
          <p:cNvPr id="20" name="Text 18"/>
          <p:cNvSpPr/>
          <p:nvPr/>
        </p:nvSpPr>
        <p:spPr>
          <a:xfrm>
            <a:off x="1028700" y="38481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v5</a:t>
            </a:r>
            <a:endParaRPr lang="en-US" sz="1950" dirty="0"/>
          </a:p>
        </p:txBody>
      </p:sp>
      <p:sp>
        <p:nvSpPr>
          <p:cNvPr id="21" name="Text 19"/>
          <p:cNvSpPr/>
          <p:nvPr/>
        </p:nvSpPr>
        <p:spPr>
          <a:xfrm>
            <a:off x="1771650" y="3848100"/>
            <a:ext cx="2658829"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고시금액 이상 지역제한</a:t>
            </a:r>
            <a:endParaRPr lang="en-US" sz="1950" dirty="0"/>
          </a:p>
        </p:txBody>
      </p:sp>
      <p:sp>
        <p:nvSpPr>
          <p:cNvPr id="22" name="Text 20"/>
          <p:cNvSpPr/>
          <p:nvPr/>
        </p:nvSpPr>
        <p:spPr>
          <a:xfrm>
            <a:off x="9353550" y="38481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v17</a:t>
            </a:r>
            <a:endParaRPr lang="en-US" sz="1950" dirty="0"/>
          </a:p>
        </p:txBody>
      </p:sp>
      <p:sp>
        <p:nvSpPr>
          <p:cNvPr id="23" name="Text 21"/>
          <p:cNvSpPr/>
          <p:nvPr/>
        </p:nvSpPr>
        <p:spPr>
          <a:xfrm>
            <a:off x="10096500" y="3848100"/>
            <a:ext cx="3965079"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1억원 미만 일반물품 중소기업 제한</a:t>
            </a:r>
            <a:endParaRPr lang="en-US" sz="1950" dirty="0"/>
          </a:p>
        </p:txBody>
      </p:sp>
      <p:sp>
        <p:nvSpPr>
          <p:cNvPr id="24" name="Text 22"/>
          <p:cNvSpPr/>
          <p:nvPr/>
        </p:nvSpPr>
        <p:spPr>
          <a:xfrm>
            <a:off x="1028700" y="43053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v6</a:t>
            </a:r>
            <a:endParaRPr lang="en-US" sz="1950" dirty="0"/>
          </a:p>
        </p:txBody>
      </p:sp>
      <p:sp>
        <p:nvSpPr>
          <p:cNvPr id="25" name="Text 23"/>
          <p:cNvSpPr/>
          <p:nvPr/>
        </p:nvSpPr>
        <p:spPr>
          <a:xfrm>
            <a:off x="1771650" y="4305300"/>
            <a:ext cx="3792691"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고시금액 미만 지역제한 시·군·구</a:t>
            </a:r>
            <a:endParaRPr lang="en-US" sz="1950" dirty="0"/>
          </a:p>
        </p:txBody>
      </p:sp>
      <p:sp>
        <p:nvSpPr>
          <p:cNvPr id="26" name="Text 24"/>
          <p:cNvSpPr/>
          <p:nvPr/>
        </p:nvSpPr>
        <p:spPr>
          <a:xfrm>
            <a:off x="9353550" y="4305300"/>
            <a:ext cx="82808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v18 ◇</a:t>
            </a:r>
            <a:endParaRPr lang="en-US" sz="1950" dirty="0"/>
          </a:p>
        </p:txBody>
      </p:sp>
      <p:sp>
        <p:nvSpPr>
          <p:cNvPr id="27" name="Text 25"/>
          <p:cNvSpPr/>
          <p:nvPr/>
        </p:nvSpPr>
        <p:spPr>
          <a:xfrm>
            <a:off x="10257830" y="4305300"/>
            <a:ext cx="4292010"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1억원 미만 일반물품 소기업 제한 없음</a:t>
            </a:r>
            <a:endParaRPr lang="en-US" sz="1950" dirty="0"/>
          </a:p>
        </p:txBody>
      </p:sp>
      <p:sp>
        <p:nvSpPr>
          <p:cNvPr id="28" name="Text 26"/>
          <p:cNvSpPr/>
          <p:nvPr/>
        </p:nvSpPr>
        <p:spPr>
          <a:xfrm>
            <a:off x="1028700" y="47625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v7</a:t>
            </a:r>
            <a:endParaRPr lang="en-US" sz="1950" dirty="0"/>
          </a:p>
        </p:txBody>
      </p:sp>
      <p:sp>
        <p:nvSpPr>
          <p:cNvPr id="29" name="Text 27"/>
          <p:cNvSpPr/>
          <p:nvPr/>
        </p:nvSpPr>
        <p:spPr>
          <a:xfrm>
            <a:off x="1771650" y="4762500"/>
            <a:ext cx="3813810"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고시금액 미만 지역제한 인접 확대</a:t>
            </a:r>
            <a:endParaRPr lang="en-US" sz="1950" dirty="0"/>
          </a:p>
        </p:txBody>
      </p:sp>
      <p:sp>
        <p:nvSpPr>
          <p:cNvPr id="30" name="Text 28"/>
          <p:cNvSpPr/>
          <p:nvPr/>
        </p:nvSpPr>
        <p:spPr>
          <a:xfrm>
            <a:off x="9353550" y="47625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v19</a:t>
            </a:r>
            <a:endParaRPr lang="en-US" sz="1950" dirty="0"/>
          </a:p>
        </p:txBody>
      </p:sp>
      <p:sp>
        <p:nvSpPr>
          <p:cNvPr id="31" name="Text 29"/>
          <p:cNvSpPr/>
          <p:nvPr/>
        </p:nvSpPr>
        <p:spPr>
          <a:xfrm>
            <a:off x="10096500" y="4762500"/>
            <a:ext cx="3312691"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물품공급 확약서 입찰 시 제출</a:t>
            </a:r>
            <a:endParaRPr lang="en-US" sz="1950" dirty="0"/>
          </a:p>
        </p:txBody>
      </p:sp>
      <p:sp>
        <p:nvSpPr>
          <p:cNvPr id="32" name="Text 30"/>
          <p:cNvSpPr/>
          <p:nvPr/>
        </p:nvSpPr>
        <p:spPr>
          <a:xfrm>
            <a:off x="1028700" y="52197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v8</a:t>
            </a:r>
            <a:endParaRPr lang="en-US" sz="1950" dirty="0"/>
          </a:p>
        </p:txBody>
      </p:sp>
      <p:sp>
        <p:nvSpPr>
          <p:cNvPr id="33" name="Text 31"/>
          <p:cNvSpPr/>
          <p:nvPr/>
        </p:nvSpPr>
        <p:spPr>
          <a:xfrm>
            <a:off x="1771650" y="5219700"/>
            <a:ext cx="2416701"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중복제한 (실적+지역)</a:t>
            </a:r>
            <a:endParaRPr lang="en-US" sz="1950" dirty="0"/>
          </a:p>
        </p:txBody>
      </p:sp>
      <p:sp>
        <p:nvSpPr>
          <p:cNvPr id="34" name="Text 32"/>
          <p:cNvSpPr/>
          <p:nvPr/>
        </p:nvSpPr>
        <p:spPr>
          <a:xfrm>
            <a:off x="9353550" y="5219700"/>
            <a:ext cx="82808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v20 ◇</a:t>
            </a:r>
            <a:endParaRPr lang="en-US" sz="1950" dirty="0"/>
          </a:p>
        </p:txBody>
      </p:sp>
      <p:sp>
        <p:nvSpPr>
          <p:cNvPr id="35" name="Text 33"/>
          <p:cNvSpPr/>
          <p:nvPr/>
        </p:nvSpPr>
        <p:spPr>
          <a:xfrm>
            <a:off x="10257830" y="5219700"/>
            <a:ext cx="2165732"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입찰참가자격 (SW)</a:t>
            </a:r>
            <a:endParaRPr lang="en-US" sz="1950" dirty="0"/>
          </a:p>
        </p:txBody>
      </p:sp>
      <p:sp>
        <p:nvSpPr>
          <p:cNvPr id="36" name="Text 34"/>
          <p:cNvSpPr/>
          <p:nvPr/>
        </p:nvSpPr>
        <p:spPr>
          <a:xfrm>
            <a:off x="1028700" y="56769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v9</a:t>
            </a:r>
            <a:endParaRPr lang="en-US" sz="1950" dirty="0"/>
          </a:p>
        </p:txBody>
      </p:sp>
      <p:sp>
        <p:nvSpPr>
          <p:cNvPr id="37" name="Text 35"/>
          <p:cNvSpPr/>
          <p:nvPr/>
        </p:nvSpPr>
        <p:spPr>
          <a:xfrm>
            <a:off x="1771650" y="5676900"/>
            <a:ext cx="3236402"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과업지시서 특정 모델명 명시</a:t>
            </a:r>
            <a:endParaRPr lang="en-US" sz="1950" dirty="0"/>
          </a:p>
        </p:txBody>
      </p:sp>
      <p:sp>
        <p:nvSpPr>
          <p:cNvPr id="38" name="Text 36"/>
          <p:cNvSpPr/>
          <p:nvPr/>
        </p:nvSpPr>
        <p:spPr>
          <a:xfrm>
            <a:off x="9353550" y="56769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v21</a:t>
            </a:r>
            <a:endParaRPr lang="en-US" sz="1950" dirty="0"/>
          </a:p>
        </p:txBody>
      </p:sp>
      <p:sp>
        <p:nvSpPr>
          <p:cNvPr id="39" name="Text 37"/>
          <p:cNvSpPr/>
          <p:nvPr/>
        </p:nvSpPr>
        <p:spPr>
          <a:xfrm>
            <a:off x="10096500" y="5676900"/>
            <a:ext cx="1793453"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공동 5% (10%)</a:t>
            </a:r>
            <a:endParaRPr lang="en-US" sz="1950" dirty="0"/>
          </a:p>
        </p:txBody>
      </p:sp>
      <p:sp>
        <p:nvSpPr>
          <p:cNvPr id="40" name="Text 38"/>
          <p:cNvSpPr/>
          <p:nvPr/>
        </p:nvSpPr>
        <p:spPr>
          <a:xfrm>
            <a:off x="1028700" y="6134100"/>
            <a:ext cx="82808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v10 ◇</a:t>
            </a:r>
            <a:endParaRPr lang="en-US" sz="1950" dirty="0"/>
          </a:p>
        </p:txBody>
      </p:sp>
      <p:sp>
        <p:nvSpPr>
          <p:cNvPr id="41" name="Text 39"/>
          <p:cNvSpPr/>
          <p:nvPr/>
        </p:nvSpPr>
        <p:spPr>
          <a:xfrm>
            <a:off x="1932980" y="6134100"/>
            <a:ext cx="3563332"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중기간 경쟁제품 입찰 직생 없음</a:t>
            </a:r>
            <a:endParaRPr lang="en-US" sz="1950" dirty="0"/>
          </a:p>
        </p:txBody>
      </p:sp>
      <p:sp>
        <p:nvSpPr>
          <p:cNvPr id="42" name="Text 40"/>
          <p:cNvSpPr/>
          <p:nvPr/>
        </p:nvSpPr>
        <p:spPr>
          <a:xfrm>
            <a:off x="9353550" y="61341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v22</a:t>
            </a:r>
            <a:endParaRPr lang="en-US" sz="1950" dirty="0"/>
          </a:p>
        </p:txBody>
      </p:sp>
      <p:sp>
        <p:nvSpPr>
          <p:cNvPr id="43" name="Text 41"/>
          <p:cNvSpPr/>
          <p:nvPr/>
        </p:nvSpPr>
        <p:spPr>
          <a:xfrm>
            <a:off x="10096500" y="6134100"/>
            <a:ext cx="5578123"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현장설명회 참석업체 자격 제한 (협상계약만 적용)</a:t>
            </a:r>
            <a:endParaRPr lang="en-US" sz="1950" dirty="0"/>
          </a:p>
        </p:txBody>
      </p:sp>
      <p:sp>
        <p:nvSpPr>
          <p:cNvPr id="44" name="Text 42"/>
          <p:cNvSpPr/>
          <p:nvPr/>
        </p:nvSpPr>
        <p:spPr>
          <a:xfrm>
            <a:off x="1028700" y="6591300"/>
            <a:ext cx="82808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v11 ◇</a:t>
            </a:r>
            <a:endParaRPr lang="en-US" sz="1950" dirty="0"/>
          </a:p>
        </p:txBody>
      </p:sp>
      <p:sp>
        <p:nvSpPr>
          <p:cNvPr id="45" name="Text 43"/>
          <p:cNvSpPr/>
          <p:nvPr/>
        </p:nvSpPr>
        <p:spPr>
          <a:xfrm>
            <a:off x="1932980" y="6591300"/>
            <a:ext cx="3563332"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중기간 경쟁제품 입찰 중소 없음</a:t>
            </a:r>
            <a:endParaRPr lang="en-US" sz="1950" dirty="0"/>
          </a:p>
        </p:txBody>
      </p:sp>
      <p:sp>
        <p:nvSpPr>
          <p:cNvPr id="46" name="Text 44"/>
          <p:cNvSpPr/>
          <p:nvPr/>
        </p:nvSpPr>
        <p:spPr>
          <a:xfrm>
            <a:off x="9353550" y="65913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v23</a:t>
            </a:r>
            <a:endParaRPr lang="en-US" sz="1950" dirty="0"/>
          </a:p>
        </p:txBody>
      </p:sp>
      <p:sp>
        <p:nvSpPr>
          <p:cNvPr id="47" name="Text 45"/>
          <p:cNvSpPr/>
          <p:nvPr/>
        </p:nvSpPr>
        <p:spPr>
          <a:xfrm>
            <a:off x="10096500" y="6591300"/>
            <a:ext cx="5075366"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현장설명회 공고기간 (협상+지방계약만 적용)</a:t>
            </a:r>
            <a:endParaRPr lang="en-US" sz="1950" dirty="0"/>
          </a:p>
        </p:txBody>
      </p:sp>
      <p:sp>
        <p:nvSpPr>
          <p:cNvPr id="48" name="Text 46"/>
          <p:cNvSpPr/>
          <p:nvPr/>
        </p:nvSpPr>
        <p:spPr>
          <a:xfrm>
            <a:off x="1028700" y="70485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v12</a:t>
            </a:r>
            <a:endParaRPr lang="en-US" sz="1950" dirty="0"/>
          </a:p>
        </p:txBody>
      </p:sp>
      <p:sp>
        <p:nvSpPr>
          <p:cNvPr id="49" name="Text 47"/>
          <p:cNvSpPr/>
          <p:nvPr/>
        </p:nvSpPr>
        <p:spPr>
          <a:xfrm>
            <a:off x="1771650" y="7048500"/>
            <a:ext cx="2157546"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일반제품 직생 제한</a:t>
            </a:r>
            <a:endParaRPr lang="en-US" sz="1950" dirty="0"/>
          </a:p>
        </p:txBody>
      </p:sp>
      <p:sp>
        <p:nvSpPr>
          <p:cNvPr id="50" name="Text 48"/>
          <p:cNvSpPr/>
          <p:nvPr/>
        </p:nvSpPr>
        <p:spPr>
          <a:xfrm>
            <a:off x="9353550" y="7048500"/>
            <a:ext cx="6667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0F6B5E"/>
                </a:solidFill>
                <a:latin typeface="Noto Sans KR" pitchFamily="34" charset="0"/>
                <a:ea typeface="Noto Sans KR" pitchFamily="34" charset="-122"/>
                <a:cs typeface="Noto Sans KR" pitchFamily="34" charset="-120"/>
              </a:rPr>
              <a:t>v24</a:t>
            </a:r>
            <a:endParaRPr lang="en-US" sz="1950" dirty="0"/>
          </a:p>
        </p:txBody>
      </p:sp>
      <p:sp>
        <p:nvSpPr>
          <p:cNvPr id="51" name="Text 49"/>
          <p:cNvSpPr/>
          <p:nvPr/>
        </p:nvSpPr>
        <p:spPr>
          <a:xfrm>
            <a:off x="10096500" y="7048500"/>
            <a:ext cx="3487043" cy="390525"/>
          </a:xfrm>
          <a:prstGeom prst="rect">
            <a:avLst/>
          </a:prstGeom>
          <a:noFill/>
          <a:ln/>
        </p:spPr>
        <p:txBody>
          <a:bodyPr wrap="square" lIns="25400" tIns="25400" rIns="25400" bIns="25400" rtlCol="0" anchor="t">
            <a:normAutofit/>
          </a:bodyPr>
          <a:lstStyle/>
          <a:p>
            <a:pPr algn="l" indent="0" marL="0">
              <a:buNone/>
            </a:pPr>
            <a:r>
              <a:rPr lang="en-US" sz="1950" dirty="0">
                <a:solidFill>
                  <a:srgbClr val="3C4654"/>
                </a:solidFill>
                <a:latin typeface="Noto Sans KR" pitchFamily="34" charset="0"/>
                <a:ea typeface="Noto Sans KR" pitchFamily="34" charset="-122"/>
                <a:cs typeface="Noto Sans KR" pitchFamily="34" charset="-120"/>
              </a:rPr>
              <a:t>공고서와 나라장터 입력값 상이</a:t>
            </a:r>
            <a:endParaRPr lang="en-US" sz="1950" dirty="0"/>
          </a:p>
        </p:txBody>
      </p:sp>
      <p:sp>
        <p:nvSpPr>
          <p:cNvPr id="52" name="Shape 50"/>
          <p:cNvSpPr/>
          <p:nvPr/>
        </p:nvSpPr>
        <p:spPr>
          <a:xfrm>
            <a:off x="1028700" y="7629525"/>
            <a:ext cx="16230600" cy="9525"/>
          </a:xfrm>
          <a:prstGeom prst="rect">
            <a:avLst/>
          </a:prstGeom>
          <a:solidFill>
            <a:srgbClr val="DCD7CC"/>
          </a:solidFill>
          <a:ln/>
        </p:spPr>
      </p:sp>
      <p:sp>
        <p:nvSpPr>
          <p:cNvPr id="53" name="Text 51"/>
          <p:cNvSpPr/>
          <p:nvPr/>
        </p:nvSpPr>
        <p:spPr>
          <a:xfrm>
            <a:off x="1028700" y="7791450"/>
            <a:ext cx="16717518" cy="700980"/>
          </a:xfrm>
          <a:prstGeom prst="rect">
            <a:avLst/>
          </a:prstGeom>
          <a:noFill/>
          <a:ln/>
        </p:spPr>
        <p:txBody>
          <a:bodyPr wrap="square" lIns="25400" tIns="25400" rIns="25400" bIns="25400" rtlCol="0" anchor="t">
            <a:normAutofit/>
          </a:bodyPr>
          <a:lstStyle/>
          <a:p>
            <a:pPr algn="l" indent="0" marL="0">
              <a:lnSpc>
                <a:spcPct val="99429"/>
              </a:lnSpc>
              <a:buNone/>
            </a:pPr>
            <a:r>
              <a:rPr lang="en-US" sz="1800" dirty="0">
                <a:solidFill>
                  <a:srgbClr val="7C8492"/>
                </a:solidFill>
                <a:latin typeface="Noto Sans KR" pitchFamily="34" charset="0"/>
                <a:ea typeface="Noto Sans KR" pitchFamily="34" charset="-122"/>
                <a:cs typeface="Noto Sans KR" pitchFamily="34" charset="-120"/>
              </a:rPr>
              <a:t>계열 — 지역제한 v5~v7 · 중소기업·소기업 제한 v13~v19 · 현장설명회 v22·v23 · ◇ = 부재탐지형(근거 문구 항상 빈칸) · 상세 정의와 근거 조문은 data/항목표.json 기준 (2026.09.15 확인)</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001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부록</a:t>
            </a:r>
            <a:endParaRPr lang="en-US" sz="1950" dirty="0"/>
          </a:p>
        </p:txBody>
      </p:sp>
      <p:sp>
        <p:nvSpPr>
          <p:cNvPr id="3" name="Text 1"/>
          <p:cNvSpPr/>
          <p:nvPr/>
        </p:nvSpPr>
        <p:spPr>
          <a:xfrm>
            <a:off x="1028700" y="1266825"/>
            <a:ext cx="17853660" cy="638175"/>
          </a:xfrm>
          <a:prstGeom prst="rect">
            <a:avLst/>
          </a:prstGeom>
          <a:noFill/>
          <a:ln/>
        </p:spPr>
        <p:txBody>
          <a:bodyPr wrap="square" lIns="25400" tIns="25400" rIns="25400" bIns="25400" rtlCol="0" anchor="t">
            <a:normAutofit/>
          </a:bodyPr>
          <a:lstStyle/>
          <a:p>
            <a:pPr algn="l" indent="0" marL="0">
              <a:lnSpc>
                <a:spcPct val="87500"/>
              </a:lnSpc>
              <a:buNone/>
            </a:pPr>
            <a:r>
              <a:rPr lang="en-US" sz="3750" b="1" spc="-37" kern="0" dirty="0">
                <a:solidFill>
                  <a:srgbClr val="16202E"/>
                </a:solidFill>
                <a:latin typeface="Noto Sans KR" pitchFamily="34" charset="0"/>
                <a:ea typeface="Noto Sans KR" pitchFamily="34" charset="-122"/>
                <a:cs typeface="Noto Sans KR" pitchFamily="34" charset="-120"/>
              </a:rPr>
              <a:t>출처와 확인일</a:t>
            </a:r>
            <a:endParaRPr lang="en-US" sz="3750" dirty="0"/>
          </a:p>
        </p:txBody>
      </p:sp>
      <p:sp>
        <p:nvSpPr>
          <p:cNvPr id="4" name="Shape 2"/>
          <p:cNvSpPr/>
          <p:nvPr/>
        </p:nvSpPr>
        <p:spPr>
          <a:xfrm>
            <a:off x="1028700" y="2152650"/>
            <a:ext cx="16230600" cy="4295775"/>
          </a:xfrm>
          <a:prstGeom prst="roundRect">
            <a:avLst>
              <a:gd name="adj" fmla="val 1330"/>
            </a:avLst>
          </a:prstGeom>
          <a:solidFill>
            <a:srgbClr val="FFFFFF"/>
          </a:solidFill>
          <a:ln w="9525">
            <a:solidFill>
              <a:srgbClr val="E3DED3"/>
            </a:solidFill>
            <a:prstDash val="solid"/>
          </a:ln>
        </p:spPr>
      </p:sp>
      <p:sp>
        <p:nvSpPr>
          <p:cNvPr id="5" name="Shape 3"/>
          <p:cNvSpPr/>
          <p:nvPr/>
        </p:nvSpPr>
        <p:spPr>
          <a:xfrm>
            <a:off x="1343025" y="2857500"/>
            <a:ext cx="15601950" cy="9525"/>
          </a:xfrm>
          <a:prstGeom prst="rect">
            <a:avLst/>
          </a:prstGeom>
          <a:solidFill>
            <a:srgbClr val="DCD7CC"/>
          </a:solidFill>
          <a:ln/>
        </p:spPr>
      </p:sp>
      <p:sp>
        <p:nvSpPr>
          <p:cNvPr id="6" name="Text 4"/>
          <p:cNvSpPr/>
          <p:nvPr/>
        </p:nvSpPr>
        <p:spPr>
          <a:xfrm>
            <a:off x="1343025" y="2409825"/>
            <a:ext cx="7106528"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16202E"/>
                </a:solidFill>
                <a:latin typeface="Noto Sans KR" pitchFamily="34" charset="0"/>
                <a:ea typeface="Noto Sans KR" pitchFamily="34" charset="-122"/>
                <a:cs typeface="Noto Sans KR" pitchFamily="34" charset="-120"/>
              </a:rPr>
              <a:t>고정 모델 · 외부 데이터 금지 · 자가 라벨링 허용 · 팀 정원 5명</a:t>
            </a:r>
            <a:endParaRPr lang="en-US" sz="1950" dirty="0"/>
          </a:p>
        </p:txBody>
      </p:sp>
      <p:sp>
        <p:nvSpPr>
          <p:cNvPr id="7" name="Text 5"/>
          <p:cNvSpPr/>
          <p:nvPr/>
        </p:nvSpPr>
        <p:spPr>
          <a:xfrm>
            <a:off x="8051155" y="2409825"/>
            <a:ext cx="2383959" cy="390525"/>
          </a:xfrm>
          <a:prstGeom prst="rect">
            <a:avLst/>
          </a:prstGeom>
          <a:noFill/>
          <a:ln/>
        </p:spPr>
        <p:txBody>
          <a:bodyPr wrap="square" lIns="25400" tIns="25400" rIns="25400" bIns="25400" rtlCol="0" anchor="t">
            <a:normAutofit/>
          </a:bodyPr>
          <a:lstStyle/>
          <a:p>
            <a:pPr algn="l" indent="0" marL="0">
              <a:buNone/>
            </a:pPr>
            <a:r>
              <a:rPr lang="en-US" sz="1875" dirty="0">
                <a:solidFill>
                  <a:srgbClr val="3C4654"/>
                </a:solidFill>
                <a:latin typeface="Noto Sans KR" pitchFamily="34" charset="0"/>
                <a:ea typeface="Noto Sans KR" pitchFamily="34" charset="-122"/>
                <a:cs typeface="Noto Sans KR" pitchFamily="34" charset="-120"/>
              </a:rPr>
              <a:t>규칙 탭 · 2026.09.15</a:t>
            </a:r>
            <a:endParaRPr lang="en-US" sz="1875" dirty="0"/>
          </a:p>
        </p:txBody>
      </p:sp>
      <p:sp>
        <p:nvSpPr>
          <p:cNvPr id="8" name="Shape 6"/>
          <p:cNvSpPr/>
          <p:nvPr/>
        </p:nvSpPr>
        <p:spPr>
          <a:xfrm>
            <a:off x="1343025" y="3429000"/>
            <a:ext cx="15601950" cy="9525"/>
          </a:xfrm>
          <a:prstGeom prst="rect">
            <a:avLst/>
          </a:prstGeom>
          <a:solidFill>
            <a:srgbClr val="DCD7CC"/>
          </a:solidFill>
          <a:ln/>
        </p:spPr>
      </p:sp>
      <p:sp>
        <p:nvSpPr>
          <p:cNvPr id="9" name="Text 7"/>
          <p:cNvSpPr/>
          <p:nvPr/>
        </p:nvSpPr>
        <p:spPr>
          <a:xfrm>
            <a:off x="1343025" y="2981325"/>
            <a:ext cx="7245191"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16202E"/>
                </a:solidFill>
                <a:latin typeface="Noto Sans KR" pitchFamily="34" charset="0"/>
                <a:ea typeface="Noto Sans KR" pitchFamily="34" charset="-122"/>
                <a:cs typeface="Noto Sans KR" pitchFamily="34" charset="-120"/>
              </a:rPr>
              <a:t>라벨 단계 API 허용 · 제출 코드 외부 호출 금지 · 입력 자료 한정</a:t>
            </a:r>
            <a:endParaRPr lang="en-US" sz="1950" dirty="0"/>
          </a:p>
        </p:txBody>
      </p:sp>
      <p:sp>
        <p:nvSpPr>
          <p:cNvPr id="10" name="Text 8"/>
          <p:cNvSpPr/>
          <p:nvPr/>
        </p:nvSpPr>
        <p:spPr>
          <a:xfrm>
            <a:off x="8177213" y="2981325"/>
            <a:ext cx="2691244" cy="390525"/>
          </a:xfrm>
          <a:prstGeom prst="rect">
            <a:avLst/>
          </a:prstGeom>
          <a:noFill/>
          <a:ln/>
        </p:spPr>
        <p:txBody>
          <a:bodyPr wrap="square" lIns="25400" tIns="25400" rIns="25400" bIns="25400" rtlCol="0" anchor="t">
            <a:normAutofit/>
          </a:bodyPr>
          <a:lstStyle/>
          <a:p>
            <a:pPr algn="l" indent="0" marL="0">
              <a:buNone/>
            </a:pPr>
            <a:r>
              <a:rPr lang="en-US" sz="1875" dirty="0">
                <a:solidFill>
                  <a:srgbClr val="3C4654"/>
                </a:solidFill>
                <a:latin typeface="Noto Sans KR" pitchFamily="34" charset="0"/>
                <a:ea typeface="Noto Sans KR" pitchFamily="34" charset="-122"/>
                <a:cs typeface="Noto Sans KR" pitchFamily="34" charset="-120"/>
              </a:rPr>
              <a:t>규칙 탭 2) · 2026.09.15</a:t>
            </a:r>
            <a:endParaRPr lang="en-US" sz="1875" dirty="0"/>
          </a:p>
        </p:txBody>
      </p:sp>
      <p:sp>
        <p:nvSpPr>
          <p:cNvPr id="11" name="Shape 9"/>
          <p:cNvSpPr/>
          <p:nvPr/>
        </p:nvSpPr>
        <p:spPr>
          <a:xfrm>
            <a:off x="1343025" y="4000500"/>
            <a:ext cx="15601950" cy="9525"/>
          </a:xfrm>
          <a:prstGeom prst="rect">
            <a:avLst/>
          </a:prstGeom>
          <a:solidFill>
            <a:srgbClr val="DCD7CC"/>
          </a:solidFill>
          <a:ln/>
        </p:spPr>
      </p:sp>
      <p:sp>
        <p:nvSpPr>
          <p:cNvPr id="12" name="Text 10"/>
          <p:cNvSpPr/>
          <p:nvPr/>
        </p:nvSpPr>
        <p:spPr>
          <a:xfrm>
            <a:off x="1343025" y="3552825"/>
            <a:ext cx="69151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16202E"/>
                </a:solidFill>
                <a:latin typeface="Noto Sans KR" pitchFamily="34" charset="0"/>
                <a:ea typeface="Noto Sans KR" pitchFamily="34" charset="-122"/>
                <a:cs typeface="Noto Sans KR" pitchFamily="34" charset="-120"/>
              </a:rPr>
              <a:t>Macro F1 · 1,853건 · 상위 15팀 · 정성 20% · 근거 규약</a:t>
            </a:r>
            <a:endParaRPr lang="en-US" sz="1950" dirty="0"/>
          </a:p>
        </p:txBody>
      </p:sp>
      <p:sp>
        <p:nvSpPr>
          <p:cNvPr id="13" name="Text 11"/>
          <p:cNvSpPr/>
          <p:nvPr/>
        </p:nvSpPr>
        <p:spPr>
          <a:xfrm>
            <a:off x="7877175" y="3552825"/>
            <a:ext cx="3057465" cy="390525"/>
          </a:xfrm>
          <a:prstGeom prst="rect">
            <a:avLst/>
          </a:prstGeom>
          <a:noFill/>
          <a:ln/>
        </p:spPr>
        <p:txBody>
          <a:bodyPr wrap="square" lIns="25400" tIns="25400" rIns="25400" bIns="25400" rtlCol="0" anchor="t">
            <a:normAutofit/>
          </a:bodyPr>
          <a:lstStyle/>
          <a:p>
            <a:pPr algn="l" indent="0" marL="0">
              <a:buNone/>
            </a:pPr>
            <a:r>
              <a:rPr lang="en-US" sz="1875" dirty="0">
                <a:solidFill>
                  <a:srgbClr val="3C4654"/>
                </a:solidFill>
                <a:latin typeface="Noto Sans KR" pitchFamily="34" charset="0"/>
                <a:ea typeface="Noto Sans KR" pitchFamily="34" charset="-122"/>
                <a:cs typeface="Noto Sans KR" pitchFamily="34" charset="-120"/>
              </a:rPr>
              <a:t>평가 탭 1)·2) · 2026.09.15</a:t>
            </a:r>
            <a:endParaRPr lang="en-US" sz="1875" dirty="0"/>
          </a:p>
        </p:txBody>
      </p:sp>
      <p:sp>
        <p:nvSpPr>
          <p:cNvPr id="14" name="Shape 12"/>
          <p:cNvSpPr/>
          <p:nvPr/>
        </p:nvSpPr>
        <p:spPr>
          <a:xfrm>
            <a:off x="1343025" y="4572000"/>
            <a:ext cx="15601950" cy="9525"/>
          </a:xfrm>
          <a:prstGeom prst="rect">
            <a:avLst/>
          </a:prstGeom>
          <a:solidFill>
            <a:srgbClr val="DCD7CC"/>
          </a:solidFill>
          <a:ln/>
        </p:spPr>
      </p:sp>
      <p:sp>
        <p:nvSpPr>
          <p:cNvPr id="15" name="Text 13"/>
          <p:cNvSpPr/>
          <p:nvPr/>
        </p:nvSpPr>
        <p:spPr>
          <a:xfrm>
            <a:off x="1343025" y="4124325"/>
            <a:ext cx="69151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16202E"/>
                </a:solidFill>
                <a:latin typeface="Noto Sans KR" pitchFamily="34" charset="0"/>
                <a:ea typeface="Noto Sans KR" pitchFamily="34" charset="-122"/>
                <a:cs typeface="Noto Sans KR" pitchFamily="34" charset="-120"/>
              </a:rPr>
              <a:t>제출 구조 · 1일 1회 · 2시간 · 인터넷 차단 · L40S 사양</a:t>
            </a:r>
            <a:endParaRPr lang="en-US" sz="1950" dirty="0"/>
          </a:p>
        </p:txBody>
      </p:sp>
      <p:sp>
        <p:nvSpPr>
          <p:cNvPr id="16" name="Text 14"/>
          <p:cNvSpPr/>
          <p:nvPr/>
        </p:nvSpPr>
        <p:spPr>
          <a:xfrm>
            <a:off x="7877175" y="4124325"/>
            <a:ext cx="2691244" cy="390525"/>
          </a:xfrm>
          <a:prstGeom prst="rect">
            <a:avLst/>
          </a:prstGeom>
          <a:noFill/>
          <a:ln/>
        </p:spPr>
        <p:txBody>
          <a:bodyPr wrap="square" lIns="25400" tIns="25400" rIns="25400" bIns="25400" rtlCol="0" anchor="t">
            <a:normAutofit/>
          </a:bodyPr>
          <a:lstStyle/>
          <a:p>
            <a:pPr algn="l" indent="0" marL="0">
              <a:buNone/>
            </a:pPr>
            <a:r>
              <a:rPr lang="en-US" sz="1875" dirty="0">
                <a:solidFill>
                  <a:srgbClr val="3C4654"/>
                </a:solidFill>
                <a:latin typeface="Noto Sans KR" pitchFamily="34" charset="0"/>
                <a:ea typeface="Noto Sans KR" pitchFamily="34" charset="-122"/>
                <a:cs typeface="Noto Sans KR" pitchFamily="34" charset="-120"/>
              </a:rPr>
              <a:t>평가 탭 3) · 2026.09.15</a:t>
            </a:r>
            <a:endParaRPr lang="en-US" sz="1875" dirty="0"/>
          </a:p>
        </p:txBody>
      </p:sp>
      <p:sp>
        <p:nvSpPr>
          <p:cNvPr id="17" name="Shape 15"/>
          <p:cNvSpPr/>
          <p:nvPr/>
        </p:nvSpPr>
        <p:spPr>
          <a:xfrm>
            <a:off x="1343025" y="5143500"/>
            <a:ext cx="15601950" cy="9525"/>
          </a:xfrm>
          <a:prstGeom prst="rect">
            <a:avLst/>
          </a:prstGeom>
          <a:solidFill>
            <a:srgbClr val="DCD7CC"/>
          </a:solidFill>
          <a:ln/>
        </p:spPr>
      </p:sp>
      <p:sp>
        <p:nvSpPr>
          <p:cNvPr id="18" name="Text 16"/>
          <p:cNvSpPr/>
          <p:nvPr/>
        </p:nvSpPr>
        <p:spPr>
          <a:xfrm>
            <a:off x="1343025" y="4695825"/>
            <a:ext cx="69151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16202E"/>
                </a:solidFill>
                <a:latin typeface="Noto Sans KR" pitchFamily="34" charset="0"/>
                <a:ea typeface="Noto Sans KR" pitchFamily="34" charset="-122"/>
                <a:cs typeface="Noto Sans KR" pitchFamily="34" charset="-120"/>
              </a:rPr>
              <a:t>데이터 구조 · 24개 항목명 · 부재탐지 5항목 · meta 21필드</a:t>
            </a:r>
            <a:endParaRPr lang="en-US" sz="1950" dirty="0"/>
          </a:p>
        </p:txBody>
      </p:sp>
      <p:sp>
        <p:nvSpPr>
          <p:cNvPr id="19" name="Text 17"/>
          <p:cNvSpPr/>
          <p:nvPr/>
        </p:nvSpPr>
        <p:spPr>
          <a:xfrm>
            <a:off x="7877175" y="4695825"/>
            <a:ext cx="3421231" cy="390525"/>
          </a:xfrm>
          <a:prstGeom prst="rect">
            <a:avLst/>
          </a:prstGeom>
          <a:noFill/>
          <a:ln/>
        </p:spPr>
        <p:txBody>
          <a:bodyPr wrap="square" lIns="25400" tIns="25400" rIns="25400" bIns="25400" rtlCol="0" anchor="t">
            <a:normAutofit/>
          </a:bodyPr>
          <a:lstStyle/>
          <a:p>
            <a:pPr algn="l" indent="0" marL="0">
              <a:buNone/>
            </a:pPr>
            <a:r>
              <a:rPr lang="en-US" sz="1875" dirty="0">
                <a:solidFill>
                  <a:srgbClr val="3C4654"/>
                </a:solidFill>
                <a:latin typeface="Noto Sans KR" pitchFamily="34" charset="0"/>
                <a:ea typeface="Noto Sans KR" pitchFamily="34" charset="-122"/>
                <a:cs typeface="Noto Sans KR" pitchFamily="34" charset="-120"/>
              </a:rPr>
              <a:t>데이터 명세 공지 · 2026.09.15</a:t>
            </a:r>
            <a:endParaRPr lang="en-US" sz="1875" dirty="0"/>
          </a:p>
        </p:txBody>
      </p:sp>
      <p:sp>
        <p:nvSpPr>
          <p:cNvPr id="20" name="Shape 18"/>
          <p:cNvSpPr/>
          <p:nvPr/>
        </p:nvSpPr>
        <p:spPr>
          <a:xfrm>
            <a:off x="1343025" y="5715000"/>
            <a:ext cx="15601950" cy="9525"/>
          </a:xfrm>
          <a:prstGeom prst="rect">
            <a:avLst/>
          </a:prstGeom>
          <a:solidFill>
            <a:srgbClr val="DCD7CC"/>
          </a:solidFill>
          <a:ln/>
        </p:spPr>
      </p:sp>
      <p:sp>
        <p:nvSpPr>
          <p:cNvPr id="21" name="Text 19"/>
          <p:cNvSpPr/>
          <p:nvPr/>
        </p:nvSpPr>
        <p:spPr>
          <a:xfrm>
            <a:off x="1343025" y="5267325"/>
            <a:ext cx="7330812"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16202E"/>
                </a:solidFill>
                <a:latin typeface="Noto Sans KR" pitchFamily="34" charset="0"/>
                <a:ea typeface="Noto Sans KR" pitchFamily="34" charset="-122"/>
                <a:cs typeface="Noto Sans KR" pitchFamily="34" charset="-120"/>
              </a:rPr>
              <a:t>토큰 예산 14,848 · 문서 4,000자 · BM25 상위 8 · 후처리 순서</a:t>
            </a:r>
            <a:endParaRPr lang="en-US" sz="1950" dirty="0"/>
          </a:p>
        </p:txBody>
      </p:sp>
      <p:sp>
        <p:nvSpPr>
          <p:cNvPr id="22" name="Text 20"/>
          <p:cNvSpPr/>
          <p:nvPr/>
        </p:nvSpPr>
        <p:spPr>
          <a:xfrm>
            <a:off x="8255050" y="5267325"/>
            <a:ext cx="4603879" cy="390525"/>
          </a:xfrm>
          <a:prstGeom prst="rect">
            <a:avLst/>
          </a:prstGeom>
          <a:noFill/>
          <a:ln/>
        </p:spPr>
        <p:txBody>
          <a:bodyPr wrap="square" lIns="25400" tIns="25400" rIns="25400" bIns="25400" rtlCol="0" anchor="t">
            <a:normAutofit/>
          </a:bodyPr>
          <a:lstStyle/>
          <a:p>
            <a:pPr algn="l" indent="0" marL="0">
              <a:buNone/>
            </a:pPr>
            <a:r>
              <a:rPr lang="en-US" sz="1875" dirty="0">
                <a:solidFill>
                  <a:srgbClr val="3C4654"/>
                </a:solidFill>
                <a:latin typeface="Noto Sans KR" pitchFamily="34" charset="0"/>
                <a:ea typeface="Noto Sans KR" pitchFamily="34" charset="-122"/>
                <a:cs typeface="Noto Sans KR" pitchFamily="34" charset="-120"/>
              </a:rPr>
              <a:t>공식 베이스라인 노트북 2종 · 2026.09.15</a:t>
            </a:r>
            <a:endParaRPr lang="en-US" sz="1875" dirty="0"/>
          </a:p>
        </p:txBody>
      </p:sp>
      <p:sp>
        <p:nvSpPr>
          <p:cNvPr id="23" name="Text 21"/>
          <p:cNvSpPr/>
          <p:nvPr/>
        </p:nvSpPr>
        <p:spPr>
          <a:xfrm>
            <a:off x="1343025" y="5838825"/>
            <a:ext cx="6915150" cy="390525"/>
          </a:xfrm>
          <a:prstGeom prst="rect">
            <a:avLst/>
          </a:prstGeom>
          <a:noFill/>
          <a:ln/>
        </p:spPr>
        <p:txBody>
          <a:bodyPr wrap="square" lIns="25400" tIns="25400" rIns="25400" bIns="25400" rtlCol="0" anchor="t">
            <a:normAutofit/>
          </a:bodyPr>
          <a:lstStyle/>
          <a:p>
            <a:pPr algn="l" indent="0" marL="0">
              <a:buNone/>
            </a:pPr>
            <a:r>
              <a:rPr lang="en-US" sz="1950" b="1" dirty="0">
                <a:solidFill>
                  <a:srgbClr val="16202E"/>
                </a:solidFill>
                <a:latin typeface="Noto Sans KR" pitchFamily="34" charset="0"/>
                <a:ea typeface="Noto Sans KR" pitchFamily="34" charset="-122"/>
                <a:cs typeface="Noto Sans KR" pitchFamily="34" charset="-120"/>
              </a:rPr>
              <a:t>공식 일정 (9/23 · 9/29 · 9/30 · 10/5 · 10/16 · 11/27)</a:t>
            </a:r>
            <a:endParaRPr lang="en-US" sz="1950" dirty="0"/>
          </a:p>
        </p:txBody>
      </p:sp>
      <p:sp>
        <p:nvSpPr>
          <p:cNvPr id="24" name="Text 22"/>
          <p:cNvSpPr/>
          <p:nvPr/>
        </p:nvSpPr>
        <p:spPr>
          <a:xfrm>
            <a:off x="7877175" y="5838825"/>
            <a:ext cx="2383959" cy="390525"/>
          </a:xfrm>
          <a:prstGeom prst="rect">
            <a:avLst/>
          </a:prstGeom>
          <a:noFill/>
          <a:ln/>
        </p:spPr>
        <p:txBody>
          <a:bodyPr wrap="square" lIns="25400" tIns="25400" rIns="25400" bIns="25400" rtlCol="0" anchor="t">
            <a:normAutofit/>
          </a:bodyPr>
          <a:lstStyle/>
          <a:p>
            <a:pPr algn="l" indent="0" marL="0">
              <a:buNone/>
            </a:pPr>
            <a:r>
              <a:rPr lang="en-US" sz="1875" dirty="0">
                <a:solidFill>
                  <a:srgbClr val="3C4654"/>
                </a:solidFill>
                <a:latin typeface="Noto Sans KR" pitchFamily="34" charset="0"/>
                <a:ea typeface="Noto Sans KR" pitchFamily="34" charset="-122"/>
                <a:cs typeface="Noto Sans KR" pitchFamily="34" charset="-120"/>
              </a:rPr>
              <a:t>일정 탭 · 2026.09.15</a:t>
            </a:r>
            <a:endParaRPr lang="en-US" sz="1875" dirty="0"/>
          </a:p>
        </p:txBody>
      </p:sp>
      <p:sp>
        <p:nvSpPr>
          <p:cNvPr id="25" name="Shape 23"/>
          <p:cNvSpPr/>
          <p:nvPr/>
        </p:nvSpPr>
        <p:spPr>
          <a:xfrm>
            <a:off x="1028700" y="6734175"/>
            <a:ext cx="8001000" cy="1090613"/>
          </a:xfrm>
          <a:prstGeom prst="roundRect">
            <a:avLst>
              <a:gd name="adj" fmla="val 5240"/>
            </a:avLst>
          </a:prstGeom>
          <a:solidFill>
            <a:srgbClr val="EDE9E0"/>
          </a:solidFill>
          <a:ln/>
        </p:spPr>
      </p:sp>
      <p:sp>
        <p:nvSpPr>
          <p:cNvPr id="26" name="Text 24"/>
          <p:cNvSpPr/>
          <p:nvPr/>
        </p:nvSpPr>
        <p:spPr>
          <a:xfrm>
            <a:off x="1276350" y="6924675"/>
            <a:ext cx="7745730" cy="747712"/>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3C4654"/>
                </a:solidFill>
                <a:highlight>
                  <a:srgbClr val="EDE9E0"/>
                </a:highlight>
                <a:latin typeface="Noto Sans KR" pitchFamily="34" charset="0"/>
                <a:ea typeface="Noto Sans KR" pitchFamily="34" charset="-122"/>
                <a:cs typeface="Noto Sans KR" pitchFamily="34" charset="-120"/>
              </a:rPr>
              <a:t>참가자 946명은 </a:t>
            </a:r>
            <a:pPr algn="l" indent="0" marL="0">
              <a:lnSpc>
                <a:spcPct val="100694"/>
              </a:lnSpc>
              <a:buNone/>
            </a:pPr>
            <a:r>
              <a:rPr lang="en-US" sz="1875" b="1" dirty="0">
                <a:solidFill>
                  <a:srgbClr val="16202E"/>
                </a:solidFill>
                <a:latin typeface="Noto Sans KR" pitchFamily="34" charset="0"/>
                <a:ea typeface="Noto Sans KR" pitchFamily="34" charset="-122"/>
                <a:cs typeface="Noto Sans KR" pitchFamily="34" charset="-120"/>
              </a:rPr>
              <a:t>참가자 수이며 제출 팀 수가 아니다 </a:t>
            </a:r>
            <a:pPr algn="l" indent="0" marL="0">
              <a:lnSpc>
                <a:spcPct val="100694"/>
              </a:lnSpc>
              <a:buNone/>
            </a:pPr>
            <a:r>
              <a:rPr lang="en-US" sz="1875" dirty="0">
                <a:solidFill>
                  <a:srgbClr val="3C4654"/>
                </a:solidFill>
                <a:highlight>
                  <a:srgbClr val="EDE9E0"/>
                </a:highlight>
                <a:latin typeface="Noto Sans KR" pitchFamily="34" charset="0"/>
                <a:ea typeface="Noto Sans KR" pitchFamily="34" charset="-122"/>
                <a:cs typeface="Noto Sans KR" pitchFamily="34" charset="-120"/>
              </a:rPr>
              <a:t>— 이 숫자로 진출·수상 확률을 계산하지 않는다</a:t>
            </a:r>
            <a:endParaRPr lang="en-US" sz="1875" dirty="0"/>
          </a:p>
        </p:txBody>
      </p:sp>
      <p:sp>
        <p:nvSpPr>
          <p:cNvPr id="27" name="Shape 25"/>
          <p:cNvSpPr/>
          <p:nvPr/>
        </p:nvSpPr>
        <p:spPr>
          <a:xfrm>
            <a:off x="9239250" y="6734175"/>
            <a:ext cx="8020050" cy="1090613"/>
          </a:xfrm>
          <a:prstGeom prst="roundRect">
            <a:avLst>
              <a:gd name="adj" fmla="val 5240"/>
            </a:avLst>
          </a:prstGeom>
          <a:solidFill>
            <a:srgbClr val="FFFFFF"/>
          </a:solidFill>
          <a:ln w="9525">
            <a:solidFill>
              <a:srgbClr val="E1B9B1"/>
            </a:solidFill>
            <a:prstDash val="solid"/>
          </a:ln>
        </p:spPr>
      </p:sp>
      <p:sp>
        <p:nvSpPr>
          <p:cNvPr id="28" name="Text 26"/>
          <p:cNvSpPr/>
          <p:nvPr/>
        </p:nvSpPr>
        <p:spPr>
          <a:xfrm>
            <a:off x="9496425" y="6934200"/>
            <a:ext cx="7746302" cy="728662"/>
          </a:xfrm>
          <a:prstGeom prst="rect">
            <a:avLst/>
          </a:prstGeom>
          <a:noFill/>
          <a:ln/>
        </p:spPr>
        <p:txBody>
          <a:bodyPr wrap="square" lIns="25400" tIns="25400" rIns="25400" bIns="25400" rtlCol="0" anchor="t">
            <a:normAutofit/>
          </a:bodyPr>
          <a:lstStyle/>
          <a:p>
            <a:pPr algn="l" indent="0" marL="0">
              <a:lnSpc>
                <a:spcPct val="100694"/>
              </a:lnSpc>
              <a:buNone/>
            </a:pPr>
            <a:r>
              <a:rPr lang="en-US" sz="1875" b="1" dirty="0">
                <a:solidFill>
                  <a:srgbClr val="A4402E"/>
                </a:solidFill>
                <a:highlight>
                  <a:srgbClr val="FFFFFF"/>
                </a:highlight>
                <a:latin typeface="Noto Sans KR" pitchFamily="34" charset="0"/>
                <a:ea typeface="Noto Sans KR" pitchFamily="34" charset="-122"/>
                <a:cs typeface="Noto Sans KR" pitchFamily="34" charset="-120"/>
              </a:rPr>
              <a:t>6장의 작업량 추정(항목당 반나절, 건당 5분)은 </a:t>
            </a:r>
            <a:pPr algn="l" indent="0" marL="0">
              <a:lnSpc>
                <a:spcPct val="100694"/>
              </a:lnSpc>
              <a:buNone/>
            </a:pPr>
            <a:r>
              <a:rPr lang="en-US" sz="1875" b="1" dirty="0">
                <a:solidFill>
                  <a:srgbClr val="A4402E"/>
                </a:solidFill>
                <a:latin typeface="Noto Sans KR" pitchFamily="34" charset="0"/>
                <a:ea typeface="Noto Sans KR" pitchFamily="34" charset="-122"/>
                <a:cs typeface="Noto Sans KR" pitchFamily="34" charset="-120"/>
              </a:rPr>
              <a:t>가정값 계산이며 실측이 아니다 </a:t>
            </a:r>
            <a:pPr algn="l" indent="0" marL="0">
              <a:lnSpc>
                <a:spcPct val="100694"/>
              </a:lnSpc>
              <a:buNone/>
            </a:pPr>
            <a:r>
              <a:rPr lang="en-US" sz="1875" b="1" dirty="0">
                <a:solidFill>
                  <a:srgbClr val="A4402E"/>
                </a:solidFill>
                <a:highlight>
                  <a:srgbClr val="FFFFFF"/>
                </a:highlight>
                <a:latin typeface="Noto Sans KR" pitchFamily="34" charset="0"/>
                <a:ea typeface="Noto Sans KR" pitchFamily="34" charset="-122"/>
                <a:cs typeface="Noto Sans KR" pitchFamily="34" charset="-120"/>
              </a:rPr>
              <a:t>— 근거를 대기 위한 산수다</a:t>
            </a:r>
            <a:endParaRPr lang="en-US" sz="18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1028700" y="800100"/>
            <a:ext cx="17853660" cy="390525"/>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0F6B5E"/>
                </a:solidFill>
                <a:latin typeface="Noto Sans KR" pitchFamily="34" charset="0"/>
                <a:ea typeface="Noto Sans KR" pitchFamily="34" charset="-122"/>
                <a:cs typeface="Noto Sans KR" pitchFamily="34" charset="-120"/>
              </a:rPr>
              <a:t>부록</a:t>
            </a:r>
            <a:endParaRPr lang="en-US" sz="1950" dirty="0"/>
          </a:p>
        </p:txBody>
      </p:sp>
      <p:sp>
        <p:nvSpPr>
          <p:cNvPr id="3" name="Text 1"/>
          <p:cNvSpPr/>
          <p:nvPr/>
        </p:nvSpPr>
        <p:spPr>
          <a:xfrm>
            <a:off x="1028700" y="1266825"/>
            <a:ext cx="17853660" cy="638175"/>
          </a:xfrm>
          <a:prstGeom prst="rect">
            <a:avLst/>
          </a:prstGeom>
          <a:noFill/>
          <a:ln/>
        </p:spPr>
        <p:txBody>
          <a:bodyPr wrap="square" lIns="25400" tIns="25400" rIns="25400" bIns="25400" rtlCol="0" anchor="t">
            <a:normAutofit/>
          </a:bodyPr>
          <a:lstStyle/>
          <a:p>
            <a:pPr algn="l" indent="0" marL="0">
              <a:lnSpc>
                <a:spcPct val="87500"/>
              </a:lnSpc>
              <a:buNone/>
            </a:pPr>
            <a:r>
              <a:rPr lang="en-US" sz="3750" b="1" spc="-37" kern="0" dirty="0">
                <a:solidFill>
                  <a:srgbClr val="16202E"/>
                </a:solidFill>
                <a:latin typeface="Noto Sans KR" pitchFamily="34" charset="0"/>
                <a:ea typeface="Noto Sans KR" pitchFamily="34" charset="-122"/>
                <a:cs typeface="Noto Sans KR" pitchFamily="34" charset="-120"/>
              </a:rPr>
              <a:t>아직 결정되지 않은 것</a:t>
            </a:r>
            <a:endParaRPr lang="en-US" sz="3750" dirty="0"/>
          </a:p>
        </p:txBody>
      </p:sp>
      <p:sp>
        <p:nvSpPr>
          <p:cNvPr id="4" name="Shape 2"/>
          <p:cNvSpPr/>
          <p:nvPr/>
        </p:nvSpPr>
        <p:spPr>
          <a:xfrm>
            <a:off x="1028700" y="2152650"/>
            <a:ext cx="7972425" cy="3987998"/>
          </a:xfrm>
          <a:prstGeom prst="roundRect">
            <a:avLst>
              <a:gd name="adj" fmla="val 1433"/>
            </a:avLst>
          </a:prstGeom>
          <a:solidFill>
            <a:srgbClr val="FFFFFF"/>
          </a:solidFill>
          <a:ln w="9525">
            <a:solidFill>
              <a:srgbClr val="E3DED3"/>
            </a:solidFill>
            <a:prstDash val="solid"/>
          </a:ln>
        </p:spPr>
      </p:sp>
      <p:sp>
        <p:nvSpPr>
          <p:cNvPr id="5" name="Text 3"/>
          <p:cNvSpPr/>
          <p:nvPr/>
        </p:nvSpPr>
        <p:spPr>
          <a:xfrm>
            <a:off x="1323975" y="2409825"/>
            <a:ext cx="8120062"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0F6B5E"/>
                </a:solidFill>
                <a:latin typeface="Noto Sans KR" pitchFamily="34" charset="0"/>
                <a:ea typeface="Noto Sans KR" pitchFamily="34" charset="-122"/>
                <a:cs typeface="Noto Sans KR" pitchFamily="34" charset="-120"/>
              </a:rPr>
              <a:t>우리가 정할 것</a:t>
            </a:r>
            <a:endParaRPr lang="en-US" sz="1800" dirty="0"/>
          </a:p>
        </p:txBody>
      </p:sp>
      <p:sp>
        <p:nvSpPr>
          <p:cNvPr id="6" name="Shape 4"/>
          <p:cNvSpPr/>
          <p:nvPr/>
        </p:nvSpPr>
        <p:spPr>
          <a:xfrm>
            <a:off x="1323975" y="3311723"/>
            <a:ext cx="7381875" cy="9525"/>
          </a:xfrm>
          <a:prstGeom prst="rect">
            <a:avLst/>
          </a:prstGeom>
          <a:solidFill>
            <a:srgbClr val="DCD7CC"/>
          </a:solidFill>
          <a:ln/>
        </p:spPr>
      </p:sp>
      <p:sp>
        <p:nvSpPr>
          <p:cNvPr id="7" name="Text 5"/>
          <p:cNvSpPr/>
          <p:nvPr/>
        </p:nvSpPr>
        <p:spPr>
          <a:xfrm>
            <a:off x="1323975" y="2857500"/>
            <a:ext cx="7603331"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공정 오너 4명 배정</a:t>
            </a:r>
            <a:endParaRPr lang="en-US" sz="1950" dirty="0"/>
          </a:p>
        </p:txBody>
      </p:sp>
      <p:sp>
        <p:nvSpPr>
          <p:cNvPr id="8" name="Shape 6"/>
          <p:cNvSpPr/>
          <p:nvPr/>
        </p:nvSpPr>
        <p:spPr>
          <a:xfrm>
            <a:off x="1323975" y="3889772"/>
            <a:ext cx="7381875" cy="9525"/>
          </a:xfrm>
          <a:prstGeom prst="rect">
            <a:avLst/>
          </a:prstGeom>
          <a:solidFill>
            <a:srgbClr val="DCD7CC"/>
          </a:solidFill>
          <a:ln/>
        </p:spPr>
      </p:sp>
      <p:sp>
        <p:nvSpPr>
          <p:cNvPr id="9" name="Text 7"/>
          <p:cNvSpPr/>
          <p:nvPr/>
        </p:nvSpPr>
        <p:spPr>
          <a:xfrm>
            <a:off x="1323975" y="3435548"/>
            <a:ext cx="7603331"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각자 하루 투입 가능 시간</a:t>
            </a:r>
            <a:endParaRPr lang="en-US" sz="1950" dirty="0"/>
          </a:p>
        </p:txBody>
      </p:sp>
      <p:sp>
        <p:nvSpPr>
          <p:cNvPr id="10" name="Shape 8"/>
          <p:cNvSpPr/>
          <p:nvPr/>
        </p:nvSpPr>
        <p:spPr>
          <a:xfrm>
            <a:off x="1323975" y="4467820"/>
            <a:ext cx="7381875" cy="9525"/>
          </a:xfrm>
          <a:prstGeom prst="rect">
            <a:avLst/>
          </a:prstGeom>
          <a:solidFill>
            <a:srgbClr val="DCD7CC"/>
          </a:solidFill>
          <a:ln/>
        </p:spPr>
      </p:sp>
      <p:sp>
        <p:nvSpPr>
          <p:cNvPr id="11" name="Text 9"/>
          <p:cNvSpPr/>
          <p:nvPr/>
        </p:nvSpPr>
        <p:spPr>
          <a:xfrm>
            <a:off x="1323975" y="4013597"/>
            <a:ext cx="7603331"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API 예산 한도와 키 관리 방식</a:t>
            </a:r>
            <a:endParaRPr lang="en-US" sz="1950" dirty="0"/>
          </a:p>
        </p:txBody>
      </p:sp>
      <p:sp>
        <p:nvSpPr>
          <p:cNvPr id="12" name="Shape 10"/>
          <p:cNvSpPr/>
          <p:nvPr/>
        </p:nvSpPr>
        <p:spPr>
          <a:xfrm>
            <a:off x="1323975" y="5045869"/>
            <a:ext cx="7381875" cy="9525"/>
          </a:xfrm>
          <a:prstGeom prst="rect">
            <a:avLst/>
          </a:prstGeom>
          <a:solidFill>
            <a:srgbClr val="DCD7CC"/>
          </a:solidFill>
          <a:ln/>
        </p:spPr>
      </p:sp>
      <p:sp>
        <p:nvSpPr>
          <p:cNvPr id="13" name="Text 11"/>
          <p:cNvSpPr/>
          <p:nvPr/>
        </p:nvSpPr>
        <p:spPr>
          <a:xfrm>
            <a:off x="1323975" y="4591645"/>
            <a:ext cx="7603331"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GPU 보유·임대 여부와 로컬 검증 범위</a:t>
            </a:r>
            <a:endParaRPr lang="en-US" sz="1950" dirty="0"/>
          </a:p>
        </p:txBody>
      </p:sp>
      <p:sp>
        <p:nvSpPr>
          <p:cNvPr id="14" name="Text 12"/>
          <p:cNvSpPr/>
          <p:nvPr/>
        </p:nvSpPr>
        <p:spPr>
          <a:xfrm>
            <a:off x="1323975" y="5169694"/>
            <a:ext cx="8120062"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검토 강도 기준선 — 정확도 몇 %부터 샘플 검토로 넘길지</a:t>
            </a:r>
            <a:endParaRPr lang="en-US" sz="1950" dirty="0"/>
          </a:p>
        </p:txBody>
      </p:sp>
      <p:sp>
        <p:nvSpPr>
          <p:cNvPr id="15" name="Shape 13"/>
          <p:cNvSpPr/>
          <p:nvPr/>
        </p:nvSpPr>
        <p:spPr>
          <a:xfrm>
            <a:off x="9286875" y="2152650"/>
            <a:ext cx="7972425" cy="3987998"/>
          </a:xfrm>
          <a:prstGeom prst="roundRect">
            <a:avLst>
              <a:gd name="adj" fmla="val 1433"/>
            </a:avLst>
          </a:prstGeom>
          <a:solidFill>
            <a:srgbClr val="FFFFFF"/>
          </a:solidFill>
          <a:ln w="9525">
            <a:solidFill>
              <a:srgbClr val="E3DED3"/>
            </a:solidFill>
            <a:prstDash val="solid"/>
          </a:ln>
        </p:spPr>
      </p:sp>
      <p:sp>
        <p:nvSpPr>
          <p:cNvPr id="16" name="Text 14"/>
          <p:cNvSpPr/>
          <p:nvPr/>
        </p:nvSpPr>
        <p:spPr>
          <a:xfrm>
            <a:off x="9582150" y="2409825"/>
            <a:ext cx="8120062" cy="371475"/>
          </a:xfrm>
          <a:prstGeom prst="rect">
            <a:avLst/>
          </a:prstGeom>
          <a:noFill/>
          <a:ln/>
        </p:spPr>
        <p:txBody>
          <a:bodyPr wrap="square" lIns="25400" tIns="25400" rIns="25400" bIns="25400" rtlCol="0" anchor="t">
            <a:normAutofit/>
          </a:bodyPr>
          <a:lstStyle/>
          <a:p>
            <a:pPr algn="l" indent="0" marL="0">
              <a:buNone/>
            </a:pPr>
            <a:r>
              <a:rPr lang="en-US" sz="1800" b="1" dirty="0">
                <a:solidFill>
                  <a:srgbClr val="A4402E"/>
                </a:solidFill>
                <a:latin typeface="Noto Sans KR" pitchFamily="34" charset="0"/>
                <a:ea typeface="Noto Sans KR" pitchFamily="34" charset="-122"/>
                <a:cs typeface="Noto Sans KR" pitchFamily="34" charset="-120"/>
              </a:rPr>
              <a:t>운영진에게 확인할 것</a:t>
            </a:r>
            <a:endParaRPr lang="en-US" sz="1800" dirty="0"/>
          </a:p>
        </p:txBody>
      </p:sp>
      <p:sp>
        <p:nvSpPr>
          <p:cNvPr id="17" name="Shape 15"/>
          <p:cNvSpPr/>
          <p:nvPr/>
        </p:nvSpPr>
        <p:spPr>
          <a:xfrm>
            <a:off x="9582150" y="3670697"/>
            <a:ext cx="7381875" cy="9525"/>
          </a:xfrm>
          <a:prstGeom prst="rect">
            <a:avLst/>
          </a:prstGeom>
          <a:solidFill>
            <a:srgbClr val="DCD7CC"/>
          </a:solidFill>
          <a:ln/>
        </p:spPr>
      </p:sp>
      <p:sp>
        <p:nvSpPr>
          <p:cNvPr id="18" name="Text 16"/>
          <p:cNvSpPr/>
          <p:nvPr/>
        </p:nvSpPr>
        <p:spPr>
          <a:xfrm>
            <a:off x="9582150" y="2857500"/>
            <a:ext cx="7603331" cy="756047"/>
          </a:xfrm>
          <a:prstGeom prst="rect">
            <a:avLst/>
          </a:prstGeom>
          <a:noFill/>
          <a:ln/>
        </p:spPr>
        <p:txBody>
          <a:bodyPr wrap="square" lIns="25400" tIns="25400" rIns="25400" bIns="25400" rtlCol="0" anchor="t">
            <a:normAutofit/>
          </a:bodyPr>
          <a:lstStyle/>
          <a:p>
            <a:pPr algn="l" indent="0" marL="0">
              <a:lnSpc>
                <a:spcPct val="101892"/>
              </a:lnSpc>
              <a:buNone/>
            </a:pPr>
            <a:r>
              <a:rPr lang="en-US" sz="1950" b="1" dirty="0">
                <a:solidFill>
                  <a:srgbClr val="A4402E"/>
                </a:solidFill>
                <a:latin typeface="Noto Sans KR" pitchFamily="34" charset="0"/>
                <a:ea typeface="Noto Sans KR" pitchFamily="34" charset="-122"/>
                <a:cs typeface="Noto Sans KR" pitchFamily="34" charset="-120"/>
              </a:rPr>
              <a:t>라벨 생성용 API의 구체적 허용 범위 </a:t>
            </a:r>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 명세 생성·사례 발굴·프롬프트 생성도 여기에 포함되는가</a:t>
            </a:r>
            <a:endParaRPr lang="en-US" sz="1950" dirty="0"/>
          </a:p>
        </p:txBody>
      </p:sp>
      <p:sp>
        <p:nvSpPr>
          <p:cNvPr id="19" name="Shape 17"/>
          <p:cNvSpPr/>
          <p:nvPr/>
        </p:nvSpPr>
        <p:spPr>
          <a:xfrm>
            <a:off x="9582150" y="4248745"/>
            <a:ext cx="7381875" cy="9525"/>
          </a:xfrm>
          <a:prstGeom prst="rect">
            <a:avLst/>
          </a:prstGeom>
          <a:solidFill>
            <a:srgbClr val="DCD7CC"/>
          </a:solidFill>
          <a:ln/>
        </p:spPr>
      </p:sp>
      <p:sp>
        <p:nvSpPr>
          <p:cNvPr id="20" name="Text 18"/>
          <p:cNvSpPr/>
          <p:nvPr/>
        </p:nvSpPr>
        <p:spPr>
          <a:xfrm>
            <a:off x="9582150" y="3794522"/>
            <a:ext cx="7603331"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제출물 내 캐시·정적 자산(검색 인덱스) 구성의 허용 한계</a:t>
            </a:r>
            <a:endParaRPr lang="en-US" sz="1950" dirty="0"/>
          </a:p>
        </p:txBody>
      </p:sp>
      <p:sp>
        <p:nvSpPr>
          <p:cNvPr id="21" name="Shape 19"/>
          <p:cNvSpPr/>
          <p:nvPr/>
        </p:nvSpPr>
        <p:spPr>
          <a:xfrm>
            <a:off x="9582150" y="4826794"/>
            <a:ext cx="7381875" cy="9525"/>
          </a:xfrm>
          <a:prstGeom prst="rect">
            <a:avLst/>
          </a:prstGeom>
          <a:solidFill>
            <a:srgbClr val="DCD7CC"/>
          </a:solidFill>
          <a:ln/>
        </p:spPr>
      </p:sp>
      <p:sp>
        <p:nvSpPr>
          <p:cNvPr id="22" name="Text 20"/>
          <p:cNvSpPr/>
          <p:nvPr/>
        </p:nvSpPr>
        <p:spPr>
          <a:xfrm>
            <a:off x="9582150" y="4372570"/>
            <a:ext cx="7603331"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설치 오류와 제출 오류의 판정 경계</a:t>
            </a:r>
            <a:endParaRPr lang="en-US" sz="1950" dirty="0"/>
          </a:p>
        </p:txBody>
      </p:sp>
      <p:sp>
        <p:nvSpPr>
          <p:cNvPr id="23" name="Text 21"/>
          <p:cNvSpPr/>
          <p:nvPr/>
        </p:nvSpPr>
        <p:spPr>
          <a:xfrm>
            <a:off x="9582150" y="4950619"/>
            <a:ext cx="8120062" cy="397073"/>
          </a:xfrm>
          <a:prstGeom prst="rect">
            <a:avLst/>
          </a:prstGeom>
          <a:noFill/>
          <a:ln/>
        </p:spPr>
        <p:txBody>
          <a:bodyPr wrap="square" lIns="25400" tIns="25400" rIns="25400" bIns="25400" rtlCol="0" anchor="t">
            <a:normAutofit/>
          </a:bodyPr>
          <a:lstStyle/>
          <a:p>
            <a:pPr algn="l" indent="0" marL="0">
              <a:lnSpc>
                <a:spcPct val="101892"/>
              </a:lnSpc>
              <a:buNone/>
            </a:pPr>
            <a:r>
              <a:rPr lang="en-US" sz="1950" dirty="0">
                <a:solidFill>
                  <a:srgbClr val="3C4654"/>
                </a:solidFill>
                <a:latin typeface="Noto Sans KR" pitchFamily="34" charset="0"/>
                <a:ea typeface="Noto Sans KR" pitchFamily="34" charset="-122"/>
                <a:cs typeface="Noto Sans KR" pitchFamily="34" charset="-120"/>
              </a:rPr>
              <a:t>그 외 규칙 해석이 갈리는 사항 — 토크 게시판 댓글로 질의</a:t>
            </a:r>
            <a:endParaRPr lang="en-US" sz="1950" dirty="0"/>
          </a:p>
        </p:txBody>
      </p:sp>
      <p:sp>
        <p:nvSpPr>
          <p:cNvPr id="24" name="Shape 22"/>
          <p:cNvSpPr/>
          <p:nvPr/>
        </p:nvSpPr>
        <p:spPr>
          <a:xfrm>
            <a:off x="9582150" y="5423892"/>
            <a:ext cx="7381875" cy="9525"/>
          </a:xfrm>
          <a:prstGeom prst="rect">
            <a:avLst/>
          </a:prstGeom>
          <a:solidFill>
            <a:srgbClr val="DCD7CC"/>
          </a:solidFill>
          <a:ln/>
        </p:spPr>
      </p:sp>
      <p:sp>
        <p:nvSpPr>
          <p:cNvPr id="25" name="Text 23"/>
          <p:cNvSpPr/>
          <p:nvPr/>
        </p:nvSpPr>
        <p:spPr>
          <a:xfrm>
            <a:off x="9582150" y="5538192"/>
            <a:ext cx="7603331" cy="383381"/>
          </a:xfrm>
          <a:prstGeom prst="rect">
            <a:avLst/>
          </a:prstGeom>
          <a:noFill/>
          <a:ln/>
        </p:spPr>
        <p:txBody>
          <a:bodyPr wrap="square" lIns="25400" tIns="25400" rIns="25400" bIns="25400" rtlCol="0" anchor="t">
            <a:normAutofit/>
          </a:bodyPr>
          <a:lstStyle/>
          <a:p>
            <a:pPr algn="l" indent="0" marL="0">
              <a:lnSpc>
                <a:spcPct val="100694"/>
              </a:lnSpc>
              <a:buNone/>
            </a:pPr>
            <a:r>
              <a:rPr lang="en-US" sz="1875" dirty="0">
                <a:solidFill>
                  <a:srgbClr val="7C8492"/>
                </a:solidFill>
                <a:latin typeface="Noto Sans KR" pitchFamily="34" charset="0"/>
                <a:ea typeface="Noto Sans KR" pitchFamily="34" charset="-122"/>
                <a:cs typeface="Noto Sans KR" pitchFamily="34" charset="-120"/>
              </a:rPr>
              <a:t>다른 참가자의 추측을 공식 규칙처럼 사용하지 않는다</a:t>
            </a:r>
            <a:endParaRPr lang="en-US" sz="18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2026-09-15T23:37:22Z</dcterms:created>
  <dcterms:modified xsi:type="dcterms:W3CDTF">2026-09-15T23:37:22Z</dcterms:modified>
</cp:coreProperties>
</file>